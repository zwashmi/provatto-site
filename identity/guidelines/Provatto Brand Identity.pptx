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</p:sldIdLst>
  <p:notesMasterIdLst>
    <p:notesMasterId r:id="rId8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notesMaster" Target="notesMasters/notesMaster1.xml"/><Relationship Id="rId87" Type="http://schemas.openxmlformats.org/officeDocument/2006/relationships/presProps" Target="presProps.xml"/><Relationship Id="rId88" Type="http://schemas.openxmlformats.org/officeDocument/2006/relationships/viewProps" Target="viewProps.xml"/><Relationship Id="rId89" Type="http://schemas.openxmlformats.org/officeDocument/2006/relationships/theme" Target="theme/theme1.xml"/><Relationship Id="rId9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sv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svg"/><Relationship Id="rId7" Type="http://schemas.openxmlformats.org/officeDocument/2006/relationships/image" Target="../media/image-33-7.png"/><Relationship Id="rId8" Type="http://schemas.openxmlformats.org/officeDocument/2006/relationships/image" Target="../media/image-33-8.png"/><Relationship Id="rId9" Type="http://schemas.openxmlformats.org/officeDocument/2006/relationships/image" Target="../media/image-33-9.svg"/><Relationship Id="rId10" Type="http://schemas.openxmlformats.org/officeDocument/2006/relationships/image" Target="../media/image-3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sv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svg"/><Relationship Id="rId6" Type="http://schemas.openxmlformats.org/officeDocument/2006/relationships/image" Target="../media/image-3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image" Target="../media/image-45-5.png"/><Relationship Id="rId6" Type="http://schemas.openxmlformats.org/officeDocument/2006/relationships/image" Target="../media/image-4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svg"/><Relationship Id="rId3" Type="http://schemas.openxmlformats.org/officeDocument/2006/relationships/image" Target="../media/image-52-3.png"/><Relationship Id="rId4" Type="http://schemas.openxmlformats.org/officeDocument/2006/relationships/image" Target="../media/image-52-4.svg"/><Relationship Id="rId5" Type="http://schemas.openxmlformats.org/officeDocument/2006/relationships/image" Target="../media/image-52-5.png"/><Relationship Id="rId6" Type="http://schemas.openxmlformats.org/officeDocument/2006/relationships/image" Target="../media/image-52-6.svg"/><Relationship Id="rId7" Type="http://schemas.openxmlformats.org/officeDocument/2006/relationships/image" Target="../media/image-52-7.png"/><Relationship Id="rId8" Type="http://schemas.openxmlformats.org/officeDocument/2006/relationships/image" Target="../media/image-5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svg"/><Relationship Id="rId3" Type="http://schemas.openxmlformats.org/officeDocument/2006/relationships/image" Target="../media/image-54-3.png"/><Relationship Id="rId4" Type="http://schemas.openxmlformats.org/officeDocument/2006/relationships/image" Target="../media/image-54-4.png"/><Relationship Id="rId5" Type="http://schemas.openxmlformats.org/officeDocument/2006/relationships/image" Target="../media/image-54-5.png"/><Relationship Id="rId6" Type="http://schemas.openxmlformats.org/officeDocument/2006/relationships/image" Target="../media/image-54-6.png"/><Relationship Id="rId7" Type="http://schemas.openxmlformats.org/officeDocument/2006/relationships/image" Target="../media/image-5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svg"/><Relationship Id="rId3" Type="http://schemas.openxmlformats.org/officeDocument/2006/relationships/image" Target="../media/image-56-3.png"/><Relationship Id="rId4" Type="http://schemas.openxmlformats.org/officeDocument/2006/relationships/image" Target="../media/image-56-4.svg"/><Relationship Id="rId5" Type="http://schemas.openxmlformats.org/officeDocument/2006/relationships/image" Target="../media/image-56-5.png"/><Relationship Id="rId6" Type="http://schemas.openxmlformats.org/officeDocument/2006/relationships/image" Target="../media/image-56-6.svg"/><Relationship Id="rId7" Type="http://schemas.openxmlformats.org/officeDocument/2006/relationships/image" Target="../media/image-56-7.png"/><Relationship Id="rId8" Type="http://schemas.openxmlformats.org/officeDocument/2006/relationships/image" Target="../media/image-5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svg"/><Relationship Id="rId3" Type="http://schemas.openxmlformats.org/officeDocument/2006/relationships/image" Target="../media/image-62-3.png"/><Relationship Id="rId4" Type="http://schemas.openxmlformats.org/officeDocument/2006/relationships/image" Target="../media/image-62-4.svg"/><Relationship Id="rId5" Type="http://schemas.openxmlformats.org/officeDocument/2006/relationships/image" Target="../media/image-62-5.png"/><Relationship Id="rId6" Type="http://schemas.openxmlformats.org/officeDocument/2006/relationships/image" Target="../media/image-62-6.svg"/><Relationship Id="rId7" Type="http://schemas.openxmlformats.org/officeDocument/2006/relationships/image" Target="../media/image-62-7.png"/><Relationship Id="rId8" Type="http://schemas.openxmlformats.org/officeDocument/2006/relationships/image" Target="../media/image-62-8.svg"/><Relationship Id="rId9" Type="http://schemas.openxmlformats.org/officeDocument/2006/relationships/image" Target="../media/image-62-9.png"/><Relationship Id="rId10" Type="http://schemas.openxmlformats.org/officeDocument/2006/relationships/image" Target="../media/image-62-10.svg"/><Relationship Id="rId11" Type="http://schemas.openxmlformats.org/officeDocument/2006/relationships/image" Target="../media/image-62-11.png"/><Relationship Id="rId12" Type="http://schemas.openxmlformats.org/officeDocument/2006/relationships/image" Target="../media/image-6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svg"/><Relationship Id="rId3" Type="http://schemas.openxmlformats.org/officeDocument/2006/relationships/image" Target="../media/image-63-3.png"/><Relationship Id="rId4" Type="http://schemas.openxmlformats.org/officeDocument/2006/relationships/image" Target="../media/image-63-4.svg"/><Relationship Id="rId5" Type="http://schemas.openxmlformats.org/officeDocument/2006/relationships/image" Target="../media/image-63-5.png"/><Relationship Id="rId6" Type="http://schemas.openxmlformats.org/officeDocument/2006/relationships/image" Target="../media/image-63-6.svg"/><Relationship Id="rId7" Type="http://schemas.openxmlformats.org/officeDocument/2006/relationships/image" Target="../media/image-63-7.png"/><Relationship Id="rId8" Type="http://schemas.openxmlformats.org/officeDocument/2006/relationships/image" Target="../media/image-63-8.svg"/><Relationship Id="rId9" Type="http://schemas.openxmlformats.org/officeDocument/2006/relationships/image" Target="../media/image-63-9.png"/><Relationship Id="rId10" Type="http://schemas.openxmlformats.org/officeDocument/2006/relationships/image" Target="../media/image-63-10.svg"/><Relationship Id="rId11" Type="http://schemas.openxmlformats.org/officeDocument/2006/relationships/image" Target="../media/image-63-11.png"/><Relationship Id="rId12" Type="http://schemas.openxmlformats.org/officeDocument/2006/relationships/image" Target="../media/image-63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svg"/><Relationship Id="rId3" Type="http://schemas.openxmlformats.org/officeDocument/2006/relationships/image" Target="../media/image-69-3.png"/><Relationship Id="rId4" Type="http://schemas.openxmlformats.org/officeDocument/2006/relationships/image" Target="../media/image-69-4.svg"/><Relationship Id="rId5" Type="http://schemas.openxmlformats.org/officeDocument/2006/relationships/image" Target="../media/image-69-5.png"/><Relationship Id="rId6" Type="http://schemas.openxmlformats.org/officeDocument/2006/relationships/image" Target="../media/image-69-6.svg"/><Relationship Id="rId7" Type="http://schemas.openxmlformats.org/officeDocument/2006/relationships/image" Target="../media/image-69-7.png"/><Relationship Id="rId8" Type="http://schemas.openxmlformats.org/officeDocument/2006/relationships/image" Target="../media/image-69-8.svg"/><Relationship Id="rId9" Type="http://schemas.openxmlformats.org/officeDocument/2006/relationships/image" Target="../media/image-69-9.png"/><Relationship Id="rId10" Type="http://schemas.openxmlformats.org/officeDocument/2006/relationships/image" Target="../media/image-69-10.svg"/><Relationship Id="rId11" Type="http://schemas.openxmlformats.org/officeDocument/2006/relationships/image" Target="../media/image-69-11.png"/><Relationship Id="rId12" Type="http://schemas.openxmlformats.org/officeDocument/2006/relationships/image" Target="../media/image-69-12.svg"/><Relationship Id="rId13" Type="http://schemas.openxmlformats.org/officeDocument/2006/relationships/image" Target="../media/image-69-13.png"/><Relationship Id="rId14" Type="http://schemas.openxmlformats.org/officeDocument/2006/relationships/image" Target="../media/image-69-14.svg"/><Relationship Id="rId15" Type="http://schemas.openxmlformats.org/officeDocument/2006/relationships/image" Target="../media/image-69-15.png"/><Relationship Id="rId16" Type="http://schemas.openxmlformats.org/officeDocument/2006/relationships/image" Target="../media/image-69-16.svg"/><Relationship Id="rId17" Type="http://schemas.openxmlformats.org/officeDocument/2006/relationships/image" Target="../media/image-69-17.png"/><Relationship Id="rId18" Type="http://schemas.openxmlformats.org/officeDocument/2006/relationships/image" Target="../media/image-69-18.svg"/><Relationship Id="rId19" Type="http://schemas.openxmlformats.org/officeDocument/2006/relationships/image" Target="../media/image-69-19.png"/><Relationship Id="rId20" Type="http://schemas.openxmlformats.org/officeDocument/2006/relationships/image" Target="../media/image-69-20.svg"/><Relationship Id="rId21" Type="http://schemas.openxmlformats.org/officeDocument/2006/relationships/image" Target="../media/image-69-21.png"/><Relationship Id="rId22" Type="http://schemas.openxmlformats.org/officeDocument/2006/relationships/image" Target="../media/image-69-22.svg"/><Relationship Id="rId23" Type="http://schemas.openxmlformats.org/officeDocument/2006/relationships/image" Target="../media/image-69-23.png"/><Relationship Id="rId24" Type="http://schemas.openxmlformats.org/officeDocument/2006/relationships/image" Target="../media/image-69-24.svg"/><Relationship Id="rId25" Type="http://schemas.openxmlformats.org/officeDocument/2006/relationships/image" Target="../media/image-69-25.png"/><Relationship Id="rId26" Type="http://schemas.openxmlformats.org/officeDocument/2006/relationships/image" Target="../media/image-69-26.svg"/><Relationship Id="rId27" Type="http://schemas.openxmlformats.org/officeDocument/2006/relationships/image" Target="../media/image-69-27.png"/><Relationship Id="rId28" Type="http://schemas.openxmlformats.org/officeDocument/2006/relationships/image" Target="../media/image-69-28.svg"/><Relationship Id="rId29" Type="http://schemas.openxmlformats.org/officeDocument/2006/relationships/image" Target="../media/image-69-29.png"/><Relationship Id="rId30" Type="http://schemas.openxmlformats.org/officeDocument/2006/relationships/image" Target="../media/image-69-30.svg"/><Relationship Id="rId31" Type="http://schemas.openxmlformats.org/officeDocument/2006/relationships/image" Target="../media/image-69-31.png"/><Relationship Id="rId32" Type="http://schemas.openxmlformats.org/officeDocument/2006/relationships/image" Target="../media/image-69-32.svg"/><Relationship Id="rId33" Type="http://schemas.openxmlformats.org/officeDocument/2006/relationships/image" Target="../media/image-69-33.png"/><Relationship Id="rId34" Type="http://schemas.openxmlformats.org/officeDocument/2006/relationships/image" Target="../media/image-69-34.svg"/><Relationship Id="rId35" Type="http://schemas.openxmlformats.org/officeDocument/2006/relationships/image" Target="../media/image-69-35.png"/><Relationship Id="rId36" Type="http://schemas.openxmlformats.org/officeDocument/2006/relationships/image" Target="../media/image-69-36.svg"/><Relationship Id="rId37" Type="http://schemas.openxmlformats.org/officeDocument/2006/relationships/image" Target="../media/image-69-37.png"/><Relationship Id="rId38" Type="http://schemas.openxmlformats.org/officeDocument/2006/relationships/image" Target="../media/image-69-38.svg"/><Relationship Id="rId39" Type="http://schemas.openxmlformats.org/officeDocument/2006/relationships/image" Target="../media/image-69-39.png"/><Relationship Id="rId40" Type="http://schemas.openxmlformats.org/officeDocument/2006/relationships/image" Target="../media/image-69-40.svg"/><Relationship Id="rId41" Type="http://schemas.openxmlformats.org/officeDocument/2006/relationships/image" Target="../media/image-69-41.png"/><Relationship Id="rId42" Type="http://schemas.openxmlformats.org/officeDocument/2006/relationships/image" Target="../media/image-69-42.svg"/><Relationship Id="rId43" Type="http://schemas.openxmlformats.org/officeDocument/2006/relationships/image" Target="../media/image-69-43.png"/><Relationship Id="rId44" Type="http://schemas.openxmlformats.org/officeDocument/2006/relationships/image" Target="../media/image-69-44.svg"/><Relationship Id="rId45" Type="http://schemas.openxmlformats.org/officeDocument/2006/relationships/image" Target="../media/image-69-45.png"/><Relationship Id="rId46" Type="http://schemas.openxmlformats.org/officeDocument/2006/relationships/image" Target="../media/image-69-46.svg"/><Relationship Id="rId47" Type="http://schemas.openxmlformats.org/officeDocument/2006/relationships/image" Target="../media/image-69-47.png"/><Relationship Id="rId48" Type="http://schemas.openxmlformats.org/officeDocument/2006/relationships/image" Target="../media/image-69-48.svg"/><Relationship Id="rId49" Type="http://schemas.openxmlformats.org/officeDocument/2006/relationships/image" Target="../media/image-69-49.png"/><Relationship Id="rId50" Type="http://schemas.openxmlformats.org/officeDocument/2006/relationships/image" Target="../media/image-69-50.svg"/><Relationship Id="rId51" Type="http://schemas.openxmlformats.org/officeDocument/2006/relationships/image" Target="../media/image-69-51.png"/><Relationship Id="rId52" Type="http://schemas.openxmlformats.org/officeDocument/2006/relationships/image" Target="../media/image-69-52.svg"/><Relationship Id="rId53" Type="http://schemas.openxmlformats.org/officeDocument/2006/relationships/image" Target="../media/image-69-53.png"/><Relationship Id="rId54" Type="http://schemas.openxmlformats.org/officeDocument/2006/relationships/image" Target="../media/image-69-54.svg"/><Relationship Id="rId55" Type="http://schemas.openxmlformats.org/officeDocument/2006/relationships/image" Target="../media/image-69-55.png"/><Relationship Id="rId56" Type="http://schemas.openxmlformats.org/officeDocument/2006/relationships/image" Target="../media/image-69-56.svg"/><Relationship Id="rId57" Type="http://schemas.openxmlformats.org/officeDocument/2006/relationships/image" Target="../media/image-69-57.png"/><Relationship Id="rId58" Type="http://schemas.openxmlformats.org/officeDocument/2006/relationships/image" Target="../media/image-69-58.svg"/><Relationship Id="rId59" Type="http://schemas.openxmlformats.org/officeDocument/2006/relationships/image" Target="../media/image-69-59.png"/><Relationship Id="rId60" Type="http://schemas.openxmlformats.org/officeDocument/2006/relationships/image" Target="../media/image-69-60.svg"/><Relationship Id="rId61" Type="http://schemas.openxmlformats.org/officeDocument/2006/relationships/image" Target="../media/image-69-61.png"/><Relationship Id="rId62" Type="http://schemas.openxmlformats.org/officeDocument/2006/relationships/image" Target="../media/image-69-62.svg"/><Relationship Id="rId63" Type="http://schemas.openxmlformats.org/officeDocument/2006/relationships/image" Target="../media/image-69-63.png"/><Relationship Id="rId64" Type="http://schemas.openxmlformats.org/officeDocument/2006/relationships/image" Target="../media/image-69-64.svg"/><Relationship Id="rId65" Type="http://schemas.openxmlformats.org/officeDocument/2006/relationships/image" Target="../media/image-69-65.png"/><Relationship Id="rId66" Type="http://schemas.openxmlformats.org/officeDocument/2006/relationships/image" Target="../media/image-69-66.svg"/><Relationship Id="rId67" Type="http://schemas.openxmlformats.org/officeDocument/2006/relationships/image" Target="../media/image-69-67.png"/><Relationship Id="rId68" Type="http://schemas.openxmlformats.org/officeDocument/2006/relationships/image" Target="../media/image-69-68.svg"/><Relationship Id="rId69" Type="http://schemas.openxmlformats.org/officeDocument/2006/relationships/image" Target="../media/image-69-69.png"/><Relationship Id="rId70" Type="http://schemas.openxmlformats.org/officeDocument/2006/relationships/image" Target="../media/image-69-70.svg"/><Relationship Id="rId71" Type="http://schemas.openxmlformats.org/officeDocument/2006/relationships/image" Target="../media/image-69-71.png"/><Relationship Id="rId72" Type="http://schemas.openxmlformats.org/officeDocument/2006/relationships/image" Target="../media/image-69-72.svg"/><Relationship Id="rId73" Type="http://schemas.openxmlformats.org/officeDocument/2006/relationships/image" Target="../media/image-69-73.png"/><Relationship Id="rId74" Type="http://schemas.openxmlformats.org/officeDocument/2006/relationships/image" Target="../media/image-69-74.svg"/><Relationship Id="rId75" Type="http://schemas.openxmlformats.org/officeDocument/2006/relationships/image" Target="../media/image-69-75.png"/><Relationship Id="rId76" Type="http://schemas.openxmlformats.org/officeDocument/2006/relationships/image" Target="../media/image-69-76.svg"/><Relationship Id="rId77" Type="http://schemas.openxmlformats.org/officeDocument/2006/relationships/image" Target="../media/image-69-77.png"/><Relationship Id="rId78" Type="http://schemas.openxmlformats.org/officeDocument/2006/relationships/image" Target="../media/image-69-78.svg"/><Relationship Id="rId79" Type="http://schemas.openxmlformats.org/officeDocument/2006/relationships/image" Target="../media/image-69-79.png"/><Relationship Id="rId80" Type="http://schemas.openxmlformats.org/officeDocument/2006/relationships/image" Target="../media/image-69-80.svg"/><Relationship Id="rId81" Type="http://schemas.openxmlformats.org/officeDocument/2006/relationships/image" Target="../media/image-69-81.png"/><Relationship Id="rId82" Type="http://schemas.openxmlformats.org/officeDocument/2006/relationships/image" Target="../media/image-69-82.svg"/><Relationship Id="rId83" Type="http://schemas.openxmlformats.org/officeDocument/2006/relationships/image" Target="../media/image-69-83.png"/><Relationship Id="rId84" Type="http://schemas.openxmlformats.org/officeDocument/2006/relationships/image" Target="../media/image-69-84.svg"/><Relationship Id="rId85" Type="http://schemas.openxmlformats.org/officeDocument/2006/relationships/image" Target="../media/image-69-85.png"/><Relationship Id="rId86" Type="http://schemas.openxmlformats.org/officeDocument/2006/relationships/image" Target="../media/image-69-86.svg"/><Relationship Id="rId87" Type="http://schemas.openxmlformats.org/officeDocument/2006/relationships/image" Target="../media/image-69-87.png"/><Relationship Id="rId88" Type="http://schemas.openxmlformats.org/officeDocument/2006/relationships/image" Target="../media/image-69-88.svg"/><Relationship Id="rId89" Type="http://schemas.openxmlformats.org/officeDocument/2006/relationships/image" Target="../media/image-69-89.png"/><Relationship Id="rId90" Type="http://schemas.openxmlformats.org/officeDocument/2006/relationships/image" Target="../media/image-69-90.svg"/><Relationship Id="rId91" Type="http://schemas.openxmlformats.org/officeDocument/2006/relationships/image" Target="../media/image-69-91.png"/><Relationship Id="rId92" Type="http://schemas.openxmlformats.org/officeDocument/2006/relationships/image" Target="../media/image-69-92.svg"/><Relationship Id="rId93" Type="http://schemas.openxmlformats.org/officeDocument/2006/relationships/image" Target="../media/image-69-93.png"/><Relationship Id="rId94" Type="http://schemas.openxmlformats.org/officeDocument/2006/relationships/image" Target="../media/image-69-94.svg"/><Relationship Id="rId95" Type="http://schemas.openxmlformats.org/officeDocument/2006/relationships/image" Target="../media/image-69-95.png"/><Relationship Id="rId96" Type="http://schemas.openxmlformats.org/officeDocument/2006/relationships/image" Target="../media/image-69-96.svg"/><Relationship Id="rId97" Type="http://schemas.openxmlformats.org/officeDocument/2006/relationships/image" Target="../media/image-69-97.png"/><Relationship Id="rId98" Type="http://schemas.openxmlformats.org/officeDocument/2006/relationships/image" Target="../media/image-69-98.svg"/><Relationship Id="rId99" Type="http://schemas.openxmlformats.org/officeDocument/2006/relationships/image" Target="../media/image-69-99.png"/><Relationship Id="rId100" Type="http://schemas.openxmlformats.org/officeDocument/2006/relationships/image" Target="../media/image-69-100.svg"/><Relationship Id="rId101" Type="http://schemas.openxmlformats.org/officeDocument/2006/relationships/image" Target="../media/image-69-101.png"/><Relationship Id="rId102" Type="http://schemas.openxmlformats.org/officeDocument/2006/relationships/image" Target="../media/image-69-102.svg"/><Relationship Id="rId103" Type="http://schemas.openxmlformats.org/officeDocument/2006/relationships/image" Target="../media/image-69-103.png"/><Relationship Id="rId104" Type="http://schemas.openxmlformats.org/officeDocument/2006/relationships/image" Target="../media/image-69-104.svg"/><Relationship Id="rId105" Type="http://schemas.openxmlformats.org/officeDocument/2006/relationships/image" Target="../media/image-69-105.png"/><Relationship Id="rId106" Type="http://schemas.openxmlformats.org/officeDocument/2006/relationships/image" Target="../media/image-69-106.svg"/><Relationship Id="rId107" Type="http://schemas.openxmlformats.org/officeDocument/2006/relationships/slideLayout" Target="../slideLayouts/slideLayout1.xml"/><Relationship Id="rId108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svg"/><Relationship Id="rId3" Type="http://schemas.openxmlformats.org/officeDocument/2006/relationships/image" Target="../media/image-72-3.png"/><Relationship Id="rId4" Type="http://schemas.openxmlformats.org/officeDocument/2006/relationships/image" Target="../media/image-72-4.svg"/><Relationship Id="rId5" Type="http://schemas.openxmlformats.org/officeDocument/2006/relationships/image" Target="../media/image-72-5.png"/><Relationship Id="rId6" Type="http://schemas.openxmlformats.org/officeDocument/2006/relationships/image" Target="../media/image-72-6.svg"/><Relationship Id="rId7" Type="http://schemas.openxmlformats.org/officeDocument/2006/relationships/image" Target="../media/image-72-7.png"/><Relationship Id="rId8" Type="http://schemas.openxmlformats.org/officeDocument/2006/relationships/image" Target="../media/image-72-8.svg"/><Relationship Id="rId9" Type="http://schemas.openxmlformats.org/officeDocument/2006/relationships/image" Target="../media/image-72-9.png"/><Relationship Id="rId10" Type="http://schemas.openxmlformats.org/officeDocument/2006/relationships/image" Target="../media/image-72-10.svg"/><Relationship Id="rId11" Type="http://schemas.openxmlformats.org/officeDocument/2006/relationships/image" Target="../media/image-72-11.png"/><Relationship Id="rId12" Type="http://schemas.openxmlformats.org/officeDocument/2006/relationships/image" Target="../media/image-72-12.svg"/><Relationship Id="rId13" Type="http://schemas.openxmlformats.org/officeDocument/2006/relationships/image" Target="../media/image-72-13.png"/><Relationship Id="rId14" Type="http://schemas.openxmlformats.org/officeDocument/2006/relationships/image" Target="../media/image-72-14.svg"/><Relationship Id="rId15" Type="http://schemas.openxmlformats.org/officeDocument/2006/relationships/image" Target="../media/image-72-15.png"/><Relationship Id="rId16" Type="http://schemas.openxmlformats.org/officeDocument/2006/relationships/image" Target="../media/image-72-16.svg"/><Relationship Id="rId17" Type="http://schemas.openxmlformats.org/officeDocument/2006/relationships/image" Target="../media/image-72-17.png"/><Relationship Id="rId18" Type="http://schemas.openxmlformats.org/officeDocument/2006/relationships/image" Target="../media/image-72-18.svg"/><Relationship Id="rId19" Type="http://schemas.openxmlformats.org/officeDocument/2006/relationships/image" Target="../media/image-72-19.png"/><Relationship Id="rId20" Type="http://schemas.openxmlformats.org/officeDocument/2006/relationships/image" Target="../media/image-72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svg"/><Relationship Id="rId3" Type="http://schemas.openxmlformats.org/officeDocument/2006/relationships/image" Target="../media/image-73-3.png"/><Relationship Id="rId4" Type="http://schemas.openxmlformats.org/officeDocument/2006/relationships/image" Target="../media/image-73-4.svg"/><Relationship Id="rId5" Type="http://schemas.openxmlformats.org/officeDocument/2006/relationships/image" Target="../media/image-73-5.png"/><Relationship Id="rId6" Type="http://schemas.openxmlformats.org/officeDocument/2006/relationships/image" Target="../media/image-73-6.svg"/><Relationship Id="rId7" Type="http://schemas.openxmlformats.org/officeDocument/2006/relationships/image" Target="../media/image-73-7.png"/><Relationship Id="rId8" Type="http://schemas.openxmlformats.org/officeDocument/2006/relationships/image" Target="../media/image-73-8.svg"/><Relationship Id="rId9" Type="http://schemas.openxmlformats.org/officeDocument/2006/relationships/image" Target="../media/image-73-9.png"/><Relationship Id="rId10" Type="http://schemas.openxmlformats.org/officeDocument/2006/relationships/image" Target="../media/image-7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svg"/><Relationship Id="rId3" Type="http://schemas.openxmlformats.org/officeDocument/2006/relationships/image" Target="../media/image-75-3.png"/><Relationship Id="rId4" Type="http://schemas.openxmlformats.org/officeDocument/2006/relationships/image" Target="../media/image-75-4.svg"/><Relationship Id="rId5" Type="http://schemas.openxmlformats.org/officeDocument/2006/relationships/image" Target="../media/image-75-5.png"/><Relationship Id="rId6" Type="http://schemas.openxmlformats.org/officeDocument/2006/relationships/image" Target="../media/image-75-6.svg"/><Relationship Id="rId7" Type="http://schemas.openxmlformats.org/officeDocument/2006/relationships/image" Target="../media/image-75-7.png"/><Relationship Id="rId8" Type="http://schemas.openxmlformats.org/officeDocument/2006/relationships/image" Target="../media/image-75-8.svg"/><Relationship Id="rId9" Type="http://schemas.openxmlformats.org/officeDocument/2006/relationships/image" Target="../media/image-75-9.png"/><Relationship Id="rId10" Type="http://schemas.openxmlformats.org/officeDocument/2006/relationships/image" Target="../media/image-75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svg"/><Relationship Id="rId3" Type="http://schemas.openxmlformats.org/officeDocument/2006/relationships/image" Target="../media/image-8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5300" y="495300"/>
            <a:ext cx="17297400" cy="9296400"/>
          </a:xfrm>
          <a:prstGeom prst="rect">
            <a:avLst/>
          </a:prstGeom>
          <a:ln w="9525">
            <a:solidFill>
              <a:srgbClr val="C9A86A">
                <a:alpha val="32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6125" y="1966912"/>
            <a:ext cx="4095750" cy="20478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41181" y="4281488"/>
            <a:ext cx="2605787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30"/>
              </a:lnSpc>
              <a:buNone/>
            </a:pPr>
            <a:r>
              <a:rPr lang="en-US" sz="7272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بروفاتو</a:t>
            </a:r>
            <a:endParaRPr lang="en-US" sz="7272" dirty="0"/>
          </a:p>
        </p:txBody>
      </p:sp>
      <p:sp>
        <p:nvSpPr>
          <p:cNvPr id="5" name="Shape 2"/>
          <p:cNvSpPr/>
          <p:nvPr/>
        </p:nvSpPr>
        <p:spPr>
          <a:xfrm>
            <a:off x="8620125" y="5824538"/>
            <a:ext cx="1047750" cy="9525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141381" y="6176963"/>
            <a:ext cx="4005239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2493"/>
              </a:lnSpc>
              <a:buNone/>
            </a:pPr>
            <a:r>
              <a:rPr lang="en-US" sz="2879" dirty="0">
                <a:solidFill>
                  <a:srgbClr val="C7CDD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السجلّ الموثوق خلف الساعة</a:t>
            </a:r>
            <a:endParaRPr lang="en-US" sz="2879" dirty="0"/>
          </a:p>
        </p:txBody>
      </p:sp>
      <p:sp>
        <p:nvSpPr>
          <p:cNvPr id="7" name="Text 4"/>
          <p:cNvSpPr/>
          <p:nvPr/>
        </p:nvSpPr>
        <p:spPr>
          <a:xfrm>
            <a:off x="5182850" y="7405688"/>
            <a:ext cx="7922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432" kern="0" dirty="0">
                <a:solidFill>
                  <a:srgbClr val="D8BF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BRAND IDENTITY GUIDELINES · RIYADH ·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PROVATTO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عن بروفاتو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524250" y="2752725"/>
            <a:ext cx="14127480" cy="2238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33"/>
              </a:lnSpc>
              <a:buNone/>
            </a:pPr>
            <a:r>
              <a:rPr lang="en-US" sz="3333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بروفاتو منصّة سعودية رقمية لتوثيق ملكية الساعات الفاخرة؛ لكل ساعةٍ </a:t>
            </a:r>
            <a:pPr algn="l" indent="0" marL="0">
              <a:lnSpc>
                <a:spcPct val="117833"/>
              </a:lnSpc>
              <a:buNone/>
            </a:pPr>
            <a:r>
              <a:rPr lang="en-US" sz="3333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رقمي موثّق </a:t>
            </a:r>
            <a:pPr algn="l" indent="0" marL="0">
              <a:lnSpc>
                <a:spcPct val="117833"/>
              </a:lnSpc>
              <a:buNone/>
            </a:pPr>
            <a:r>
              <a:rPr lang="en-US" sz="3333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يحفظ مصدرها وسعرها ورقمها المرجعي وتاريخ أحداثها — وينتقل السجلّ مع الساعة من مالكٍ إلى مالك.</a:t>
            </a:r>
            <a:endParaRPr lang="en-US" sz="3333" dirty="0"/>
          </a:p>
        </p:txBody>
      </p:sp>
      <p:sp>
        <p:nvSpPr>
          <p:cNvPr id="6" name="Shape 4"/>
          <p:cNvSpPr/>
          <p:nvPr/>
        </p:nvSpPr>
        <p:spPr>
          <a:xfrm>
            <a:off x="12122200" y="7000875"/>
            <a:ext cx="5118050" cy="9525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610395" y="7277100"/>
            <a:ext cx="56298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24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PRODUCT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122200" y="7696200"/>
            <a:ext cx="56298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25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منتج رقمي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2122200" y="8229600"/>
            <a:ext cx="527159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تجربة تطبيقٍ متكاملة، لا هوية مؤسسية فحسب — العلامة تعيش داخل المنتج.</a:t>
            </a:r>
            <a:endParaRPr lang="en-US" sz="1894" dirty="0"/>
          </a:p>
        </p:txBody>
      </p:sp>
      <p:sp>
        <p:nvSpPr>
          <p:cNvPr id="10" name="Shape 8"/>
          <p:cNvSpPr/>
          <p:nvPr/>
        </p:nvSpPr>
        <p:spPr>
          <a:xfrm>
            <a:off x="6585049" y="7000875"/>
            <a:ext cx="5118050" cy="9525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073244" y="7277100"/>
            <a:ext cx="56298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24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MARKET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5049" y="7696200"/>
            <a:ext cx="56298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25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السعودية والخليج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6585049" y="8229600"/>
            <a:ext cx="527159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سوقٌ يقدّر الاقتناء الرفيع، ويطلب الخصوصية والدقة قبل كل شيء.</a:t>
            </a:r>
            <a:endParaRPr lang="en-US" sz="1894" dirty="0"/>
          </a:p>
        </p:txBody>
      </p:sp>
      <p:sp>
        <p:nvSpPr>
          <p:cNvPr id="14" name="Shape 12"/>
          <p:cNvSpPr/>
          <p:nvPr/>
        </p:nvSpPr>
        <p:spPr>
          <a:xfrm>
            <a:off x="1047750" y="7000875"/>
            <a:ext cx="5118199" cy="9525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35930" y="7277100"/>
            <a:ext cx="56300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24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LANGUAGE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47750" y="7696200"/>
            <a:ext cx="563001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25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العربية أولاً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047750" y="8229600"/>
            <a:ext cx="527174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واجهة RTL أصيلة تقودها العربية، بدعم كاملٍ وأنيق للإنجليزية.</a:t>
            </a:r>
            <a:endParaRPr lang="en-US" sz="1894" dirty="0"/>
          </a:p>
        </p:txBody>
      </p:sp>
      <p:sp>
        <p:nvSpPr>
          <p:cNvPr id="18" name="Text 16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/ 84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BRAND FOUNDATION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أسس العلامة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810250" y="2752725"/>
            <a:ext cx="117729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823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خمس قيم ثابتة تحكم كل قرارٍ في الهوية والمنتج والكلمة:</a:t>
            </a:r>
            <a:endParaRPr lang="en-US" sz="2197" dirty="0"/>
          </a:p>
        </p:txBody>
      </p:sp>
      <p:sp>
        <p:nvSpPr>
          <p:cNvPr id="6" name="Shape 4"/>
          <p:cNvSpPr/>
          <p:nvPr/>
        </p:nvSpPr>
        <p:spPr>
          <a:xfrm>
            <a:off x="14337060" y="6924675"/>
            <a:ext cx="2903190" cy="9525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4046741" y="7200900"/>
            <a:ext cx="319350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24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337060" y="7620000"/>
            <a:ext cx="319350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30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الثقة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337060" y="8229600"/>
            <a:ext cx="299028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كل سجلٍّ موثّق بدقة، وكل خطوةٍ واضحة لا لبس فيها.</a:t>
            </a:r>
            <a:endParaRPr lang="en-US" sz="1894" dirty="0"/>
          </a:p>
        </p:txBody>
      </p:sp>
      <p:sp>
        <p:nvSpPr>
          <p:cNvPr id="10" name="Shape 8"/>
          <p:cNvSpPr/>
          <p:nvPr/>
        </p:nvSpPr>
        <p:spPr>
          <a:xfrm>
            <a:off x="11014770" y="6924675"/>
            <a:ext cx="2903190" cy="9525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724451" y="7200900"/>
            <a:ext cx="319350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24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PROVENANCE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014770" y="7620000"/>
            <a:ext cx="319350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30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الأصل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1014770" y="8229600"/>
            <a:ext cx="299028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مصدر الساعة وقصّتها محفوظان منذ اليوم الأول.</a:t>
            </a:r>
            <a:endParaRPr lang="en-US" sz="1894" dirty="0"/>
          </a:p>
        </p:txBody>
      </p:sp>
      <p:sp>
        <p:nvSpPr>
          <p:cNvPr id="14" name="Shape 12"/>
          <p:cNvSpPr/>
          <p:nvPr/>
        </p:nvSpPr>
        <p:spPr>
          <a:xfrm>
            <a:off x="7692479" y="6924675"/>
            <a:ext cx="2903190" cy="9525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402160" y="7200900"/>
            <a:ext cx="319350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24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CONTINUITY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92479" y="7620000"/>
            <a:ext cx="319350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30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الاستمرارية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692479" y="8229600"/>
            <a:ext cx="299028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السجلّ يرافق الساعة عبر السنوات ومن مالكٍ إلى مالك.</a:t>
            </a:r>
            <a:endParaRPr lang="en-US" sz="1894" dirty="0"/>
          </a:p>
        </p:txBody>
      </p:sp>
      <p:sp>
        <p:nvSpPr>
          <p:cNvPr id="18" name="Shape 16"/>
          <p:cNvSpPr/>
          <p:nvPr/>
        </p:nvSpPr>
        <p:spPr>
          <a:xfrm>
            <a:off x="4370189" y="6924675"/>
            <a:ext cx="2903190" cy="9525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079870" y="7200900"/>
            <a:ext cx="319350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24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PRIVACY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370189" y="7620000"/>
            <a:ext cx="319350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30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الخصوصية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370189" y="8229600"/>
            <a:ext cx="299028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بيانات المقتني ملكه وحده؛ لا يراها أحدٌ سواه.</a:t>
            </a:r>
            <a:endParaRPr lang="en-US" sz="1894" dirty="0"/>
          </a:p>
        </p:txBody>
      </p:sp>
      <p:sp>
        <p:nvSpPr>
          <p:cNvPr id="22" name="Shape 20"/>
          <p:cNvSpPr/>
          <p:nvPr/>
        </p:nvSpPr>
        <p:spPr>
          <a:xfrm>
            <a:off x="1047750" y="6924675"/>
            <a:ext cx="2903339" cy="9525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57416" y="7200900"/>
            <a:ext cx="319367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24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PRECISION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47750" y="7620000"/>
            <a:ext cx="3193673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30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الدقة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047750" y="8229600"/>
            <a:ext cx="299043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تفاصيل مضبوطة، أرقام صحيحة، ولغة محسوبة بعناية.</a:t>
            </a:r>
            <a:endParaRPr lang="en-US" sz="1894" dirty="0"/>
          </a:p>
        </p:txBody>
      </p:sp>
      <p:sp>
        <p:nvSpPr>
          <p:cNvPr id="26" name="Text 24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/ 84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ESSENCE &amp; VOICE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جوهر العلامة وصوتها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711565" y="4057650"/>
            <a:ext cx="85286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QUIET LUXURY</a:t>
            </a:r>
            <a:endParaRPr lang="en-US" sz="1818" dirty="0"/>
          </a:p>
        </p:txBody>
      </p:sp>
      <p:sp>
        <p:nvSpPr>
          <p:cNvPr id="6" name="Text 4"/>
          <p:cNvSpPr/>
          <p:nvPr/>
        </p:nvSpPr>
        <p:spPr>
          <a:xfrm>
            <a:off x="9486900" y="4648200"/>
            <a:ext cx="8528685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66"/>
              </a:lnSpc>
              <a:buNone/>
            </a:pPr>
            <a:r>
              <a:rPr lang="en-US" sz="5454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فخامة هادئة</a:t>
            </a:r>
            <a:endParaRPr lang="en-US" sz="5454" dirty="0"/>
          </a:p>
        </p:txBody>
      </p:sp>
      <p:sp>
        <p:nvSpPr>
          <p:cNvPr id="7" name="Text 5"/>
          <p:cNvSpPr/>
          <p:nvPr/>
        </p:nvSpPr>
        <p:spPr>
          <a:xfrm>
            <a:off x="11144250" y="5867400"/>
            <a:ext cx="627888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823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لا نرفع الصوت: مساحات واسعة، تفاصيل قليلة، ودقة في كل شيء. الفخامة عندنا ثقةٌ هادئة لا تحتاج إلى إبهار.</a:t>
            </a:r>
            <a:endParaRPr lang="en-US" sz="2197" dirty="0"/>
          </a:p>
        </p:txBody>
      </p:sp>
      <p:sp>
        <p:nvSpPr>
          <p:cNvPr id="8" name="Text 6"/>
          <p:cNvSpPr/>
          <p:nvPr/>
        </p:nvSpPr>
        <p:spPr>
          <a:xfrm>
            <a:off x="9486900" y="7143750"/>
            <a:ext cx="8528685" cy="619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5876"/>
              </a:lnSpc>
              <a:buNone/>
            </a:pPr>
            <a:r>
              <a:rPr lang="en-US" sz="2879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موثوق </a:t>
            </a:r>
            <a:pPr algn="l" indent="0" marL="0">
              <a:lnSpc>
                <a:spcPct val="105876"/>
              </a:lnSpc>
              <a:buNone/>
            </a:pPr>
            <a:r>
              <a:rPr lang="en-US" sz="2879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· </a:t>
            </a:r>
            <a:pPr algn="l" indent="0" marL="0">
              <a:lnSpc>
                <a:spcPct val="105876"/>
              </a:lnSpc>
              <a:buNone/>
            </a:pPr>
            <a:r>
              <a:rPr lang="en-US" sz="2879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أصيل </a:t>
            </a:r>
            <a:pPr algn="l" indent="0" marL="0">
              <a:lnSpc>
                <a:spcPct val="105876"/>
              </a:lnSpc>
              <a:buNone/>
            </a:pPr>
            <a:r>
              <a:rPr lang="en-US" sz="2879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· </a:t>
            </a:r>
            <a:pPr algn="l" indent="0" marL="0">
              <a:lnSpc>
                <a:spcPct val="105876"/>
              </a:lnSpc>
              <a:buNone/>
            </a:pPr>
            <a:r>
              <a:rPr lang="en-US" sz="2879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دقيق </a:t>
            </a:r>
            <a:pPr algn="l" indent="0" marL="0">
              <a:lnSpc>
                <a:spcPct val="105876"/>
              </a:lnSpc>
              <a:buNone/>
            </a:pPr>
            <a:r>
              <a:rPr lang="en-US" sz="2879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· </a:t>
            </a:r>
            <a:pPr algn="l" indent="0" marL="0">
              <a:lnSpc>
                <a:spcPct val="105876"/>
              </a:lnSpc>
              <a:buNone/>
            </a:pPr>
            <a:r>
              <a:rPr lang="en-US" sz="2879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فاخر </a:t>
            </a:r>
            <a:pPr algn="l" indent="0" marL="0">
              <a:lnSpc>
                <a:spcPct val="105876"/>
              </a:lnSpc>
              <a:buNone/>
            </a:pPr>
            <a:r>
              <a:rPr lang="en-US" sz="2879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· </a:t>
            </a:r>
            <a:pPr algn="l" indent="0" marL="0">
              <a:lnSpc>
                <a:spcPct val="105876"/>
              </a:lnSpc>
              <a:buNone/>
            </a:pPr>
            <a:r>
              <a:rPr lang="en-US" sz="2879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خاص</a:t>
            </a:r>
            <a:endParaRPr lang="en-US" sz="2879" dirty="0"/>
          </a:p>
        </p:txBody>
      </p:sp>
      <p:sp>
        <p:nvSpPr>
          <p:cNvPr id="9" name="Text 7"/>
          <p:cNvSpPr/>
          <p:nvPr/>
        </p:nvSpPr>
        <p:spPr>
          <a:xfrm>
            <a:off x="815149" y="3648075"/>
            <a:ext cx="76240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نكتب بثقة وهدوء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بلا مبالغة، وبلا علامات تعجّب.</a:t>
            </a:r>
            <a:endParaRPr lang="en-US" sz="2197" dirty="0"/>
          </a:p>
        </p:txBody>
      </p:sp>
      <p:sp>
        <p:nvSpPr>
          <p:cNvPr id="10" name="Text 8"/>
          <p:cNvSpPr/>
          <p:nvPr/>
        </p:nvSpPr>
        <p:spPr>
          <a:xfrm>
            <a:off x="815149" y="4381500"/>
            <a:ext cx="76240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العربية تقود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فصحى دافئة تخاطب المقتني مباشرة: «وثّق ساعتك».</a:t>
            </a:r>
            <a:endParaRPr lang="en-US" sz="2197" dirty="0"/>
          </a:p>
        </p:txBody>
      </p:sp>
      <p:sp>
        <p:nvSpPr>
          <p:cNvPr id="11" name="Text 9"/>
          <p:cNvSpPr/>
          <p:nvPr/>
        </p:nvSpPr>
        <p:spPr>
          <a:xfrm>
            <a:off x="815149" y="5114925"/>
            <a:ext cx="76240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الإنجليزية تساند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جُمل قصيرة بأسلوب Sentence case.</a:t>
            </a:r>
            <a:endParaRPr lang="en-US" sz="2197" dirty="0"/>
          </a:p>
        </p:txBody>
      </p:sp>
      <p:sp>
        <p:nvSpPr>
          <p:cNvPr id="12" name="Text 10"/>
          <p:cNvSpPr/>
          <p:nvPr/>
        </p:nvSpPr>
        <p:spPr>
          <a:xfrm>
            <a:off x="815149" y="5848350"/>
            <a:ext cx="76240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الأرقام لاتينية دائماً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في الأسعار والمراجع والتواريخ.</a:t>
            </a:r>
            <a:endParaRPr lang="en-US" sz="2197" dirty="0"/>
          </a:p>
        </p:txBody>
      </p:sp>
      <p:sp>
        <p:nvSpPr>
          <p:cNvPr id="13" name="Shape 11"/>
          <p:cNvSpPr/>
          <p:nvPr/>
        </p:nvSpPr>
        <p:spPr>
          <a:xfrm>
            <a:off x="6822579" y="6657975"/>
            <a:ext cx="1978521" cy="676275"/>
          </a:xfrm>
          <a:prstGeom prst="roundRect">
            <a:avLst>
              <a:gd name="adj" fmla="val 225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08329" y="6810375"/>
            <a:ext cx="148322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«وثّق ساعتك.»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3259336" y="6657975"/>
            <a:ext cx="3391793" cy="676275"/>
          </a:xfrm>
          <a:prstGeom prst="roundRect">
            <a:avLst>
              <a:gd name="adj" fmla="val 225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45086" y="6810375"/>
            <a:ext cx="292204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«انقل السجلّ إلى مالكٍ جديد.»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6068764" y="7505700"/>
            <a:ext cx="2732336" cy="628650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4514" y="7658100"/>
            <a:ext cx="224280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Record #PRV-0482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/ 84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AUDIENCE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الجمهور والسياق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524250" y="2752725"/>
            <a:ext cx="14127480" cy="1314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02"/>
              </a:lnSpc>
              <a:buNone/>
            </a:pPr>
            <a:r>
              <a:rPr lang="en-US" sz="2879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مقتنو الساعات الفاخرة في السعودية والخليج — جمهورٌ يقدّر الخصوصية، ويطلب الدقة، ولا يحتاج إلى إبهار.</a:t>
            </a:r>
            <a:endParaRPr lang="en-US" sz="2879" dirty="0"/>
          </a:p>
        </p:txBody>
      </p:sp>
      <p:sp>
        <p:nvSpPr>
          <p:cNvPr id="6" name="Shape 4"/>
          <p:cNvSpPr/>
          <p:nvPr/>
        </p:nvSpPr>
        <p:spPr>
          <a:xfrm>
            <a:off x="12096750" y="4600575"/>
            <a:ext cx="5143500" cy="3400425"/>
          </a:xfrm>
          <a:prstGeom prst="roundRect">
            <a:avLst>
              <a:gd name="adj" fmla="val 44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477750" y="5019675"/>
            <a:ext cx="48196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2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المقتني الجاد</a:t>
            </a:r>
            <a:endParaRPr lang="en-US" sz="2424" dirty="0"/>
          </a:p>
        </p:txBody>
      </p:sp>
      <p:sp>
        <p:nvSpPr>
          <p:cNvPr id="8" name="Text 6"/>
          <p:cNvSpPr/>
          <p:nvPr/>
        </p:nvSpPr>
        <p:spPr>
          <a:xfrm>
            <a:off x="12477750" y="5648325"/>
            <a:ext cx="4512945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838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يملك مجموعةً تنمو عاماً بعد عام، ويريد سجلاً منظّماً لكل قطعة: مصدرها، كلفتها، وتاريخ صيانتها.</a:t>
            </a:r>
            <a:endParaRPr lang="en-US" sz="1894" dirty="0"/>
          </a:p>
        </p:txBody>
      </p:sp>
      <p:sp>
        <p:nvSpPr>
          <p:cNvPr id="9" name="Shape 7"/>
          <p:cNvSpPr/>
          <p:nvPr/>
        </p:nvSpPr>
        <p:spPr>
          <a:xfrm>
            <a:off x="15208002" y="7105650"/>
            <a:ext cx="1651248" cy="476250"/>
          </a:xfrm>
          <a:prstGeom prst="roundRect">
            <a:avLst>
              <a:gd name="adj" fmla="val 50000"/>
            </a:avLst>
          </a:prstGeom>
          <a:solidFill>
            <a:srgbClr val="C9A86A">
              <a:alpha val="12000"/>
            </a:srgbClr>
          </a:solidFill>
          <a:ln w="9525">
            <a:solidFill>
              <a:srgbClr val="C9A86A">
                <a:alpha val="3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427077" y="7172325"/>
            <a:ext cx="12892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يحتاج: التوثيق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72250" y="4600575"/>
            <a:ext cx="5143500" cy="3400425"/>
          </a:xfrm>
          <a:prstGeom prst="roundRect">
            <a:avLst>
              <a:gd name="adj" fmla="val 44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53250" y="5019675"/>
            <a:ext cx="48196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2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المالك الفرد</a:t>
            </a:r>
            <a:endParaRPr lang="en-US" sz="2424" dirty="0"/>
          </a:p>
        </p:txBody>
      </p:sp>
      <p:sp>
        <p:nvSpPr>
          <p:cNvPr id="13" name="Text 11"/>
          <p:cNvSpPr/>
          <p:nvPr/>
        </p:nvSpPr>
        <p:spPr>
          <a:xfrm>
            <a:off x="6953250" y="5648325"/>
            <a:ext cx="4512945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838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ساعة واحدة ثمينة — هديةٌ أو إرثٌ أو مكافأة. يهمّه أن تُحفظ قيمتها وقصّتها كما تُحفظ الساعة نفسها.</a:t>
            </a:r>
            <a:endParaRPr lang="en-US" sz="1894" dirty="0"/>
          </a:p>
        </p:txBody>
      </p:sp>
      <p:sp>
        <p:nvSpPr>
          <p:cNvPr id="14" name="Shape 12"/>
          <p:cNvSpPr/>
          <p:nvPr/>
        </p:nvSpPr>
        <p:spPr>
          <a:xfrm>
            <a:off x="9345960" y="7105650"/>
            <a:ext cx="1988790" cy="476250"/>
          </a:xfrm>
          <a:prstGeom prst="roundRect">
            <a:avLst>
              <a:gd name="adj" fmla="val 50000"/>
            </a:avLst>
          </a:prstGeom>
          <a:solidFill>
            <a:srgbClr val="C9A86A">
              <a:alpha val="12000"/>
            </a:srgbClr>
          </a:solidFill>
          <a:ln w="9525">
            <a:solidFill>
              <a:srgbClr val="C9A86A">
                <a:alpha val="3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65035" y="7172325"/>
            <a:ext cx="16268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يحتاج: الاستمرارية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4600575"/>
            <a:ext cx="5143500" cy="3400425"/>
          </a:xfrm>
          <a:prstGeom prst="roundRect">
            <a:avLst>
              <a:gd name="adj" fmla="val 44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28750" y="5019675"/>
            <a:ext cx="48196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2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البائع والمشتري</a:t>
            </a:r>
            <a:endParaRPr lang="en-US" sz="2424" dirty="0"/>
          </a:p>
        </p:txBody>
      </p:sp>
      <p:sp>
        <p:nvSpPr>
          <p:cNvPr id="18" name="Text 16"/>
          <p:cNvSpPr/>
          <p:nvPr/>
        </p:nvSpPr>
        <p:spPr>
          <a:xfrm>
            <a:off x="1428750" y="5648325"/>
            <a:ext cx="4512945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838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انتقالٌ واثق بين مالكَين: سجلّ كامل يسبق القرار، وينتقل مع الساعة لحظة إتمامه.</a:t>
            </a:r>
            <a:endParaRPr lang="en-US" sz="1894" dirty="0"/>
          </a:p>
        </p:txBody>
      </p:sp>
      <p:sp>
        <p:nvSpPr>
          <p:cNvPr id="19" name="Shape 17"/>
          <p:cNvSpPr/>
          <p:nvPr/>
        </p:nvSpPr>
        <p:spPr>
          <a:xfrm>
            <a:off x="4349204" y="7105650"/>
            <a:ext cx="1461046" cy="476250"/>
          </a:xfrm>
          <a:prstGeom prst="roundRect">
            <a:avLst>
              <a:gd name="adj" fmla="val 50000"/>
            </a:avLst>
          </a:prstGeom>
          <a:solidFill>
            <a:srgbClr val="C9A86A">
              <a:alpha val="12000"/>
            </a:srgbClr>
          </a:solidFill>
          <a:ln w="9525">
            <a:solidFill>
              <a:srgbClr val="C9A86A">
                <a:alpha val="3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68279" y="7172325"/>
            <a:ext cx="109909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يحتاج: الثقة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/ 84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1734" y="2243138"/>
            <a:ext cx="244453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18" spc="327" kern="0" dirty="0">
                <a:solidFill>
                  <a:srgbClr val="D8BF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CORE IDEA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4530946" y="2833688"/>
            <a:ext cx="9226257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73"/>
              </a:lnSpc>
              <a:buNone/>
            </a:pPr>
            <a:r>
              <a:rPr lang="en-US" sz="5454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«السجلّ الموثوق خلف الساعة»</a:t>
            </a:r>
            <a:endParaRPr lang="en-US" sz="5454" dirty="0"/>
          </a:p>
        </p:txBody>
      </p:sp>
      <p:sp>
        <p:nvSpPr>
          <p:cNvPr id="4" name="Text 2"/>
          <p:cNvSpPr/>
          <p:nvPr/>
        </p:nvSpPr>
        <p:spPr>
          <a:xfrm>
            <a:off x="5358832" y="4119562"/>
            <a:ext cx="757048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spc="429" kern="0" dirty="0">
                <a:solidFill>
                  <a:srgbClr val="D8BF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TRUSTED RECORD BEHIND THE WATCH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8620125" y="4976813"/>
            <a:ext cx="1047750" cy="9525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238500" y="5519738"/>
            <a:ext cx="11811000" cy="9525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949112" y="5815013"/>
            <a:ext cx="32480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المصدر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949112" y="6272213"/>
            <a:ext cx="32480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324" kern="0" dirty="0">
                <a:solidFill>
                  <a:srgbClr val="5C66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ORIGIN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96363" y="5815013"/>
            <a:ext cx="32480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التوثيق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996363" y="6272213"/>
            <a:ext cx="32480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324" kern="0" dirty="0">
                <a:solidFill>
                  <a:srgbClr val="5C66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43613" y="5815013"/>
            <a:ext cx="32480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الأحداث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043613" y="6272213"/>
            <a:ext cx="32480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324" kern="0" dirty="0">
                <a:solidFill>
                  <a:srgbClr val="5C66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90862" y="5815013"/>
            <a:ext cx="32480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الانتقال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090862" y="6272213"/>
            <a:ext cx="32480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324" kern="0" dirty="0">
                <a:solidFill>
                  <a:srgbClr val="5C66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28524" y="7186613"/>
            <a:ext cx="64311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8E97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الساعة تُرى؛ وخلفها سجلٌّ هادئ يحفظ الأصل والتاريخ والانتقال.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524000" y="5905500"/>
            <a:ext cx="5905500" cy="5905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571500" y="3733800"/>
            <a:ext cx="178117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spc="675" kern="0" dirty="0">
                <a:solidFill>
                  <a:srgbClr val="D8BF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 — Visual Identity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047750" y="4295775"/>
            <a:ext cx="17811750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6300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الهوية البصرية</a:t>
            </a:r>
            <a:endParaRPr lang="en-US" sz="6300" dirty="0"/>
          </a:p>
        </p:txBody>
      </p:sp>
      <p:sp>
        <p:nvSpPr>
          <p:cNvPr id="5" name="Text 2"/>
          <p:cNvSpPr/>
          <p:nvPr/>
        </p:nvSpPr>
        <p:spPr>
          <a:xfrm>
            <a:off x="1047750" y="5657850"/>
            <a:ext cx="1667827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467"/>
              </a:lnSpc>
              <a:buNone/>
            </a:pPr>
            <a:r>
              <a:rPr lang="en-US" sz="2424" dirty="0">
                <a:solidFill>
                  <a:srgbClr val="8E97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اللون · الطباعة · الشعار · اللغة الرسومية · الأيقونات</a:t>
            </a:r>
            <a:endParaRPr lang="en-US" sz="2424" dirty="0"/>
          </a:p>
        </p:txBody>
      </p:sp>
      <p:sp>
        <p:nvSpPr>
          <p:cNvPr id="6" name="Text 3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C66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 / 84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8E97A8">
                    <a:alpha val="6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 SYSTEM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نظام الألوان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096750" y="2752725"/>
            <a:ext cx="5143500" cy="5191125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096750" y="2752725"/>
            <a:ext cx="5143500" cy="2381250"/>
          </a:xfrm>
          <a:prstGeom prst="rect">
            <a:avLst/>
          </a:prstGeom>
          <a:solidFill>
            <a:srgbClr val="12B5B0"/>
          </a:solidFill>
          <a:ln/>
        </p:spPr>
      </p:sp>
      <p:sp>
        <p:nvSpPr>
          <p:cNvPr id="7" name="Text 5"/>
          <p:cNvSpPr/>
          <p:nvPr/>
        </p:nvSpPr>
        <p:spPr>
          <a:xfrm>
            <a:off x="15901392" y="5419725"/>
            <a:ext cx="109120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2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التركوازي</a:t>
            </a:r>
            <a:endParaRPr lang="en-US" sz="2424" dirty="0"/>
          </a:p>
        </p:txBody>
      </p:sp>
      <p:sp>
        <p:nvSpPr>
          <p:cNvPr id="8" name="Text 6"/>
          <p:cNvSpPr/>
          <p:nvPr/>
        </p:nvSpPr>
        <p:spPr>
          <a:xfrm>
            <a:off x="12420600" y="5514975"/>
            <a:ext cx="211629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TEAL · #12B5B0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420600" y="5972175"/>
            <a:ext cx="49453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4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لون الفعل</a:t>
            </a:r>
            <a:endParaRPr lang="en-US" sz="1894" dirty="0"/>
          </a:p>
        </p:txBody>
      </p:sp>
      <p:sp>
        <p:nvSpPr>
          <p:cNvPr id="10" name="Text 8"/>
          <p:cNvSpPr/>
          <p:nvPr/>
        </p:nvSpPr>
        <p:spPr>
          <a:xfrm>
            <a:off x="12420600" y="6419850"/>
            <a:ext cx="4630674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الأزرار الرئيسية والروابط ولحظات التأكيد. للنصوص على الفاتح تُستخدم الدرجة الأغمق #0B706D لضمان الوضوح.</a:t>
            </a:r>
            <a:endParaRPr lang="en-US" sz="1894" dirty="0"/>
          </a:p>
        </p:txBody>
      </p:sp>
      <p:sp>
        <p:nvSpPr>
          <p:cNvPr id="11" name="Shape 9"/>
          <p:cNvSpPr/>
          <p:nvPr/>
        </p:nvSpPr>
        <p:spPr>
          <a:xfrm>
            <a:off x="6572250" y="2752725"/>
            <a:ext cx="5143500" cy="5191125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72250" y="2752725"/>
            <a:ext cx="5143500" cy="2381250"/>
          </a:xfrm>
          <a:prstGeom prst="rect">
            <a:avLst/>
          </a:prstGeom>
          <a:solidFill>
            <a:srgbClr val="0A111F"/>
          </a:solidFill>
          <a:ln/>
        </p:spPr>
      </p:sp>
      <p:sp>
        <p:nvSpPr>
          <p:cNvPr id="13" name="Text 11"/>
          <p:cNvSpPr/>
          <p:nvPr/>
        </p:nvSpPr>
        <p:spPr>
          <a:xfrm>
            <a:off x="10556081" y="5419725"/>
            <a:ext cx="91201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2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الكحلي</a:t>
            </a:r>
            <a:endParaRPr lang="en-US" sz="2424" dirty="0"/>
          </a:p>
        </p:txBody>
      </p:sp>
      <p:sp>
        <p:nvSpPr>
          <p:cNvPr id="14" name="Text 12"/>
          <p:cNvSpPr/>
          <p:nvPr/>
        </p:nvSpPr>
        <p:spPr>
          <a:xfrm>
            <a:off x="6896100" y="5514975"/>
            <a:ext cx="21570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NAVY · #0A111F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96100" y="5972175"/>
            <a:ext cx="49453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4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الحبر</a:t>
            </a:r>
            <a:endParaRPr lang="en-US" sz="1894" dirty="0"/>
          </a:p>
        </p:txBody>
      </p:sp>
      <p:sp>
        <p:nvSpPr>
          <p:cNvPr id="16" name="Text 14"/>
          <p:cNvSpPr/>
          <p:nvPr/>
        </p:nvSpPr>
        <p:spPr>
          <a:xfrm>
            <a:off x="6896100" y="6419850"/>
            <a:ext cx="463067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لون العناوين والمتن على الخلفيات الفاتحة، وخلفية السياق الداكن الثانوي عند الحاجة.</a:t>
            </a:r>
            <a:endParaRPr lang="en-US" sz="1894" dirty="0"/>
          </a:p>
        </p:txBody>
      </p:sp>
      <p:sp>
        <p:nvSpPr>
          <p:cNvPr id="17" name="Shape 15"/>
          <p:cNvSpPr/>
          <p:nvPr/>
        </p:nvSpPr>
        <p:spPr>
          <a:xfrm>
            <a:off x="1047750" y="2752725"/>
            <a:ext cx="5143500" cy="5191125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47750" y="2752725"/>
            <a:ext cx="5143500" cy="238125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051" y="5419725"/>
            <a:ext cx="91454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2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الذهبي</a:t>
            </a:r>
            <a:endParaRPr lang="en-US" sz="2424" dirty="0"/>
          </a:p>
        </p:txBody>
      </p:sp>
      <p:sp>
        <p:nvSpPr>
          <p:cNvPr id="20" name="Text 18"/>
          <p:cNvSpPr/>
          <p:nvPr/>
        </p:nvSpPr>
        <p:spPr>
          <a:xfrm>
            <a:off x="1371600" y="5514975"/>
            <a:ext cx="219716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GOLD · #C9A86A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5972175"/>
            <a:ext cx="49453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4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لمسة التوثيق</a:t>
            </a:r>
            <a:endParaRPr lang="en-US" sz="1894" dirty="0"/>
          </a:p>
        </p:txBody>
      </p:sp>
      <p:sp>
        <p:nvSpPr>
          <p:cNvPr id="22" name="Text 20"/>
          <p:cNvSpPr/>
          <p:nvPr/>
        </p:nvSpPr>
        <p:spPr>
          <a:xfrm>
            <a:off x="1371600" y="6419850"/>
            <a:ext cx="463067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خطوط شعرية وأختام وأرقام مميّزة — بتقتيرٍ دائم. لا يكون لون زرٍّ أو مساحةٍ واسعة أبداً.</a:t>
            </a:r>
            <a:endParaRPr lang="en-US" sz="1894" dirty="0"/>
          </a:p>
        </p:txBody>
      </p:sp>
      <p:sp>
        <p:nvSpPr>
          <p:cNvPr id="23" name="Shape 21"/>
          <p:cNvSpPr/>
          <p:nvPr/>
        </p:nvSpPr>
        <p:spPr>
          <a:xfrm>
            <a:off x="1047750" y="8362950"/>
            <a:ext cx="11010900" cy="609600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4" name="Text 22"/>
          <p:cNvSpPr/>
          <p:nvPr/>
        </p:nvSpPr>
        <p:spPr>
          <a:xfrm>
            <a:off x="5849094" y="8496300"/>
            <a:ext cx="154903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المحايدات 68%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058650" y="8362950"/>
            <a:ext cx="3238500" cy="609600"/>
          </a:xfrm>
          <a:prstGeom prst="rect">
            <a:avLst/>
          </a:prstGeom>
          <a:solidFill>
            <a:srgbClr val="0A111F"/>
          </a:solidFill>
          <a:ln/>
        </p:spPr>
      </p:sp>
      <p:sp>
        <p:nvSpPr>
          <p:cNvPr id="26" name="Text 24"/>
          <p:cNvSpPr/>
          <p:nvPr/>
        </p:nvSpPr>
        <p:spPr>
          <a:xfrm>
            <a:off x="13109823" y="8496300"/>
            <a:ext cx="12122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الكحلي 20%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297150" y="8362950"/>
            <a:ext cx="1295400" cy="609600"/>
          </a:xfrm>
          <a:prstGeom prst="rect">
            <a:avLst/>
          </a:prstGeom>
          <a:solidFill>
            <a:srgbClr val="12B5B0"/>
          </a:solidFill>
          <a:ln/>
        </p:spPr>
      </p:sp>
      <p:sp>
        <p:nvSpPr>
          <p:cNvPr id="28" name="Text 26"/>
          <p:cNvSpPr/>
          <p:nvPr/>
        </p:nvSpPr>
        <p:spPr>
          <a:xfrm>
            <a:off x="15770275" y="8496300"/>
            <a:ext cx="42535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82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8%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6592550" y="8362950"/>
            <a:ext cx="647700" cy="60960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30" name="Text 28"/>
          <p:cNvSpPr/>
          <p:nvPr/>
        </p:nvSpPr>
        <p:spPr>
          <a:xfrm>
            <a:off x="16741825" y="8496300"/>
            <a:ext cx="42535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4%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47750" y="9124950"/>
            <a:ext cx="166782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النسبة الإرشادية للاستخدام: المحايدات الدافئة تسود، والذهبي أندرها حضوراً وأعلاها قيمة.</a:t>
            </a:r>
            <a:endParaRPr lang="en-US" sz="1894" dirty="0"/>
          </a:p>
        </p:txBody>
      </p:sp>
      <p:sp>
        <p:nvSpPr>
          <p:cNvPr id="32" name="Text 30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 / 84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NEUTRALS &amp; APPLICATION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المحايدات وتطبيق اللون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486900" y="3533775"/>
            <a:ext cx="7753350" cy="9525"/>
          </a:xfrm>
          <a:prstGeom prst="rect">
            <a:avLst/>
          </a:prstGeom>
          <a:solidFill>
            <a:srgbClr val="E7E2D9"/>
          </a:solidFill>
          <a:ln/>
        </p:spPr>
      </p:sp>
      <p:sp>
        <p:nvSpPr>
          <p:cNvPr id="6" name="Shape 4"/>
          <p:cNvSpPr/>
          <p:nvPr/>
        </p:nvSpPr>
        <p:spPr>
          <a:xfrm>
            <a:off x="16497300" y="2895600"/>
            <a:ext cx="742950" cy="495300"/>
          </a:xfrm>
          <a:prstGeom prst="roundRect">
            <a:avLst>
              <a:gd name="adj" fmla="val 19231"/>
            </a:avLst>
          </a:prstGeom>
          <a:solidFill>
            <a:srgbClr val="FCFBF8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67405" y="2967038"/>
            <a:ext cx="61823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4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خلفية فاتحة بديلة</a:t>
            </a:r>
            <a:endParaRPr lang="en-US" sz="1894" dirty="0"/>
          </a:p>
        </p:txBody>
      </p:sp>
      <p:sp>
        <p:nvSpPr>
          <p:cNvPr id="8" name="Text 6"/>
          <p:cNvSpPr/>
          <p:nvPr/>
        </p:nvSpPr>
        <p:spPr>
          <a:xfrm>
            <a:off x="9486900" y="2990850"/>
            <a:ext cx="10471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#FCFBF8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486900" y="4324350"/>
            <a:ext cx="7753350" cy="9525"/>
          </a:xfrm>
          <a:prstGeom prst="rect">
            <a:avLst/>
          </a:prstGeom>
          <a:solidFill>
            <a:srgbClr val="E7E2D9"/>
          </a:solidFill>
          <a:ln/>
        </p:spPr>
      </p:sp>
      <p:sp>
        <p:nvSpPr>
          <p:cNvPr id="10" name="Shape 8"/>
          <p:cNvSpPr/>
          <p:nvPr/>
        </p:nvSpPr>
        <p:spPr>
          <a:xfrm>
            <a:off x="16497300" y="3686175"/>
            <a:ext cx="742950" cy="495300"/>
          </a:xfrm>
          <a:prstGeom prst="roundRect">
            <a:avLst>
              <a:gd name="adj" fmla="val 19231"/>
            </a:avLst>
          </a:prstGeom>
          <a:solidFill>
            <a:srgbClr val="F5F3E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50438" y="3757613"/>
            <a:ext cx="620104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4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أرضية الصفحة</a:t>
            </a:r>
            <a:endParaRPr lang="en-US" sz="1894" dirty="0"/>
          </a:p>
        </p:txBody>
      </p:sp>
      <p:sp>
        <p:nvSpPr>
          <p:cNvPr id="12" name="Text 10"/>
          <p:cNvSpPr/>
          <p:nvPr/>
        </p:nvSpPr>
        <p:spPr>
          <a:xfrm>
            <a:off x="9486900" y="3781425"/>
            <a:ext cx="103018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#F5F3EF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86900" y="5114925"/>
            <a:ext cx="7753350" cy="9525"/>
          </a:xfrm>
          <a:prstGeom prst="rect">
            <a:avLst/>
          </a:prstGeom>
          <a:solidFill>
            <a:srgbClr val="E7E2D9"/>
          </a:solidFill>
          <a:ln/>
        </p:spPr>
      </p:sp>
      <p:sp>
        <p:nvSpPr>
          <p:cNvPr id="14" name="Shape 12"/>
          <p:cNvSpPr/>
          <p:nvPr/>
        </p:nvSpPr>
        <p:spPr>
          <a:xfrm>
            <a:off x="16497300" y="4476750"/>
            <a:ext cx="742950" cy="495300"/>
          </a:xfrm>
          <a:prstGeom prst="roundRect">
            <a:avLst>
              <a:gd name="adj" fmla="val 19231"/>
            </a:avLst>
          </a:prstGeom>
          <a:solidFill>
            <a:srgbClr val="EEEBE4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79013" y="4548188"/>
            <a:ext cx="61696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4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أسطح غائرة</a:t>
            </a:r>
            <a:endParaRPr lang="en-US" sz="1894" dirty="0"/>
          </a:p>
        </p:txBody>
      </p:sp>
      <p:sp>
        <p:nvSpPr>
          <p:cNvPr id="16" name="Text 14"/>
          <p:cNvSpPr/>
          <p:nvPr/>
        </p:nvSpPr>
        <p:spPr>
          <a:xfrm>
            <a:off x="9486900" y="4572000"/>
            <a:ext cx="10587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#EEEBE4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86900" y="5905500"/>
            <a:ext cx="7753350" cy="9525"/>
          </a:xfrm>
          <a:prstGeom prst="rect">
            <a:avLst/>
          </a:prstGeom>
          <a:solidFill>
            <a:srgbClr val="E7E2D9"/>
          </a:solidFill>
          <a:ln/>
        </p:spPr>
      </p:sp>
      <p:sp>
        <p:nvSpPr>
          <p:cNvPr id="18" name="Shape 16"/>
          <p:cNvSpPr/>
          <p:nvPr/>
        </p:nvSpPr>
        <p:spPr>
          <a:xfrm>
            <a:off x="16497300" y="5267325"/>
            <a:ext cx="742950" cy="49530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26179" y="5338763"/>
            <a:ext cx="622772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4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أسطح البطاقات</a:t>
            </a:r>
            <a:endParaRPr lang="en-US" sz="1894" dirty="0"/>
          </a:p>
        </p:txBody>
      </p:sp>
      <p:sp>
        <p:nvSpPr>
          <p:cNvPr id="20" name="Text 18"/>
          <p:cNvSpPr/>
          <p:nvPr/>
        </p:nvSpPr>
        <p:spPr>
          <a:xfrm>
            <a:off x="9486900" y="5362575"/>
            <a:ext cx="1005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#FFFFFF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486900" y="6696075"/>
            <a:ext cx="7753350" cy="9525"/>
          </a:xfrm>
          <a:prstGeom prst="rect">
            <a:avLst/>
          </a:prstGeom>
          <a:solidFill>
            <a:srgbClr val="E7E2D9"/>
          </a:solidFill>
          <a:ln/>
        </p:spPr>
      </p:sp>
      <p:sp>
        <p:nvSpPr>
          <p:cNvPr id="22" name="Shape 20"/>
          <p:cNvSpPr/>
          <p:nvPr/>
        </p:nvSpPr>
        <p:spPr>
          <a:xfrm>
            <a:off x="16497300" y="6057900"/>
            <a:ext cx="742950" cy="495300"/>
          </a:xfrm>
          <a:prstGeom prst="roundRect">
            <a:avLst>
              <a:gd name="adj" fmla="val 19231"/>
            </a:avLst>
          </a:prstGeom>
          <a:solidFill>
            <a:srgbClr val="565E6C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83329" y="6129338"/>
            <a:ext cx="616486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4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نص ثانوي</a:t>
            </a:r>
            <a:endParaRPr lang="en-US" sz="1894" dirty="0"/>
          </a:p>
        </p:txBody>
      </p:sp>
      <p:sp>
        <p:nvSpPr>
          <p:cNvPr id="24" name="Text 22"/>
          <p:cNvSpPr/>
          <p:nvPr/>
        </p:nvSpPr>
        <p:spPr>
          <a:xfrm>
            <a:off x="9486900" y="6153150"/>
            <a:ext cx="10630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#565E6C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486900" y="7486650"/>
            <a:ext cx="7753350" cy="9525"/>
          </a:xfrm>
          <a:prstGeom prst="rect">
            <a:avLst/>
          </a:prstGeom>
          <a:solidFill>
            <a:srgbClr val="E7E2D9"/>
          </a:solidFill>
          <a:ln/>
        </p:spPr>
      </p:sp>
      <p:sp>
        <p:nvSpPr>
          <p:cNvPr id="26" name="Shape 24"/>
          <p:cNvSpPr/>
          <p:nvPr/>
        </p:nvSpPr>
        <p:spPr>
          <a:xfrm>
            <a:off x="16497300" y="6848475"/>
            <a:ext cx="742950" cy="495300"/>
          </a:xfrm>
          <a:prstGeom prst="roundRect">
            <a:avLst>
              <a:gd name="adj" fmla="val 19231"/>
            </a:avLst>
          </a:prstGeom>
          <a:solidFill>
            <a:srgbClr val="828A98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91813" y="6919913"/>
            <a:ext cx="61555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4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نص خافت</a:t>
            </a:r>
            <a:endParaRPr lang="en-US" sz="1894" dirty="0"/>
          </a:p>
        </p:txBody>
      </p:sp>
      <p:sp>
        <p:nvSpPr>
          <p:cNvPr id="28" name="Text 26"/>
          <p:cNvSpPr/>
          <p:nvPr/>
        </p:nvSpPr>
        <p:spPr>
          <a:xfrm>
            <a:off x="9486900" y="6943725"/>
            <a:ext cx="10715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#828A98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486900" y="8277225"/>
            <a:ext cx="7753350" cy="9525"/>
          </a:xfrm>
          <a:prstGeom prst="rect">
            <a:avLst/>
          </a:prstGeom>
          <a:solidFill>
            <a:srgbClr val="E7E2D9"/>
          </a:solidFill>
          <a:ln/>
        </p:spPr>
      </p:sp>
      <p:sp>
        <p:nvSpPr>
          <p:cNvPr id="30" name="Shape 28"/>
          <p:cNvSpPr/>
          <p:nvPr/>
        </p:nvSpPr>
        <p:spPr>
          <a:xfrm>
            <a:off x="16497300" y="7639050"/>
            <a:ext cx="742950" cy="495300"/>
          </a:xfrm>
          <a:prstGeom prst="roundRect">
            <a:avLst>
              <a:gd name="adj" fmla="val 19231"/>
            </a:avLst>
          </a:prstGeom>
          <a:solidFill>
            <a:srgbClr val="E7E2D9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90920" y="7710487"/>
            <a:ext cx="615651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4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خطوط فاصلة دافئة</a:t>
            </a:r>
            <a:endParaRPr lang="en-US" sz="1894" dirty="0"/>
          </a:p>
        </p:txBody>
      </p:sp>
      <p:sp>
        <p:nvSpPr>
          <p:cNvPr id="32" name="Text 30"/>
          <p:cNvSpPr/>
          <p:nvPr/>
        </p:nvSpPr>
        <p:spPr>
          <a:xfrm>
            <a:off x="9486900" y="7734300"/>
            <a:ext cx="10706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#E7E2D9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6366034" y="8534400"/>
            <a:ext cx="874216" cy="495300"/>
          </a:xfrm>
          <a:prstGeom prst="roundRect">
            <a:avLst>
              <a:gd name="adj" fmla="val 50000"/>
            </a:avLst>
          </a:prstGeom>
          <a:solidFill>
            <a:srgbClr val="E7F5EE"/>
          </a:solidFill>
          <a:ln/>
        </p:spPr>
      </p:sp>
      <p:sp>
        <p:nvSpPr>
          <p:cNvPr id="34" name="Text 32"/>
          <p:cNvSpPr/>
          <p:nvPr/>
        </p:nvSpPr>
        <p:spPr>
          <a:xfrm>
            <a:off x="16594634" y="8610600"/>
            <a:ext cx="49321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8A5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نجاح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362188" y="8534400"/>
            <a:ext cx="851446" cy="495300"/>
          </a:xfrm>
          <a:prstGeom prst="roundRect">
            <a:avLst>
              <a:gd name="adj" fmla="val 50000"/>
            </a:avLst>
          </a:prstGeom>
          <a:solidFill>
            <a:srgbClr val="F8F1DF"/>
          </a:solidFill>
          <a:ln/>
        </p:spPr>
      </p:sp>
      <p:sp>
        <p:nvSpPr>
          <p:cNvPr id="36" name="Text 34"/>
          <p:cNvSpPr/>
          <p:nvPr/>
        </p:nvSpPr>
        <p:spPr>
          <a:xfrm>
            <a:off x="15590788" y="8610600"/>
            <a:ext cx="47044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641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تنبيه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4380518" y="8534400"/>
            <a:ext cx="829270" cy="495300"/>
          </a:xfrm>
          <a:prstGeom prst="roundRect">
            <a:avLst>
              <a:gd name="adj" fmla="val 50000"/>
            </a:avLst>
          </a:prstGeom>
          <a:solidFill>
            <a:srgbClr val="F9EAE9"/>
          </a:solidFill>
          <a:ln/>
        </p:spPr>
      </p:sp>
      <p:sp>
        <p:nvSpPr>
          <p:cNvPr id="38" name="Text 36"/>
          <p:cNvSpPr/>
          <p:nvPr/>
        </p:nvSpPr>
        <p:spPr>
          <a:xfrm>
            <a:off x="14609118" y="8610600"/>
            <a:ext cx="4482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534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خطأ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2143036" y="8582025"/>
            <a:ext cx="216128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حالاتٌ هادئة، لا صاخبة.</a:t>
            </a:r>
            <a:endParaRPr lang="en-US" sz="1894" dirty="0"/>
          </a:p>
        </p:txBody>
      </p:sp>
      <p:sp>
        <p:nvSpPr>
          <p:cNvPr id="40" name="Shape 38"/>
          <p:cNvSpPr/>
          <p:nvPr/>
        </p:nvSpPr>
        <p:spPr>
          <a:xfrm>
            <a:off x="1047750" y="2752725"/>
            <a:ext cx="7753350" cy="4400550"/>
          </a:xfrm>
          <a:prstGeom prst="roundRect">
            <a:avLst>
              <a:gd name="adj" fmla="val 4329"/>
            </a:avLst>
          </a:prstGeom>
          <a:solidFill>
            <a:srgbClr val="F5F3EF"/>
          </a:solidFill>
          <a:ln w="9525">
            <a:solidFill>
              <a:srgbClr val="E7E2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38275" y="3143250"/>
            <a:ext cx="76695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--surface-page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438275" y="3676650"/>
            <a:ext cx="6972300" cy="308610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258967" y="4000500"/>
            <a:ext cx="201053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2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تفاصيل السجلّ</a:t>
            </a:r>
            <a:endParaRPr lang="en-US" sz="2424" dirty="0"/>
          </a:p>
        </p:txBody>
      </p:sp>
      <p:sp>
        <p:nvSpPr>
          <p:cNvPr id="44" name="Text 42"/>
          <p:cNvSpPr/>
          <p:nvPr/>
        </p:nvSpPr>
        <p:spPr>
          <a:xfrm>
            <a:off x="6073080" y="4591050"/>
            <a:ext cx="22150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آخر تحديث: Jan 2026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6389936" y="5162550"/>
            <a:ext cx="1696789" cy="609600"/>
          </a:xfrm>
          <a:prstGeom prst="roundRect">
            <a:avLst>
              <a:gd name="adj" fmla="val 18750"/>
            </a:avLst>
          </a:prstGeom>
          <a:solidFill>
            <a:srgbClr val="12B5B0"/>
          </a:solidFill>
          <a:ln/>
        </p:spPr>
      </p:sp>
      <p:sp>
        <p:nvSpPr>
          <p:cNvPr id="46" name="Text 44"/>
          <p:cNvSpPr/>
          <p:nvPr/>
        </p:nvSpPr>
        <p:spPr>
          <a:xfrm>
            <a:off x="6713786" y="5295900"/>
            <a:ext cx="112528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2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وثّق ساعتك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6119664" y="5905500"/>
            <a:ext cx="1967061" cy="533400"/>
          </a:xfrm>
          <a:prstGeom prst="roundRect">
            <a:avLst>
              <a:gd name="adj" fmla="val 50000"/>
            </a:avLst>
          </a:prstGeom>
          <a:solidFill>
            <a:srgbClr val="C9A86A">
              <a:alpha val="7000"/>
            </a:srgbClr>
          </a:solidFill>
          <a:ln w="9525">
            <a:solidFill>
              <a:srgbClr val="C9A86A">
                <a:alpha val="5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38739" y="6000750"/>
            <a:ext cx="16051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رقمي موثّق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047750" y="7362825"/>
            <a:ext cx="79859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تسلسل الأسطح في النسق الفاتح — النسق الرسمي للمنتج: صفحة دافئة، فبطاقة بيضاء، ففعلٌ تركوازي، فختمٌ ذهبي.</a:t>
            </a:r>
            <a:endParaRPr lang="en-US" sz="1894" dirty="0"/>
          </a:p>
        </p:txBody>
      </p:sp>
      <p:sp>
        <p:nvSpPr>
          <p:cNvPr id="50" name="Text 48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 / 84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TYPOGRAPHY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الطباعة العربية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752725"/>
            <a:ext cx="1781175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17"/>
              </a:lnSpc>
              <a:buNone/>
            </a:pPr>
            <a:r>
              <a:rPr lang="en-US" sz="7272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رقمي موثّق لكل ساعة</a:t>
            </a:r>
            <a:endParaRPr lang="en-US" sz="7272" dirty="0"/>
          </a:p>
        </p:txBody>
      </p:sp>
      <p:sp>
        <p:nvSpPr>
          <p:cNvPr id="6" name="Text 4"/>
          <p:cNvSpPr/>
          <p:nvPr/>
        </p:nvSpPr>
        <p:spPr>
          <a:xfrm>
            <a:off x="-571500" y="4210050"/>
            <a:ext cx="178117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24" dirty="0">
                <a:solidFill>
                  <a:srgbClr val="565E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Plex Sans Arabic · IBM Plex Sans — 0123456789 · SAR 145,000</a:t>
            </a:r>
            <a:endParaRPr lang="en-US" sz="2424" dirty="0"/>
          </a:p>
        </p:txBody>
      </p:sp>
      <p:sp>
        <p:nvSpPr>
          <p:cNvPr id="7" name="Shape 5"/>
          <p:cNvSpPr/>
          <p:nvPr/>
        </p:nvSpPr>
        <p:spPr>
          <a:xfrm>
            <a:off x="14230350" y="6572250"/>
            <a:ext cx="3009900" cy="9525"/>
          </a:xfrm>
          <a:prstGeom prst="rect">
            <a:avLst/>
          </a:prstGeom>
          <a:solidFill>
            <a:srgbClr val="E7E2D9"/>
          </a:solidFill>
          <a:ln/>
        </p:spPr>
      </p:sp>
      <p:sp>
        <p:nvSpPr>
          <p:cNvPr id="8" name="Text 6"/>
          <p:cNvSpPr/>
          <p:nvPr/>
        </p:nvSpPr>
        <p:spPr>
          <a:xfrm>
            <a:off x="14230350" y="6791325"/>
            <a:ext cx="331089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3600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بروفاتو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929360" y="7505700"/>
            <a:ext cx="33108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180" kern="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LIGHT 300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34700" y="6572250"/>
            <a:ext cx="3009900" cy="9525"/>
          </a:xfrm>
          <a:prstGeom prst="rect">
            <a:avLst/>
          </a:prstGeom>
          <a:solidFill>
            <a:srgbClr val="E7E2D9"/>
          </a:solidFill>
          <a:ln/>
        </p:spPr>
      </p:sp>
      <p:sp>
        <p:nvSpPr>
          <p:cNvPr id="11" name="Text 9"/>
          <p:cNvSpPr/>
          <p:nvPr/>
        </p:nvSpPr>
        <p:spPr>
          <a:xfrm>
            <a:off x="10934700" y="6791325"/>
            <a:ext cx="331089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3600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بروفاتو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0633710" y="7505700"/>
            <a:ext cx="33108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180" kern="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REGULAR 400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39050" y="6572250"/>
            <a:ext cx="3009900" cy="9525"/>
          </a:xfrm>
          <a:prstGeom prst="rect">
            <a:avLst/>
          </a:prstGeom>
          <a:solidFill>
            <a:srgbClr val="E7E2D9"/>
          </a:solidFill>
          <a:ln/>
        </p:spPr>
      </p:sp>
      <p:sp>
        <p:nvSpPr>
          <p:cNvPr id="14" name="Text 12"/>
          <p:cNvSpPr/>
          <p:nvPr/>
        </p:nvSpPr>
        <p:spPr>
          <a:xfrm>
            <a:off x="7639050" y="6791325"/>
            <a:ext cx="331089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3600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بروفاتو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338060" y="7505700"/>
            <a:ext cx="33108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180" kern="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MEDIUM 500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343400" y="6572250"/>
            <a:ext cx="3009900" cy="9525"/>
          </a:xfrm>
          <a:prstGeom prst="rect">
            <a:avLst/>
          </a:prstGeom>
          <a:solidFill>
            <a:srgbClr val="E7E2D9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6791325"/>
            <a:ext cx="331089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36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بروفاتو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042410" y="7505700"/>
            <a:ext cx="33108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180" kern="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SEMIBOLD 600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47750" y="6572250"/>
            <a:ext cx="3009900" cy="9525"/>
          </a:xfrm>
          <a:prstGeom prst="rect">
            <a:avLst/>
          </a:prstGeom>
          <a:solidFill>
            <a:srgbClr val="E7E2D9"/>
          </a:solidFill>
          <a:ln/>
        </p:spPr>
      </p:sp>
      <p:sp>
        <p:nvSpPr>
          <p:cNvPr id="20" name="Text 18"/>
          <p:cNvSpPr/>
          <p:nvPr/>
        </p:nvSpPr>
        <p:spPr>
          <a:xfrm>
            <a:off x="1047750" y="6791325"/>
            <a:ext cx="331089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36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بروفاتو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746760" y="7505700"/>
            <a:ext cx="33108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180" kern="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BOLD 700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007822" y="8353425"/>
            <a:ext cx="8232428" cy="552450"/>
          </a:xfrm>
          <a:prstGeom prst="roundRect">
            <a:avLst>
              <a:gd name="adj" fmla="val 50000"/>
            </a:avLst>
          </a:prstGeom>
          <a:solidFill>
            <a:srgbClr val="C9A86A">
              <a:alpha val="8000"/>
            </a:srgbClr>
          </a:solidFill>
          <a:ln w="9525">
            <a:solidFill>
              <a:srgbClr val="C9A86A">
                <a:alpha val="3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64997" y="8458200"/>
            <a:ext cx="796505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خط DGA قيد مراجعة الترخيص والحوكمة — IBM Plex Sans Arabic هو البديل المعتمد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47750" y="8229600"/>
            <a:ext cx="784568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العناوين Medium وSemiBold؛ المتن Regular بارتفاع سطرٍ 1.6–1.8؛ الأرقام والأسعار بخط IBM Plex Sans اللاتيني دائماً.</a:t>
            </a:r>
            <a:endParaRPr lang="en-US" sz="1894" dirty="0"/>
          </a:p>
        </p:txBody>
      </p:sp>
      <p:sp>
        <p:nvSpPr>
          <p:cNvPr id="25" name="Text 23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/ 84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BILINGUAL SYSTEM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النظام ثنائي اللغة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254300" y="3695700"/>
            <a:ext cx="76240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الاتجاه RTL أصل التصميم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الإنجليزية تُدرَج داخله، لا العكس.</a:t>
            </a:r>
            <a:endParaRPr lang="en-US" sz="2197" dirty="0"/>
          </a:p>
        </p:txBody>
      </p:sp>
      <p:sp>
        <p:nvSpPr>
          <p:cNvPr id="6" name="Text 4"/>
          <p:cNvSpPr/>
          <p:nvPr/>
        </p:nvSpPr>
        <p:spPr>
          <a:xfrm>
            <a:off x="9254300" y="4429125"/>
            <a:ext cx="762400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خصائص CSS منطقية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start/end بدل right/left لتعمل الواجهة بالاتجاهين.</a:t>
            </a:r>
            <a:endParaRPr lang="en-US" sz="2197" dirty="0"/>
          </a:p>
        </p:txBody>
      </p:sp>
      <p:sp>
        <p:nvSpPr>
          <p:cNvPr id="7" name="Text 5"/>
          <p:cNvSpPr/>
          <p:nvPr/>
        </p:nvSpPr>
        <p:spPr>
          <a:xfrm>
            <a:off x="9254300" y="5648325"/>
            <a:ext cx="762400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الأرقام لاتينية دائماً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الأسعار والمراجع والتسلسلات بخط IBM Plex Sans.</a:t>
            </a:r>
            <a:endParaRPr lang="en-US" sz="2197" dirty="0"/>
          </a:p>
        </p:txBody>
      </p:sp>
      <p:sp>
        <p:nvSpPr>
          <p:cNvPr id="8" name="Text 6"/>
          <p:cNvSpPr/>
          <p:nvPr/>
        </p:nvSpPr>
        <p:spPr>
          <a:xfrm>
            <a:off x="9254300" y="6867525"/>
            <a:ext cx="76240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لا تباعد أحرفٍ في العربية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التباعد للعناوين اللاتينية الدقيقة وحدها.</a:t>
            </a:r>
            <a:endParaRPr lang="en-US" sz="2197" dirty="0"/>
          </a:p>
        </p:txBody>
      </p:sp>
      <p:sp>
        <p:nvSpPr>
          <p:cNvPr id="9" name="Text 7"/>
          <p:cNvSpPr/>
          <p:nvPr/>
        </p:nvSpPr>
        <p:spPr>
          <a:xfrm>
            <a:off x="9254300" y="7600950"/>
            <a:ext cx="76240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العناوين اللاتينية الدقيقة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أحرف كبيرة بتباعد 0.18em وبلونٍ ذهبي.</a:t>
            </a:r>
            <a:endParaRPr lang="en-US" sz="2197" dirty="0"/>
          </a:p>
        </p:txBody>
      </p:sp>
      <p:sp>
        <p:nvSpPr>
          <p:cNvPr id="10" name="Shape 8"/>
          <p:cNvSpPr/>
          <p:nvPr/>
        </p:nvSpPr>
        <p:spPr>
          <a:xfrm>
            <a:off x="1047750" y="3652838"/>
            <a:ext cx="7753350" cy="447675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2495" y="4148137"/>
            <a:ext cx="73552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24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RECORD DETAILS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81150" y="4662488"/>
            <a:ext cx="735520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67"/>
              </a:lnSpc>
              <a:buNone/>
            </a:pPr>
            <a:r>
              <a:rPr lang="en-US" sz="3333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تفاصيل السجلّ</a:t>
            </a:r>
            <a:endParaRPr lang="en-US" sz="3333" dirty="0"/>
          </a:p>
        </p:txBody>
      </p:sp>
      <p:sp>
        <p:nvSpPr>
          <p:cNvPr id="13" name="Text 11"/>
          <p:cNvSpPr/>
          <p:nvPr/>
        </p:nvSpPr>
        <p:spPr>
          <a:xfrm>
            <a:off x="1581150" y="5462588"/>
            <a:ext cx="6887147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823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كل حدثٍ موثّق بتاريخه وكلفته — صيانة، ملاحظات، تأمين — يبقى مع الساعة أينما انتقلت.</a:t>
            </a:r>
            <a:endParaRPr lang="en-US" sz="2197" dirty="0"/>
          </a:p>
        </p:txBody>
      </p:sp>
      <p:sp>
        <p:nvSpPr>
          <p:cNvPr id="14" name="Text 12"/>
          <p:cNvSpPr/>
          <p:nvPr/>
        </p:nvSpPr>
        <p:spPr>
          <a:xfrm>
            <a:off x="1581150" y="6662738"/>
            <a:ext cx="73552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آخر تحديث: 12 Jan 2026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2495" y="7215188"/>
            <a:ext cx="735520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SAR 145,000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/ 84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 SUITE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منظومة الشعار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449300" y="2752725"/>
            <a:ext cx="3790950" cy="314325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16025" y="3609975"/>
            <a:ext cx="2857500" cy="1428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49300" y="6067425"/>
            <a:ext cx="41700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الشعار الأساسي</a:t>
            </a:r>
            <a:endParaRPr lang="en-US" sz="1894" dirty="0"/>
          </a:p>
        </p:txBody>
      </p:sp>
      <p:sp>
        <p:nvSpPr>
          <p:cNvPr id="8" name="Text 5"/>
          <p:cNvSpPr/>
          <p:nvPr/>
        </p:nvSpPr>
        <p:spPr>
          <a:xfrm>
            <a:off x="13449300" y="6591300"/>
            <a:ext cx="3904678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للاستخدام على الخلفيات الفاتحة — وهو الأصل في كل التطبيقات.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315450" y="2752725"/>
            <a:ext cx="3790950" cy="3143250"/>
          </a:xfrm>
          <a:prstGeom prst="roundRect">
            <a:avLst>
              <a:gd name="adj" fmla="val 4848"/>
            </a:avLst>
          </a:prstGeom>
          <a:solidFill>
            <a:srgbClr val="0A111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175" y="3609975"/>
            <a:ext cx="2857500" cy="1428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15450" y="6067425"/>
            <a:ext cx="41700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النسخة المعكوسة</a:t>
            </a:r>
            <a:endParaRPr lang="en-US" sz="1894" dirty="0"/>
          </a:p>
        </p:txBody>
      </p:sp>
      <p:sp>
        <p:nvSpPr>
          <p:cNvPr id="12" name="Text 8"/>
          <p:cNvSpPr/>
          <p:nvPr/>
        </p:nvSpPr>
        <p:spPr>
          <a:xfrm>
            <a:off x="9315450" y="6591300"/>
            <a:ext cx="3904678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للسياق الداكن الثانوي؛ الأيقونة تحتفظ بألوانها الذهبية والتركوازية.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181600" y="2752725"/>
            <a:ext cx="3790950" cy="3143250"/>
          </a:xfrm>
          <a:prstGeom prst="roundRect">
            <a:avLst>
              <a:gd name="adj" fmla="val 4848"/>
            </a:avLst>
          </a:prstGeom>
          <a:solidFill>
            <a:srgbClr val="EEEBE4"/>
          </a:solidFill>
          <a:ln w="9525">
            <a:solidFill>
              <a:srgbClr val="E7E2D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075" y="3562350"/>
            <a:ext cx="1524000" cy="1524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81600" y="6067425"/>
            <a:ext cx="41700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الأيقونة</a:t>
            </a:r>
            <a:endParaRPr lang="en-US" sz="1894" dirty="0"/>
          </a:p>
        </p:txBody>
      </p:sp>
      <p:sp>
        <p:nvSpPr>
          <p:cNvPr id="16" name="Text 11"/>
          <p:cNvSpPr/>
          <p:nvPr/>
        </p:nvSpPr>
        <p:spPr>
          <a:xfrm>
            <a:off x="5181600" y="6591300"/>
            <a:ext cx="3904678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عقارب وميناء مجرّدان — تكفي وحدها في المساحات الصغيرة.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1047750" y="2752725"/>
            <a:ext cx="3790950" cy="3143250"/>
          </a:xfrm>
          <a:prstGeom prst="roundRect">
            <a:avLst>
              <a:gd name="adj" fmla="val 4848"/>
            </a:avLst>
          </a:prstGeom>
          <a:solidFill>
            <a:srgbClr val="EEEBE4"/>
          </a:solidFill>
          <a:ln w="9525">
            <a:solidFill>
              <a:srgbClr val="E7E2D9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2181225" y="3562350"/>
            <a:ext cx="1524000" cy="1524000"/>
          </a:xfrm>
          <a:prstGeom prst="roundRect">
            <a:avLst>
              <a:gd name="adj" fmla="val 22500"/>
            </a:avLst>
          </a:prstGeom>
          <a:ln/>
          <a:effectLst>
            <a:outerShdw sx="100000" sy="100000" kx="0" ky="0" algn="bl" rotWithShape="0" blurRad="285750" dist="76200" dir="5400000">
              <a:srgbClr val="0A111F">
                <a:alpha val="14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1225" y="3562350"/>
            <a:ext cx="1524000" cy="15240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47750" y="6067425"/>
            <a:ext cx="41700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أيقونة التطبيق</a:t>
            </a:r>
            <a:endParaRPr lang="en-US" sz="1894" dirty="0"/>
          </a:p>
        </p:txBody>
      </p:sp>
      <p:sp>
        <p:nvSpPr>
          <p:cNvPr id="21" name="Text 15"/>
          <p:cNvSpPr/>
          <p:nvPr/>
        </p:nvSpPr>
        <p:spPr>
          <a:xfrm>
            <a:off x="1047750" y="6591300"/>
            <a:ext cx="3904678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حضور العلامة على الشاشة الرئيسية لهاتف المقتني.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/ 84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 USAGE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ضوابط الشعار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486900" y="2752725"/>
            <a:ext cx="7753350" cy="3743325"/>
          </a:xfrm>
          <a:prstGeom prst="roundRect">
            <a:avLst>
              <a:gd name="adj" fmla="val 40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158538" y="3286125"/>
            <a:ext cx="4410075" cy="2676525"/>
          </a:xfrm>
          <a:prstGeom prst="rect">
            <a:avLst/>
          </a:prstGeom>
          <a:ln w="14288">
            <a:solidFill>
              <a:srgbClr val="C4CAD4"/>
            </a:solidFill>
            <a:prstDash val="dash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4825" y="3910013"/>
            <a:ext cx="2857500" cy="1428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94519" y="3433763"/>
            <a:ext cx="213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×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363325" y="4471988"/>
            <a:ext cx="213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×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486900" y="6743700"/>
            <a:ext cx="79859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مساحة الأمان حول الشعار تعادل ارتفاع الأيقونة (×) من كل الجهات. الحد الأدنى للعرض: 120px رقمياً · 28mm طباعةً.</a:t>
            </a:r>
            <a:endParaRPr lang="en-US" sz="1894" dirty="0"/>
          </a:p>
        </p:txBody>
      </p:sp>
      <p:sp>
        <p:nvSpPr>
          <p:cNvPr id="11" name="Text 8"/>
          <p:cNvSpPr/>
          <p:nvPr/>
        </p:nvSpPr>
        <p:spPr>
          <a:xfrm>
            <a:off x="5191125" y="2752725"/>
            <a:ext cx="39709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24" b="1" dirty="0">
                <a:solidFill>
                  <a:srgbClr val="0B706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يصحّ</a:t>
            </a:r>
            <a:endParaRPr lang="en-US" sz="2424" dirty="0"/>
          </a:p>
        </p:txBody>
      </p:sp>
      <p:sp>
        <p:nvSpPr>
          <p:cNvPr id="12" name="Text 9"/>
          <p:cNvSpPr/>
          <p:nvPr/>
        </p:nvSpPr>
        <p:spPr>
          <a:xfrm>
            <a:off x="4995834" y="3419475"/>
            <a:ext cx="3881466" cy="284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على الفاتح بالألوان الأصلية.</a:t>
            </a:r>
            <a:endParaRPr lang="en-US" sz="2197" dirty="0"/>
          </a:p>
          <a:p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على الكحلي بالنسخة المعكوسة.</a:t>
            </a:r>
            <a:endParaRPr lang="en-US" sz="2197" dirty="0"/>
          </a:p>
          <a:p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الأيقونة وحدها في المساحات الصغيرة.</a:t>
            </a:r>
            <a:endParaRPr lang="en-US" sz="2197" dirty="0"/>
          </a:p>
        </p:txBody>
      </p:sp>
      <p:sp>
        <p:nvSpPr>
          <p:cNvPr id="13" name="Text 10"/>
          <p:cNvSpPr/>
          <p:nvPr/>
        </p:nvSpPr>
        <p:spPr>
          <a:xfrm>
            <a:off x="1047750" y="2752725"/>
            <a:ext cx="39709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24" b="1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تجنّب</a:t>
            </a:r>
            <a:endParaRPr lang="en-US" sz="2424" dirty="0"/>
          </a:p>
        </p:txBody>
      </p:sp>
      <p:sp>
        <p:nvSpPr>
          <p:cNvPr id="14" name="Text 11"/>
          <p:cNvSpPr/>
          <p:nvPr/>
        </p:nvSpPr>
        <p:spPr>
          <a:xfrm>
            <a:off x="852459" y="3419475"/>
            <a:ext cx="3881466" cy="3228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تغيير الألوان أو إضافة تدرّجات.</a:t>
            </a:r>
            <a:endParaRPr lang="en-US" sz="2197" dirty="0"/>
          </a:p>
          <a:p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الظلال والتأثيرات البصرية.</a:t>
            </a:r>
            <a:endParaRPr lang="en-US" sz="2197" dirty="0"/>
          </a:p>
          <a:p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التدوير أو الإمالة أو التمديد.</a:t>
            </a:r>
            <a:endParaRPr lang="en-US" sz="2197" dirty="0"/>
          </a:p>
          <a:p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إعادة رسم الأيقونة أو تعديلها.</a:t>
            </a:r>
            <a:endParaRPr lang="en-US" sz="2197" dirty="0"/>
          </a:p>
          <a:p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وضعه على خلفياتٍ مزدحمة.</a:t>
            </a:r>
            <a:endParaRPr lang="en-US" sz="2197" dirty="0"/>
          </a:p>
        </p:txBody>
      </p:sp>
      <p:sp>
        <p:nvSpPr>
          <p:cNvPr id="15" name="Text 12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 / 84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GRAPHIC LANGUAGE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اللغة الرسومية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096750" y="2752725"/>
            <a:ext cx="5143500" cy="485775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477750" y="3133725"/>
            <a:ext cx="4381500" cy="2000250"/>
          </a:xfrm>
          <a:prstGeom prst="roundRect">
            <a:avLst>
              <a:gd name="adj" fmla="val 5714"/>
            </a:avLst>
          </a:prstGeom>
          <a:solidFill>
            <a:srgbClr val="FCFBF8"/>
          </a:solidFill>
          <a:ln w="9525">
            <a:solidFill>
              <a:srgbClr val="E7E2D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9750" y="3498800"/>
            <a:ext cx="2857500" cy="12699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477750" y="5324475"/>
            <a:ext cx="48196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2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 الشعري الذهبي</a:t>
            </a:r>
            <a:endParaRPr lang="en-US" sz="2424" dirty="0"/>
          </a:p>
        </p:txBody>
      </p:sp>
      <p:sp>
        <p:nvSpPr>
          <p:cNvPr id="9" name="Text 6"/>
          <p:cNvSpPr/>
          <p:nvPr/>
        </p:nvSpPr>
        <p:spPr>
          <a:xfrm>
            <a:off x="12477750" y="5972175"/>
            <a:ext cx="4512945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426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إطارات وفواصل بسماكة 1px تستدعي روح الشهادات والوثائق — على الأسطح الفاتحة والداكنة معاً.</a:t>
            </a:r>
            <a:endParaRPr lang="en-US" sz="1894" dirty="0"/>
          </a:p>
        </p:txBody>
      </p:sp>
      <p:sp>
        <p:nvSpPr>
          <p:cNvPr id="10" name="Shape 7"/>
          <p:cNvSpPr/>
          <p:nvPr/>
        </p:nvSpPr>
        <p:spPr>
          <a:xfrm>
            <a:off x="6572250" y="2752725"/>
            <a:ext cx="5143500" cy="485775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53250" y="3133725"/>
            <a:ext cx="4381500" cy="2000250"/>
          </a:xfrm>
          <a:prstGeom prst="roundRect">
            <a:avLst>
              <a:gd name="adj" fmla="val 5714"/>
            </a:avLst>
          </a:prstGeom>
          <a:solidFill>
            <a:srgbClr val="FCFBF8"/>
          </a:solidFill>
          <a:ln w="9525">
            <a:solidFill>
              <a:srgbClr val="E7E2D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5250" y="3498800"/>
            <a:ext cx="2857500" cy="12699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53250" y="5324475"/>
            <a:ext cx="48196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2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هندسة الميناء</a:t>
            </a:r>
            <a:endParaRPr lang="en-US" sz="2424" dirty="0"/>
          </a:p>
        </p:txBody>
      </p:sp>
      <p:sp>
        <p:nvSpPr>
          <p:cNvPr id="14" name="Text 10"/>
          <p:cNvSpPr/>
          <p:nvPr/>
        </p:nvSpPr>
        <p:spPr>
          <a:xfrm>
            <a:off x="6953250" y="5972175"/>
            <a:ext cx="4512945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426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دوائر رفيعة وعلامات دقائق مستمدّة من الأيقونة — عنصرٌ خلفي هادئ للأغلفة والفواصل.</a:t>
            </a:r>
            <a:endParaRPr lang="en-US" sz="1894" dirty="0"/>
          </a:p>
        </p:txBody>
      </p:sp>
      <p:sp>
        <p:nvSpPr>
          <p:cNvPr id="15" name="Shape 11"/>
          <p:cNvSpPr/>
          <p:nvPr/>
        </p:nvSpPr>
        <p:spPr>
          <a:xfrm>
            <a:off x="1047750" y="2752725"/>
            <a:ext cx="5143500" cy="485775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428750" y="3133725"/>
            <a:ext cx="4381500" cy="2000250"/>
          </a:xfrm>
          <a:prstGeom prst="roundRect">
            <a:avLst>
              <a:gd name="adj" fmla="val 5714"/>
            </a:avLst>
          </a:prstGeom>
          <a:solidFill>
            <a:srgbClr val="FCFBF8"/>
          </a:solidFill>
          <a:ln w="9525">
            <a:solidFill>
              <a:srgbClr val="E7E2D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90750" y="3498800"/>
            <a:ext cx="2857500" cy="12699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28750" y="5324475"/>
            <a:ext cx="48196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2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خطّ السجلّ</a:t>
            </a:r>
            <a:endParaRPr lang="en-US" sz="2424" dirty="0"/>
          </a:p>
        </p:txBody>
      </p:sp>
      <p:sp>
        <p:nvSpPr>
          <p:cNvPr id="19" name="Text 14"/>
          <p:cNvSpPr/>
          <p:nvPr/>
        </p:nvSpPr>
        <p:spPr>
          <a:xfrm>
            <a:off x="1428750" y="5972175"/>
            <a:ext cx="4512945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426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خطٌّ زمني بعُقَدٍ موثّقة — تمثيل التسلسل: من المصدر إلى الأحداث إلى الانتقال.</a:t>
            </a:r>
            <a:endParaRPr lang="en-US" sz="1894" dirty="0"/>
          </a:p>
        </p:txBody>
      </p:sp>
      <p:sp>
        <p:nvSpPr>
          <p:cNvPr id="20" name="Text 15"/>
          <p:cNvSpPr/>
          <p:nvPr/>
        </p:nvSpPr>
        <p:spPr>
          <a:xfrm>
            <a:off x="1047750" y="8629650"/>
            <a:ext cx="166782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كل الرسوم أصلية؛ لا صور فوتوغرافية، ولا محاكاة لعلاماتٍ أو موديلات ساعاتٍ حقيقية.</a:t>
            </a:r>
            <a:endParaRPr lang="en-US" sz="1894" dirty="0"/>
          </a:p>
        </p:txBody>
      </p:sp>
      <p:sp>
        <p:nvSpPr>
          <p:cNvPr id="21" name="Text 16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 / 84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ICONOGRAPHY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الأيقونات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5449550" y="2752725"/>
            <a:ext cx="1790700" cy="179070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097250" y="3400425"/>
            <a:ext cx="495300" cy="4953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3339" y="4695825"/>
            <a:ext cx="75932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الرئيسية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3392150" y="2752725"/>
            <a:ext cx="1790700" cy="179070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39850" y="3400425"/>
            <a:ext cx="495300" cy="495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968115" y="4695825"/>
            <a:ext cx="7149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الإضافة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11334750" y="2752725"/>
            <a:ext cx="1790700" cy="179070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82450" y="3400425"/>
            <a:ext cx="495300" cy="495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923216" y="4695825"/>
            <a:ext cx="69011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السجلّ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9277350" y="2752725"/>
            <a:ext cx="1790700" cy="179070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25050" y="3400425"/>
            <a:ext cx="495300" cy="4953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907191" y="4695825"/>
            <a:ext cx="6073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التاريخ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7219950" y="2752725"/>
            <a:ext cx="1790700" cy="179070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67650" y="3400425"/>
            <a:ext cx="495300" cy="4953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892802" y="4695825"/>
            <a:ext cx="5213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النقل</a:t>
            </a:r>
            <a:endParaRPr lang="en-US" sz="1800" dirty="0"/>
          </a:p>
        </p:txBody>
      </p:sp>
      <p:sp>
        <p:nvSpPr>
          <p:cNvPr id="20" name="Shape 13"/>
          <p:cNvSpPr/>
          <p:nvPr/>
        </p:nvSpPr>
        <p:spPr>
          <a:xfrm>
            <a:off x="5162550" y="2752725"/>
            <a:ext cx="1790700" cy="179070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10250" y="3400425"/>
            <a:ext cx="495300" cy="4953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760244" y="4695825"/>
            <a:ext cx="6715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التقويم</a:t>
            </a:r>
            <a:endParaRPr lang="en-US" sz="1800" dirty="0"/>
          </a:p>
        </p:txBody>
      </p:sp>
      <p:sp>
        <p:nvSpPr>
          <p:cNvPr id="23" name="Shape 15"/>
          <p:cNvSpPr/>
          <p:nvPr/>
        </p:nvSpPr>
        <p:spPr>
          <a:xfrm>
            <a:off x="3105150" y="2752725"/>
            <a:ext cx="1790700" cy="179070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752850" y="3400425"/>
            <a:ext cx="495300" cy="4953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647033" y="4695825"/>
            <a:ext cx="78313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الحساب</a:t>
            </a:r>
            <a:endParaRPr lang="en-US" sz="1800" dirty="0"/>
          </a:p>
        </p:txBody>
      </p:sp>
      <p:sp>
        <p:nvSpPr>
          <p:cNvPr id="26" name="Shape 17"/>
          <p:cNvSpPr/>
          <p:nvPr/>
        </p:nvSpPr>
        <p:spPr>
          <a:xfrm>
            <a:off x="1047750" y="2752725"/>
            <a:ext cx="1790700" cy="179070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695450" y="3400425"/>
            <a:ext cx="495300" cy="49530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670447" y="4695825"/>
            <a:ext cx="62150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البحث</a:t>
            </a:r>
            <a:endParaRPr lang="en-US" sz="1800" dirty="0"/>
          </a:p>
        </p:txBody>
      </p:sp>
      <p:sp>
        <p:nvSpPr>
          <p:cNvPr id="29" name="Text 19"/>
          <p:cNvSpPr/>
          <p:nvPr/>
        </p:nvSpPr>
        <p:spPr>
          <a:xfrm>
            <a:off x="9215409" y="6743700"/>
            <a:ext cx="8101041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سماكة 1.5px بأطرافٍ مدوّرة على شبكة 24 — امتدادٌ لخطوط الأيقونة الرفيعة.</a:t>
            </a:r>
            <a:endParaRPr lang="en-US" sz="2197" dirty="0"/>
          </a:p>
          <a:p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الأيقونات الاتجاهية تنعكس تلقائياً في واجهات RTL.</a:t>
            </a:r>
            <a:endParaRPr lang="en-US" sz="2197" dirty="0"/>
          </a:p>
          <a:p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لا أقفال ولا دروع ولا رموز أمنية مباشرة — الثقة تُقال بالهدوء لا بالرموز.</a:t>
            </a:r>
            <a:endParaRPr lang="en-US" sz="2197" dirty="0"/>
          </a:p>
        </p:txBody>
      </p:sp>
      <p:sp>
        <p:nvSpPr>
          <p:cNvPr id="30" name="Shape 20"/>
          <p:cNvSpPr/>
          <p:nvPr/>
        </p:nvSpPr>
        <p:spPr>
          <a:xfrm>
            <a:off x="1047750" y="6743700"/>
            <a:ext cx="7829550" cy="9525"/>
          </a:xfrm>
          <a:prstGeom prst="rect">
            <a:avLst/>
          </a:prstGeom>
          <a:solidFill>
            <a:srgbClr val="C9A86A">
              <a:alpha val="32000"/>
            </a:srgbClr>
          </a:solidFill>
          <a:ln/>
        </p:spPr>
      </p:sp>
      <p:sp>
        <p:nvSpPr>
          <p:cNvPr id="31" name="Text 21"/>
          <p:cNvSpPr/>
          <p:nvPr/>
        </p:nvSpPr>
        <p:spPr>
          <a:xfrm>
            <a:off x="1047750" y="6962775"/>
            <a:ext cx="806443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طقم Lucide المرحلي بديلٌ مؤقت متوافق مع أسلوب العلامة — إلى حين تكليف طقمٍ خاص ببروفاتو.</a:t>
            </a:r>
            <a:endParaRPr lang="en-US" sz="1894" dirty="0"/>
          </a:p>
        </p:txBody>
      </p:sp>
      <p:sp>
        <p:nvSpPr>
          <p:cNvPr id="32" name="Text 22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/ 84</a:t>
            </a:r>
            <a:endParaRPr lang="en-US" sz="1800" dirty="0"/>
          </a:p>
        </p:txBody>
      </p:sp>
      <p:sp>
        <p:nvSpPr>
          <p:cNvPr id="33" name="Text 23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524000" y="5905500"/>
            <a:ext cx="5905500" cy="5905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571500" y="3733800"/>
            <a:ext cx="178117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spc="675" kern="0" dirty="0">
                <a:solidFill>
                  <a:srgbClr val="D8BF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— System &amp; Product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047750" y="4295775"/>
            <a:ext cx="17811750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6300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النظام والمنتج</a:t>
            </a:r>
            <a:endParaRPr lang="en-US" sz="6300" dirty="0"/>
          </a:p>
        </p:txBody>
      </p:sp>
      <p:sp>
        <p:nvSpPr>
          <p:cNvPr id="5" name="Text 2"/>
          <p:cNvSpPr/>
          <p:nvPr/>
        </p:nvSpPr>
        <p:spPr>
          <a:xfrm>
            <a:off x="1047750" y="5657850"/>
            <a:ext cx="1667827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467"/>
              </a:lnSpc>
              <a:buNone/>
            </a:pPr>
            <a:r>
              <a:rPr lang="en-US" sz="2424" dirty="0">
                <a:solidFill>
                  <a:srgbClr val="8E97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المكوّنات · الأسس · الشاشات · تجارب المنتج</a:t>
            </a:r>
            <a:endParaRPr lang="en-US" sz="2424" dirty="0"/>
          </a:p>
        </p:txBody>
      </p:sp>
      <p:sp>
        <p:nvSpPr>
          <p:cNvPr id="6" name="Text 3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C66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 / 84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8E97A8">
                    <a:alpha val="6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COMPONENTS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المكوّنات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52433" y="2752725"/>
            <a:ext cx="8487817" cy="3438525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33433" y="3095625"/>
            <a:ext cx="849839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4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الأزرار — أساسي، ثانوي، خفيف، وذهبيٌّ لمقام التوثيق فقط</a:t>
            </a:r>
            <a:endParaRPr lang="en-US" sz="1894" dirty="0"/>
          </a:p>
        </p:txBody>
      </p:sp>
      <p:sp>
        <p:nvSpPr>
          <p:cNvPr id="7" name="Shape 5"/>
          <p:cNvSpPr/>
          <p:nvPr/>
        </p:nvSpPr>
        <p:spPr>
          <a:xfrm>
            <a:off x="15601801" y="3657600"/>
            <a:ext cx="1257449" cy="523875"/>
          </a:xfrm>
          <a:prstGeom prst="roundRect">
            <a:avLst>
              <a:gd name="adj" fmla="val 21818"/>
            </a:avLst>
          </a:prstGeom>
          <a:solidFill>
            <a:srgbClr val="12B5B0"/>
          </a:solidFill>
          <a:ln/>
        </p:spPr>
      </p:sp>
      <p:sp>
        <p:nvSpPr>
          <p:cNvPr id="8" name="Text 6"/>
          <p:cNvSpPr/>
          <p:nvPr/>
        </p:nvSpPr>
        <p:spPr>
          <a:xfrm>
            <a:off x="15820876" y="3800475"/>
            <a:ext cx="81929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82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وثّق ساعتك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14100274" y="3657600"/>
            <a:ext cx="1349127" cy="523875"/>
          </a:xfrm>
          <a:prstGeom prst="roundRect">
            <a:avLst>
              <a:gd name="adj" fmla="val 21818"/>
            </a:avLst>
          </a:prstGeom>
          <a:ln w="9525">
            <a:solidFill>
              <a:srgbClr val="D8D2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319349" y="3800475"/>
            <a:ext cx="91097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عرض السجلّ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13340060" y="3800475"/>
            <a:ext cx="38873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2B5B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لاحقاً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11733461" y="3657600"/>
            <a:ext cx="1235125" cy="523875"/>
          </a:xfrm>
          <a:prstGeom prst="roundRect">
            <a:avLst>
              <a:gd name="adj" fmla="val 21818"/>
            </a:avLst>
          </a:prstGeom>
          <a:ln w="9525">
            <a:solidFill>
              <a:srgbClr val="C9A86A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952536" y="3800475"/>
            <a:ext cx="79697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B2905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نقل السجلّ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9133433" y="4467225"/>
            <a:ext cx="849839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4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الشارات وختم السجلّ</a:t>
            </a:r>
            <a:endParaRPr lang="en-US" sz="1894" dirty="0"/>
          </a:p>
        </p:txBody>
      </p:sp>
      <p:sp>
        <p:nvSpPr>
          <p:cNvPr id="15" name="Shape 13"/>
          <p:cNvSpPr/>
          <p:nvPr/>
        </p:nvSpPr>
        <p:spPr>
          <a:xfrm>
            <a:off x="16376005" y="5029200"/>
            <a:ext cx="483245" cy="228600"/>
          </a:xfrm>
          <a:prstGeom prst="roundRect">
            <a:avLst>
              <a:gd name="adj" fmla="val 50000"/>
            </a:avLst>
          </a:prstGeom>
          <a:solidFill>
            <a:srgbClr val="E7F5EE"/>
          </a:solidFill>
          <a:ln/>
        </p:spPr>
      </p:sp>
      <p:sp>
        <p:nvSpPr>
          <p:cNvPr id="16" name="Text 14"/>
          <p:cNvSpPr/>
          <p:nvPr/>
        </p:nvSpPr>
        <p:spPr>
          <a:xfrm>
            <a:off x="16471255" y="5057775"/>
            <a:ext cx="3689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E8A5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مكتمل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522327" y="5029200"/>
            <a:ext cx="720328" cy="228600"/>
          </a:xfrm>
          <a:prstGeom prst="roundRect">
            <a:avLst>
              <a:gd name="adj" fmla="val 50000"/>
            </a:avLst>
          </a:prstGeom>
          <a:solidFill>
            <a:srgbClr val="F8F1DF"/>
          </a:solidFill>
          <a:ln/>
        </p:spPr>
      </p:sp>
      <p:sp>
        <p:nvSpPr>
          <p:cNvPr id="18" name="Text 16"/>
          <p:cNvSpPr/>
          <p:nvPr/>
        </p:nvSpPr>
        <p:spPr>
          <a:xfrm>
            <a:off x="15617577" y="5057775"/>
            <a:ext cx="60602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641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بانتظار النقل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4885045" y="5029200"/>
            <a:ext cx="503932" cy="228600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/>
        </p:spPr>
      </p:sp>
      <p:sp>
        <p:nvSpPr>
          <p:cNvPr id="20" name="Text 18"/>
          <p:cNvSpPr/>
          <p:nvPr/>
        </p:nvSpPr>
        <p:spPr>
          <a:xfrm>
            <a:off x="14980295" y="5057775"/>
            <a:ext cx="3896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4065895" y="5029200"/>
            <a:ext cx="685800" cy="228600"/>
          </a:xfrm>
          <a:prstGeom prst="roundRect">
            <a:avLst>
              <a:gd name="adj" fmla="val 50000"/>
            </a:avLst>
          </a:prstGeom>
          <a:solidFill>
            <a:srgbClr val="F4EDDD"/>
          </a:solidFill>
          <a:ln/>
        </p:spPr>
      </p:sp>
      <p:sp>
        <p:nvSpPr>
          <p:cNvPr id="22" name="Text 20"/>
          <p:cNvSpPr/>
          <p:nvPr/>
        </p:nvSpPr>
        <p:spPr>
          <a:xfrm>
            <a:off x="14161145" y="5057775"/>
            <a:ext cx="5715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2905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موثّق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4667756" y="5467350"/>
            <a:ext cx="2191494" cy="381000"/>
          </a:xfrm>
          <a:prstGeom prst="roundRect">
            <a:avLst>
              <a:gd name="adj" fmla="val 50000"/>
            </a:avLst>
          </a:prstGeom>
          <a:solidFill>
            <a:srgbClr val="C9A86A">
              <a:alpha val="7000"/>
            </a:srgbClr>
          </a:solidFill>
          <a:ln w="9525">
            <a:solidFill>
              <a:srgbClr val="C9A86A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506825" y="5562600"/>
            <a:ext cx="190500" cy="190500"/>
          </a:xfrm>
          <a:prstGeom prst="ellipse">
            <a:avLst/>
          </a:prstGeom>
          <a:ln w="9525">
            <a:solidFill>
              <a:srgbClr val="C9A8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549687" y="5605463"/>
            <a:ext cx="104775" cy="104775"/>
          </a:xfrm>
          <a:prstGeom prst="ellipse">
            <a:avLst/>
          </a:prstGeom>
          <a:ln w="9525">
            <a:solidFill>
              <a:srgbClr val="12B5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583346" y="5567363"/>
            <a:ext cx="90442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2905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 رقمي موثّق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14829681" y="5576888"/>
            <a:ext cx="7346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65E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#PRV-0482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1047750" y="2752725"/>
            <a:ext cx="7380833" cy="3438525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28750" y="3095625"/>
            <a:ext cx="728071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4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حقول الإدخال</a:t>
            </a:r>
            <a:endParaRPr lang="en-US" sz="1894" dirty="0"/>
          </a:p>
        </p:txBody>
      </p:sp>
      <p:sp>
        <p:nvSpPr>
          <p:cNvPr id="30" name="Text 28"/>
          <p:cNvSpPr/>
          <p:nvPr/>
        </p:nvSpPr>
        <p:spPr>
          <a:xfrm>
            <a:off x="4047083" y="3657600"/>
            <a:ext cx="44005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الرقم المرجعي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4047083" y="3895725"/>
            <a:ext cx="4000500" cy="4381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89958" y="4010025"/>
            <a:ext cx="383476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AB-2104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4047083" y="4391025"/>
            <a:ext cx="44005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أرقام لاتينية دائماً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047083" y="4714875"/>
            <a:ext cx="44005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سنة الصنع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4047083" y="4953000"/>
            <a:ext cx="4000500" cy="4381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89958" y="5067300"/>
            <a:ext cx="383476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2021</a:t>
            </a:r>
            <a:endParaRPr lang="en-US" sz="1125" dirty="0"/>
          </a:p>
        </p:txBody>
      </p:sp>
      <p:sp>
        <p:nvSpPr>
          <p:cNvPr id="37" name="Shape 35"/>
          <p:cNvSpPr/>
          <p:nvPr/>
        </p:nvSpPr>
        <p:spPr>
          <a:xfrm>
            <a:off x="1047750" y="6515100"/>
            <a:ext cx="16192500" cy="3438525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1525250" y="7391400"/>
            <a:ext cx="58674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4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بطاقة البيانات — الإطار الشعري الذهبي</a:t>
            </a:r>
            <a:endParaRPr lang="en-US" sz="1894" dirty="0"/>
          </a:p>
        </p:txBody>
      </p:sp>
      <p:sp>
        <p:nvSpPr>
          <p:cNvPr id="39" name="Text 37"/>
          <p:cNvSpPr/>
          <p:nvPr/>
        </p:nvSpPr>
        <p:spPr>
          <a:xfrm>
            <a:off x="11525250" y="7877175"/>
            <a:ext cx="549402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كتلة البيانات الوصفية: عنوانٌ عربي، ومعرّفٌ لاتيني، وقيمٌ رقمية بخط IBM Plex Sans. النسق الفاتح هو النسق الرسمي للمنتج.</a:t>
            </a:r>
            <a:endParaRPr lang="en-US" sz="1894" dirty="0"/>
          </a:p>
        </p:txBody>
      </p:sp>
      <p:sp>
        <p:nvSpPr>
          <p:cNvPr id="40" name="Shape 38"/>
          <p:cNvSpPr/>
          <p:nvPr/>
        </p:nvSpPr>
        <p:spPr>
          <a:xfrm>
            <a:off x="6896100" y="7462838"/>
            <a:ext cx="4095750" cy="1543050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C9A86A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50800" dir="16200000">
              <a:srgbClr val="C9A86A">
                <a:alpha val="2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890224" y="7662863"/>
            <a:ext cx="97780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غوّاصة رياضية</a:t>
            </a:r>
            <a:endParaRPr lang="en-US" sz="1275" dirty="0"/>
          </a:p>
        </p:txBody>
      </p:sp>
      <p:sp>
        <p:nvSpPr>
          <p:cNvPr id="42" name="Text 40"/>
          <p:cNvSpPr/>
          <p:nvPr/>
        </p:nvSpPr>
        <p:spPr>
          <a:xfrm>
            <a:off x="7096125" y="7700963"/>
            <a:ext cx="7346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#PRV-0482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10460534" y="8024812"/>
            <a:ext cx="40749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المصدر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7096125" y="8015288"/>
            <a:ext cx="12351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وكيل معتمد — الرياض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0295483" y="8329613"/>
            <a:ext cx="57254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سنة الصنع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7096125" y="8329613"/>
            <a:ext cx="3963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2021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0307092" y="8624888"/>
            <a:ext cx="56093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سعر الشراء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7096125" y="8624888"/>
            <a:ext cx="88731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SAR 145,000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 / 84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FOUNDATIONS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أسس النظام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305925" y="2752725"/>
            <a:ext cx="7934325" cy="2990850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705975" y="3095625"/>
            <a:ext cx="784764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4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المسافات — مقياس 4px، حواف الشاشة 20–24px</a:t>
            </a:r>
            <a:endParaRPr lang="en-US" sz="1894" dirty="0"/>
          </a:p>
        </p:txBody>
      </p:sp>
      <p:sp>
        <p:nvSpPr>
          <p:cNvPr id="7" name="Shape 5"/>
          <p:cNvSpPr/>
          <p:nvPr/>
        </p:nvSpPr>
        <p:spPr>
          <a:xfrm>
            <a:off x="16344900" y="4943475"/>
            <a:ext cx="495300" cy="76200"/>
          </a:xfrm>
          <a:prstGeom prst="roundRect">
            <a:avLst>
              <a:gd name="adj" fmla="val 50000"/>
            </a:avLst>
          </a:prstGeom>
          <a:solidFill>
            <a:srgbClr val="5ED2CE"/>
          </a:solidFill>
          <a:ln/>
        </p:spPr>
      </p:sp>
      <p:sp>
        <p:nvSpPr>
          <p:cNvPr id="8" name="Text 6"/>
          <p:cNvSpPr/>
          <p:nvPr/>
        </p:nvSpPr>
        <p:spPr>
          <a:xfrm>
            <a:off x="16306800" y="5095875"/>
            <a:ext cx="571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5601950" y="4867275"/>
            <a:ext cx="495300" cy="152400"/>
          </a:xfrm>
          <a:prstGeom prst="roundRect">
            <a:avLst>
              <a:gd name="adj" fmla="val 37500"/>
            </a:avLst>
          </a:prstGeom>
          <a:solidFill>
            <a:srgbClr val="5ED2CE"/>
          </a:solidFill>
          <a:ln/>
        </p:spPr>
      </p:sp>
      <p:sp>
        <p:nvSpPr>
          <p:cNvPr id="10" name="Text 8"/>
          <p:cNvSpPr/>
          <p:nvPr/>
        </p:nvSpPr>
        <p:spPr>
          <a:xfrm>
            <a:off x="15563850" y="5095875"/>
            <a:ext cx="571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859000" y="4791075"/>
            <a:ext cx="495300" cy="228600"/>
          </a:xfrm>
          <a:prstGeom prst="roundRect">
            <a:avLst>
              <a:gd name="adj" fmla="val 25000"/>
            </a:avLst>
          </a:prstGeom>
          <a:solidFill>
            <a:srgbClr val="5ED2CE"/>
          </a:solidFill>
          <a:ln/>
        </p:spPr>
      </p:sp>
      <p:sp>
        <p:nvSpPr>
          <p:cNvPr id="12" name="Text 10"/>
          <p:cNvSpPr/>
          <p:nvPr/>
        </p:nvSpPr>
        <p:spPr>
          <a:xfrm>
            <a:off x="14820900" y="5095875"/>
            <a:ext cx="571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4116050" y="4714875"/>
            <a:ext cx="495300" cy="304800"/>
          </a:xfrm>
          <a:prstGeom prst="roundRect">
            <a:avLst>
              <a:gd name="adj" fmla="val 18750"/>
            </a:avLst>
          </a:prstGeom>
          <a:solidFill>
            <a:srgbClr val="5ED2CE"/>
          </a:solidFill>
          <a:ln/>
        </p:spPr>
      </p:sp>
      <p:sp>
        <p:nvSpPr>
          <p:cNvPr id="14" name="Text 12"/>
          <p:cNvSpPr/>
          <p:nvPr/>
        </p:nvSpPr>
        <p:spPr>
          <a:xfrm>
            <a:off x="14077950" y="5095875"/>
            <a:ext cx="571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373100" y="4562475"/>
            <a:ext cx="495300" cy="457200"/>
          </a:xfrm>
          <a:prstGeom prst="roundRect">
            <a:avLst>
              <a:gd name="adj" fmla="val 12500"/>
            </a:avLst>
          </a:prstGeom>
          <a:solidFill>
            <a:srgbClr val="5ED2CE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0" y="5095875"/>
            <a:ext cx="571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630150" y="4410075"/>
            <a:ext cx="495300" cy="609600"/>
          </a:xfrm>
          <a:prstGeom prst="roundRect">
            <a:avLst>
              <a:gd name="adj" fmla="val 11538"/>
            </a:avLst>
          </a:prstGeom>
          <a:solidFill>
            <a:srgbClr val="5ED2CE"/>
          </a:solidFill>
          <a:ln/>
        </p:spPr>
      </p:sp>
      <p:sp>
        <p:nvSpPr>
          <p:cNvPr id="18" name="Text 16"/>
          <p:cNvSpPr/>
          <p:nvPr/>
        </p:nvSpPr>
        <p:spPr>
          <a:xfrm>
            <a:off x="12592050" y="5095875"/>
            <a:ext cx="571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887200" y="4105275"/>
            <a:ext cx="495300" cy="914400"/>
          </a:xfrm>
          <a:prstGeom prst="roundRect">
            <a:avLst>
              <a:gd name="adj" fmla="val 11538"/>
            </a:avLst>
          </a:prstGeom>
          <a:solidFill>
            <a:srgbClr val="5ED2CE"/>
          </a:solidFill>
          <a:ln/>
        </p:spPr>
      </p:sp>
      <p:sp>
        <p:nvSpPr>
          <p:cNvPr id="20" name="Text 18"/>
          <p:cNvSpPr/>
          <p:nvPr/>
        </p:nvSpPr>
        <p:spPr>
          <a:xfrm>
            <a:off x="11849100" y="5095875"/>
            <a:ext cx="571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48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144250" y="3800475"/>
            <a:ext cx="495300" cy="1219200"/>
          </a:xfrm>
          <a:prstGeom prst="roundRect">
            <a:avLst>
              <a:gd name="adj" fmla="val 11538"/>
            </a:avLst>
          </a:prstGeom>
          <a:solidFill>
            <a:srgbClr val="5ED2CE"/>
          </a:solidFill>
          <a:ln/>
        </p:spPr>
      </p:sp>
      <p:sp>
        <p:nvSpPr>
          <p:cNvPr id="22" name="Text 20"/>
          <p:cNvSpPr/>
          <p:nvPr/>
        </p:nvSpPr>
        <p:spPr>
          <a:xfrm>
            <a:off x="11106150" y="5095875"/>
            <a:ext cx="571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47750" y="2752725"/>
            <a:ext cx="7934325" cy="2990850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447800" y="3095625"/>
            <a:ext cx="784764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4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الزوايا — 8 / 12 / 16 / 24 / كبسولة</a:t>
            </a:r>
            <a:endParaRPr lang="en-US" sz="1894" dirty="0"/>
          </a:p>
        </p:txBody>
      </p:sp>
      <p:sp>
        <p:nvSpPr>
          <p:cNvPr id="25" name="Shape 23"/>
          <p:cNvSpPr/>
          <p:nvPr/>
        </p:nvSpPr>
        <p:spPr>
          <a:xfrm>
            <a:off x="7591425" y="4029075"/>
            <a:ext cx="990600" cy="990600"/>
          </a:xfrm>
          <a:prstGeom prst="roundRect">
            <a:avLst>
              <a:gd name="adj" fmla="val 7692"/>
            </a:avLst>
          </a:prstGeom>
          <a:solidFill>
            <a:srgbClr val="F7F8FA"/>
          </a:solidFill>
          <a:ln w="14288">
            <a:solidFill>
              <a:srgbClr val="2A3D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53325" y="5095875"/>
            <a:ext cx="1066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315075" y="4029075"/>
            <a:ext cx="990600" cy="990600"/>
          </a:xfrm>
          <a:prstGeom prst="roundRect">
            <a:avLst>
              <a:gd name="adj" fmla="val 11538"/>
            </a:avLst>
          </a:prstGeom>
          <a:solidFill>
            <a:srgbClr val="F7F8FA"/>
          </a:solidFill>
          <a:ln w="14288">
            <a:solidFill>
              <a:srgbClr val="2A3D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6975" y="5095875"/>
            <a:ext cx="1066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038725" y="4029075"/>
            <a:ext cx="990600" cy="990600"/>
          </a:xfrm>
          <a:prstGeom prst="roundRect">
            <a:avLst>
              <a:gd name="adj" fmla="val 15385"/>
            </a:avLst>
          </a:prstGeom>
          <a:solidFill>
            <a:srgbClr val="F7F8FA"/>
          </a:solidFill>
          <a:ln w="14288">
            <a:solidFill>
              <a:srgbClr val="2A3D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00625" y="5095875"/>
            <a:ext cx="1066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762375" y="4029075"/>
            <a:ext cx="990600" cy="990600"/>
          </a:xfrm>
          <a:prstGeom prst="roundRect">
            <a:avLst>
              <a:gd name="adj" fmla="val 23077"/>
            </a:avLst>
          </a:prstGeom>
          <a:solidFill>
            <a:srgbClr val="F7F8FA"/>
          </a:solidFill>
          <a:ln w="14288">
            <a:solidFill>
              <a:srgbClr val="2A3D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24275" y="5095875"/>
            <a:ext cx="1066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2047875" y="4410075"/>
            <a:ext cx="1428750" cy="60960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14288">
            <a:solidFill>
              <a:srgbClr val="2A3D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6438" y="5095875"/>
            <a:ext cx="15716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Pill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305925" y="6067425"/>
            <a:ext cx="7934325" cy="2990850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705975" y="6410325"/>
            <a:ext cx="784764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4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الظلال — ارتفاعٌ مقتصد</a:t>
            </a:r>
            <a:endParaRPr lang="en-US" sz="1894" dirty="0"/>
          </a:p>
        </p:txBody>
      </p:sp>
      <p:sp>
        <p:nvSpPr>
          <p:cNvPr id="37" name="Shape 35"/>
          <p:cNvSpPr/>
          <p:nvPr/>
        </p:nvSpPr>
        <p:spPr>
          <a:xfrm>
            <a:off x="14690675" y="7167563"/>
            <a:ext cx="2149525" cy="13335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4652575" y="7167563"/>
            <a:ext cx="2225725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بطاقة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2198251" y="7167563"/>
            <a:ext cx="2149525" cy="13335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76200" dir="5400000">
              <a:srgbClr val="0A111F">
                <a:alpha val="14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2160151" y="7167563"/>
            <a:ext cx="2225725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مرتفع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705826" y="7167563"/>
            <a:ext cx="2149525" cy="13335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C9A86A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667726" y="7167563"/>
            <a:ext cx="2225725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توثيق ذهبي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047750" y="6067425"/>
            <a:ext cx="7934325" cy="2990850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447800" y="6410325"/>
            <a:ext cx="784764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4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الحركة والحالات</a:t>
            </a:r>
            <a:endParaRPr lang="en-US" sz="1894" dirty="0"/>
          </a:p>
        </p:txBody>
      </p:sp>
      <p:sp>
        <p:nvSpPr>
          <p:cNvPr id="45" name="Text 43"/>
          <p:cNvSpPr/>
          <p:nvPr/>
        </p:nvSpPr>
        <p:spPr>
          <a:xfrm>
            <a:off x="1252509" y="6953250"/>
            <a:ext cx="7405716" cy="1800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خفوتٌ وانزياح صغير فقط — بلا قفزاتٍ ولا ارتدادات.</a:t>
            </a:r>
            <a:endParaRPr lang="en-US" sz="2197" dirty="0"/>
          </a:p>
          <a:p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المدد 150–400ms بمنحنى cubic-bezier(.4,0,.2,1).</a:t>
            </a:r>
            <a:endParaRPr lang="en-US" sz="2197" dirty="0"/>
          </a:p>
          <a:p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التحويم: تعتيم درجة؛ الضغط: تعتيم + scale(.98).</a:t>
            </a:r>
            <a:endParaRPr lang="en-US" sz="2197" dirty="0"/>
          </a:p>
        </p:txBody>
      </p:sp>
      <p:sp>
        <p:nvSpPr>
          <p:cNvPr id="46" name="Text 44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 / 84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 SCREENS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شاشات التطبيق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653617" y="2581275"/>
            <a:ext cx="1296888" cy="2819400"/>
          </a:xfrm>
          <a:prstGeom prst="roundRect">
            <a:avLst>
              <a:gd name="adj" fmla="val 16158"/>
            </a:avLst>
          </a:prstGeom>
          <a:solidFill>
            <a:srgbClr val="EEEBE4"/>
          </a:solidFill>
          <a:ln/>
          <a:effectLst>
            <a:outerShdw sx="100000" sy="100000" kx="0" ky="0" algn="bl" rotWithShape="0" blurRad="285750" dist="76200" dir="5400000">
              <a:srgbClr val="0A111F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36559" r="36559" t="0" b="0"/>
          <a:stretch/>
        </p:blipFill>
        <p:spPr>
          <a:xfrm>
            <a:off x="14653617" y="2581275"/>
            <a:ext cx="1296888" cy="2819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28465" y="5534025"/>
            <a:ext cx="14817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تسجيل الدخول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0548193" y="2581275"/>
            <a:ext cx="1296888" cy="2819400"/>
          </a:xfrm>
          <a:prstGeom prst="roundRect">
            <a:avLst>
              <a:gd name="adj" fmla="val 16158"/>
            </a:avLst>
          </a:prstGeom>
          <a:solidFill>
            <a:srgbClr val="EEEBE4"/>
          </a:solidFill>
          <a:ln/>
          <a:effectLst>
            <a:outerShdw sx="100000" sy="100000" kx="0" ky="0" algn="bl" rotWithShape="0" blurRad="285750" dist="76200" dir="5400000">
              <a:srgbClr val="0A111F">
                <a:alpha val="14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36559" r="36559" t="0" b="0"/>
          <a:stretch/>
        </p:blipFill>
        <p:spPr>
          <a:xfrm>
            <a:off x="10548193" y="2581275"/>
            <a:ext cx="1296888" cy="2819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365284" y="5534025"/>
            <a:ext cx="182897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الرئيسية — مقتنياتي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6442918" y="2581275"/>
            <a:ext cx="1296888" cy="2819400"/>
          </a:xfrm>
          <a:prstGeom prst="roundRect">
            <a:avLst>
              <a:gd name="adj" fmla="val 16158"/>
            </a:avLst>
          </a:prstGeom>
          <a:solidFill>
            <a:srgbClr val="EEEBE4"/>
          </a:solidFill>
          <a:ln/>
          <a:effectLst>
            <a:outerShdw sx="100000" sy="100000" kx="0" ky="0" algn="bl" rotWithShape="0" blurRad="285750" dist="76200" dir="5400000">
              <a:srgbClr val="0A111F">
                <a:alpha val="14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36559" r="36559" t="0" b="0"/>
          <a:stretch/>
        </p:blipFill>
        <p:spPr>
          <a:xfrm>
            <a:off x="6442918" y="2581275"/>
            <a:ext cx="1296888" cy="2819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20743" y="5534025"/>
            <a:ext cx="147536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تفاصيل السجلّ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2337643" y="2581275"/>
            <a:ext cx="1296888" cy="2819400"/>
          </a:xfrm>
          <a:prstGeom prst="roundRect">
            <a:avLst>
              <a:gd name="adj" fmla="val 16158"/>
            </a:avLst>
          </a:prstGeom>
          <a:solidFill>
            <a:srgbClr val="EEEBE4"/>
          </a:solidFill>
          <a:ln/>
          <a:effectLst>
            <a:outerShdw sx="100000" sy="100000" kx="0" ky="0" algn="bl" rotWithShape="0" blurRad="285750" dist="76200" dir="5400000">
              <a:srgbClr val="0A111F">
                <a:alpha val="14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36559" r="36559" t="0" b="0"/>
          <a:stretch/>
        </p:blipFill>
        <p:spPr>
          <a:xfrm>
            <a:off x="2337643" y="2581275"/>
            <a:ext cx="1296888" cy="28194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388245" y="5534025"/>
            <a:ext cx="131541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السجلّ الزمني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14653468" y="6200775"/>
            <a:ext cx="1296888" cy="2819400"/>
          </a:xfrm>
          <a:prstGeom prst="roundRect">
            <a:avLst>
              <a:gd name="adj" fmla="val 16158"/>
            </a:avLst>
          </a:prstGeom>
          <a:solidFill>
            <a:srgbClr val="EEEBE4"/>
          </a:solidFill>
          <a:ln/>
          <a:effectLst>
            <a:outerShdw sx="100000" sy="100000" kx="0" ky="0" algn="bl" rotWithShape="0" blurRad="285750" dist="76200" dir="5400000">
              <a:srgbClr val="0A111F">
                <a:alpha val="14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36559" r="36559" t="0" b="0"/>
          <a:stretch/>
        </p:blipFill>
        <p:spPr>
          <a:xfrm>
            <a:off x="14653468" y="6200775"/>
            <a:ext cx="1296888" cy="28194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718060" y="9153525"/>
            <a:ext cx="12439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تسجيل حدث</a:t>
            </a:r>
            <a:endParaRPr lang="en-US" sz="1800" dirty="0"/>
          </a:p>
        </p:txBody>
      </p:sp>
      <p:sp>
        <p:nvSpPr>
          <p:cNvPr id="20" name="Shape 13"/>
          <p:cNvSpPr/>
          <p:nvPr/>
        </p:nvSpPr>
        <p:spPr>
          <a:xfrm>
            <a:off x="10548193" y="6200775"/>
            <a:ext cx="1296888" cy="2819400"/>
          </a:xfrm>
          <a:prstGeom prst="roundRect">
            <a:avLst>
              <a:gd name="adj" fmla="val 16158"/>
            </a:avLst>
          </a:prstGeom>
          <a:solidFill>
            <a:srgbClr val="EEEBE4"/>
          </a:solidFill>
          <a:ln/>
          <a:effectLst>
            <a:outerShdw sx="100000" sy="100000" kx="0" ky="0" algn="bl" rotWithShape="0" blurRad="285750" dist="76200" dir="5400000">
              <a:srgbClr val="0A111F">
                <a:alpha val="14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36559" r="36559" t="0" b="0"/>
          <a:stretch/>
        </p:blipFill>
        <p:spPr>
          <a:xfrm>
            <a:off x="10548193" y="6200775"/>
            <a:ext cx="1296888" cy="28194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373171" y="9153525"/>
            <a:ext cx="18116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نقل السجلّ الرقمي</a:t>
            </a:r>
            <a:endParaRPr lang="en-US" sz="1800" dirty="0"/>
          </a:p>
        </p:txBody>
      </p:sp>
      <p:sp>
        <p:nvSpPr>
          <p:cNvPr id="23" name="Shape 15"/>
          <p:cNvSpPr/>
          <p:nvPr/>
        </p:nvSpPr>
        <p:spPr>
          <a:xfrm>
            <a:off x="6442918" y="6200775"/>
            <a:ext cx="1296888" cy="2819400"/>
          </a:xfrm>
          <a:prstGeom prst="roundRect">
            <a:avLst>
              <a:gd name="adj" fmla="val 16158"/>
            </a:avLst>
          </a:prstGeom>
          <a:solidFill>
            <a:srgbClr val="EEEBE4"/>
          </a:solidFill>
          <a:ln/>
          <a:effectLst>
            <a:outerShdw sx="100000" sy="100000" kx="0" ky="0" algn="bl" rotWithShape="0" blurRad="285750" dist="76200" dir="5400000">
              <a:srgbClr val="0A111F">
                <a:alpha val="14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36559" r="36559" t="0" b="0"/>
          <a:stretch/>
        </p:blipFill>
        <p:spPr>
          <a:xfrm>
            <a:off x="6442918" y="6200775"/>
            <a:ext cx="1296888" cy="28194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562874" y="9153525"/>
            <a:ext cx="113332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إضافة ساعة</a:t>
            </a:r>
            <a:endParaRPr lang="en-US" sz="1800" dirty="0"/>
          </a:p>
        </p:txBody>
      </p:sp>
      <p:sp>
        <p:nvSpPr>
          <p:cNvPr id="26" name="Shape 17"/>
          <p:cNvSpPr/>
          <p:nvPr/>
        </p:nvSpPr>
        <p:spPr>
          <a:xfrm>
            <a:off x="2337643" y="6200775"/>
            <a:ext cx="1296888" cy="2819400"/>
          </a:xfrm>
          <a:prstGeom prst="roundRect">
            <a:avLst>
              <a:gd name="adj" fmla="val 16158"/>
            </a:avLst>
          </a:prstGeom>
          <a:solidFill>
            <a:srgbClr val="EEEBE4"/>
          </a:solidFill>
          <a:ln/>
          <a:effectLst>
            <a:outerShdw sx="100000" sy="100000" kx="0" ky="0" algn="bl" rotWithShape="0" blurRad="285750" dist="76200" dir="5400000">
              <a:srgbClr val="0A111F">
                <a:alpha val="14000"/>
              </a:srgbClr>
            </a:outerShdw>
          </a:effectLst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rcRect l="36559" r="36559" t="0" b="0"/>
          <a:stretch/>
        </p:blipFill>
        <p:spPr>
          <a:xfrm>
            <a:off x="2337643" y="6200775"/>
            <a:ext cx="1296888" cy="281940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2569964" y="9153525"/>
            <a:ext cx="90859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الإعدادات</a:t>
            </a:r>
            <a:endParaRPr lang="en-US" sz="1800" dirty="0"/>
          </a:p>
        </p:txBody>
      </p:sp>
      <p:sp>
        <p:nvSpPr>
          <p:cNvPr id="29" name="Text 19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 / 84</a:t>
            </a:r>
            <a:endParaRPr lang="en-US" sz="1800" dirty="0"/>
          </a:p>
        </p:txBody>
      </p:sp>
      <p:sp>
        <p:nvSpPr>
          <p:cNvPr id="30" name="Text 20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ONBOARDING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تجربة البداية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235028" y="4267200"/>
            <a:ext cx="1264327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نبدأ بالثقة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أول جملةٍ يقرؤها المستخدم: «سجلّ رقمي موثّق لكل ساعة».</a:t>
            </a:r>
            <a:endParaRPr lang="en-US" sz="2197" dirty="0"/>
          </a:p>
        </p:txBody>
      </p:sp>
      <p:sp>
        <p:nvSpPr>
          <p:cNvPr id="6" name="Text 4"/>
          <p:cNvSpPr/>
          <p:nvPr/>
        </p:nvSpPr>
        <p:spPr>
          <a:xfrm>
            <a:off x="4235028" y="5057775"/>
            <a:ext cx="1264327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دخولٌ سلس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بريد وكلمة مرور، وFace ID للعودة السريعة.</a:t>
            </a:r>
            <a:endParaRPr lang="en-US" sz="2197" dirty="0"/>
          </a:p>
        </p:txBody>
      </p:sp>
      <p:sp>
        <p:nvSpPr>
          <p:cNvPr id="7" name="Text 5"/>
          <p:cNvSpPr/>
          <p:nvPr/>
        </p:nvSpPr>
        <p:spPr>
          <a:xfrm>
            <a:off x="4235028" y="5848350"/>
            <a:ext cx="1264327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عربيٌّ منذ اللحظة الأولى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واجهة RTL كاملة، والإنجليزية خيارٌ لا افتراض.</a:t>
            </a:r>
            <a:endParaRPr lang="en-US" sz="2197" dirty="0"/>
          </a:p>
        </p:txBody>
      </p:sp>
      <p:sp>
        <p:nvSpPr>
          <p:cNvPr id="8" name="Shape 6"/>
          <p:cNvSpPr/>
          <p:nvPr/>
        </p:nvSpPr>
        <p:spPr>
          <a:xfrm>
            <a:off x="13520886" y="6715125"/>
            <a:ext cx="3719364" cy="8001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C9A86A">
                <a:alpha val="32000"/>
              </a:srgbClr>
            </a:solidFill>
            <a:prstDash val="solid"/>
          </a:ln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873311" y="6915150"/>
            <a:ext cx="312609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«سجلّ رقمي موثّق لكل ساعة»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47750" y="2843213"/>
            <a:ext cx="2804071" cy="6096000"/>
          </a:xfrm>
          <a:prstGeom prst="roundRect">
            <a:avLst>
              <a:gd name="adj" fmla="val 7473"/>
            </a:avLst>
          </a:prstGeom>
          <a:solidFill>
            <a:srgbClr val="EEEBE4"/>
          </a:solidFill>
          <a:ln/>
          <a:effectLst>
            <a:outerShdw sx="100000" sy="100000" kx="0" ky="0" algn="bl" rotWithShape="0" blurRad="285750" dist="76200" dir="5400000">
              <a:srgbClr val="0A111F">
                <a:alpha val="14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36559" r="36559" t="0" b="0"/>
          <a:stretch/>
        </p:blipFill>
        <p:spPr>
          <a:xfrm>
            <a:off x="1047750" y="2843213"/>
            <a:ext cx="2804071" cy="6096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 / 84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RECORD &amp; PROVENANCE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تجربة السجلّ والتوثيق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832884" y="4857750"/>
            <a:ext cx="10045416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بطاقة هوية الساعة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المصدر، السعر، الرقم المرجعي، الرقم التسلسلي، وسنة الصنع.</a:t>
            </a:r>
            <a:endParaRPr lang="en-US" sz="2197" dirty="0"/>
          </a:p>
        </p:txBody>
      </p:sp>
      <p:sp>
        <p:nvSpPr>
          <p:cNvPr id="6" name="Text 4"/>
          <p:cNvSpPr/>
          <p:nvPr/>
        </p:nvSpPr>
        <p:spPr>
          <a:xfrm>
            <a:off x="6832884" y="5648325"/>
            <a:ext cx="10045416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السجلّ الزمني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كل حدثٍ موثّق بتاريخه وكلفته: صيانة، ملاحظات، تأمين.</a:t>
            </a:r>
            <a:endParaRPr lang="en-US" sz="2197" dirty="0"/>
          </a:p>
        </p:txBody>
      </p:sp>
      <p:sp>
        <p:nvSpPr>
          <p:cNvPr id="7" name="Text 5"/>
          <p:cNvSpPr/>
          <p:nvPr/>
        </p:nvSpPr>
        <p:spPr>
          <a:xfrm>
            <a:off x="6832884" y="6438900"/>
            <a:ext cx="10045416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الختم الذهبي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يميّز السجلّ الموثّق بوصفه وثيقةً رقمية، دون أي ادعاءٍ بشهادة أصالة.</a:t>
            </a:r>
            <a:endParaRPr lang="en-US" sz="2197" dirty="0"/>
          </a:p>
        </p:txBody>
      </p:sp>
      <p:sp>
        <p:nvSpPr>
          <p:cNvPr id="8" name="Shape 6"/>
          <p:cNvSpPr/>
          <p:nvPr/>
        </p:nvSpPr>
        <p:spPr>
          <a:xfrm>
            <a:off x="3920430" y="3224213"/>
            <a:ext cx="2453580" cy="5334000"/>
          </a:xfrm>
          <a:prstGeom prst="roundRect">
            <a:avLst>
              <a:gd name="adj" fmla="val 8541"/>
            </a:avLst>
          </a:prstGeom>
          <a:solidFill>
            <a:srgbClr val="EEEBE4"/>
          </a:solidFill>
          <a:ln/>
          <a:effectLst>
            <a:outerShdw sx="100000" sy="100000" kx="0" ky="0" algn="bl" rotWithShape="0" blurRad="285750" dist="76200" dir="5400000">
              <a:srgbClr val="0A111F">
                <a:alpha val="14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36559" r="36559" t="0" b="0"/>
          <a:stretch/>
        </p:blipFill>
        <p:spPr>
          <a:xfrm>
            <a:off x="3920430" y="3224213"/>
            <a:ext cx="2453580" cy="5334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47750" y="3224213"/>
            <a:ext cx="2453580" cy="5334000"/>
          </a:xfrm>
          <a:prstGeom prst="roundRect">
            <a:avLst>
              <a:gd name="adj" fmla="val 8541"/>
            </a:avLst>
          </a:prstGeom>
          <a:solidFill>
            <a:srgbClr val="EEEBE4"/>
          </a:solidFill>
          <a:ln/>
          <a:effectLst>
            <a:outerShdw sx="100000" sy="100000" kx="0" ky="0" algn="bl" rotWithShape="0" blurRad="285750" dist="76200" dir="5400000">
              <a:srgbClr val="0A111F">
                <a:alpha val="14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36559" r="36559" t="0" b="0"/>
          <a:stretch/>
        </p:blipFill>
        <p:spPr>
          <a:xfrm>
            <a:off x="1047750" y="3224213"/>
            <a:ext cx="2453580" cy="5334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 / 84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RECORD TRANSFER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نقل السجلّ الرقمي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6668750" y="3609975"/>
            <a:ext cx="571500" cy="571500"/>
          </a:xfrm>
          <a:prstGeom prst="ellipse">
            <a:avLst/>
          </a:prstGeom>
          <a:ln w="14288">
            <a:solidFill>
              <a:srgbClr val="C9A86A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644938" y="3624263"/>
            <a:ext cx="61912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755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997080" y="3571875"/>
            <a:ext cx="440497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2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أدخل رقم المستلم</a:t>
            </a:r>
            <a:endParaRPr lang="en-US" sz="2424" dirty="0"/>
          </a:p>
        </p:txBody>
      </p:sp>
      <p:sp>
        <p:nvSpPr>
          <p:cNvPr id="8" name="Text 6"/>
          <p:cNvSpPr/>
          <p:nvPr/>
        </p:nvSpPr>
        <p:spPr>
          <a:xfrm>
            <a:off x="12277396" y="4086225"/>
            <a:ext cx="412465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يصل طلب النقل إلى حسابه في بروفاتو مباشرة.</a:t>
            </a:r>
            <a:endParaRPr lang="en-US" sz="1894" dirty="0"/>
          </a:p>
        </p:txBody>
      </p:sp>
      <p:sp>
        <p:nvSpPr>
          <p:cNvPr id="9" name="Shape 7"/>
          <p:cNvSpPr/>
          <p:nvPr/>
        </p:nvSpPr>
        <p:spPr>
          <a:xfrm>
            <a:off x="16668750" y="4867275"/>
            <a:ext cx="571500" cy="571500"/>
          </a:xfrm>
          <a:prstGeom prst="ellipse">
            <a:avLst/>
          </a:prstGeom>
          <a:ln w="14288">
            <a:solidFill>
              <a:srgbClr val="C9A86A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644938" y="4881563"/>
            <a:ext cx="61912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755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702400" y="4829175"/>
            <a:ext cx="46996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2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راجع بيانات السجلّ</a:t>
            </a:r>
            <a:endParaRPr lang="en-US" sz="2424" dirty="0"/>
          </a:p>
        </p:txBody>
      </p:sp>
      <p:sp>
        <p:nvSpPr>
          <p:cNvPr id="12" name="Text 10"/>
          <p:cNvSpPr/>
          <p:nvPr/>
        </p:nvSpPr>
        <p:spPr>
          <a:xfrm>
            <a:off x="12001469" y="5343525"/>
            <a:ext cx="440058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الهوية الكاملة والتاريخ الموثّق أمامك قبل التأكيد.</a:t>
            </a:r>
            <a:endParaRPr lang="en-US" sz="1894" dirty="0"/>
          </a:p>
        </p:txBody>
      </p:sp>
      <p:sp>
        <p:nvSpPr>
          <p:cNvPr id="13" name="Shape 11"/>
          <p:cNvSpPr/>
          <p:nvPr/>
        </p:nvSpPr>
        <p:spPr>
          <a:xfrm>
            <a:off x="16668750" y="6124575"/>
            <a:ext cx="571500" cy="571500"/>
          </a:xfrm>
          <a:prstGeom prst="ellipse">
            <a:avLst/>
          </a:prstGeom>
          <a:ln w="14288">
            <a:solidFill>
              <a:srgbClr val="C9A86A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4938" y="6138863"/>
            <a:ext cx="61912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755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558605" y="6086475"/>
            <a:ext cx="684344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2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أكّد النقل</a:t>
            </a:r>
            <a:endParaRPr lang="en-US" sz="2424" dirty="0"/>
          </a:p>
        </p:txBody>
      </p:sp>
      <p:sp>
        <p:nvSpPr>
          <p:cNvPr id="16" name="Text 14"/>
          <p:cNvSpPr/>
          <p:nvPr/>
        </p:nvSpPr>
        <p:spPr>
          <a:xfrm>
            <a:off x="9994097" y="6600825"/>
            <a:ext cx="640795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ينتقل السجلّ بكامل تاريخه إلى المالك الجديد، ويحتفظ كلاكما بأثرٍ موثّق.</a:t>
            </a:r>
            <a:endParaRPr lang="en-US" sz="1894" dirty="0"/>
          </a:p>
        </p:txBody>
      </p:sp>
      <p:sp>
        <p:nvSpPr>
          <p:cNvPr id="17" name="Shape 15"/>
          <p:cNvSpPr/>
          <p:nvPr/>
        </p:nvSpPr>
        <p:spPr>
          <a:xfrm>
            <a:off x="1047750" y="2619375"/>
            <a:ext cx="2453580" cy="5334000"/>
          </a:xfrm>
          <a:prstGeom prst="roundRect">
            <a:avLst>
              <a:gd name="adj" fmla="val 8541"/>
            </a:avLst>
          </a:prstGeom>
          <a:solidFill>
            <a:srgbClr val="EEEBE4"/>
          </a:solidFill>
          <a:ln/>
          <a:effectLst>
            <a:outerShdw sx="100000" sy="100000" kx="0" ky="0" algn="bl" rotWithShape="0" blurRad="285750" dist="76200" dir="5400000">
              <a:srgbClr val="0A111F">
                <a:alpha val="14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36559" r="36559" t="0" b="0"/>
          <a:stretch/>
        </p:blipFill>
        <p:spPr>
          <a:xfrm>
            <a:off x="1047750" y="2619375"/>
            <a:ext cx="2453580" cy="53340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1047750" y="8334375"/>
            <a:ext cx="16192500" cy="942975"/>
          </a:xfrm>
          <a:prstGeom prst="roundRect">
            <a:avLst>
              <a:gd name="adj" fmla="val 14141"/>
            </a:avLst>
          </a:prstGeom>
          <a:solidFill>
            <a:srgbClr val="EEEBE4"/>
          </a:solidFill>
          <a:ln w="9525">
            <a:solidFill>
              <a:srgbClr val="C9A86A">
                <a:alpha val="3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00175" y="8591550"/>
            <a:ext cx="159734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838"/>
              </a:lnSpc>
              <a:buNone/>
            </a:pPr>
            <a:r>
              <a:rPr lang="en-US" sz="189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«نقل السجلّ الرقمي» </a:t>
            </a:r>
            <a:pPr algn="l" indent="0" marL="0">
              <a:lnSpc>
                <a:spcPct val="122838"/>
              </a:lnSpc>
              <a:buNone/>
            </a:pPr>
            <a:r>
              <a:rPr lang="en-US" sz="1894" dirty="0">
                <a:solidFill>
                  <a:srgbClr val="565E6C"/>
                </a:solidFill>
                <a:highlight>
                  <a:srgbClr val="EEEBE4"/>
                </a:highlight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عمليةٌ توثيقية لتبادل السجلّ بين حسابين — ولا تُعدّ نقلاً قانونياً لملكية الساعة، ولا شهادةً بأصالتها.</a:t>
            </a:r>
            <a:endParaRPr lang="en-US" sz="1894" dirty="0"/>
          </a:p>
        </p:txBody>
      </p:sp>
      <p:sp>
        <p:nvSpPr>
          <p:cNvPr id="21" name="Text 18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 / 84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BRAND IN PRODUCT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العلامة داخل المنتج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350055" y="2752725"/>
            <a:ext cx="4890195" cy="5314950"/>
          </a:xfrm>
          <a:prstGeom prst="roundRect">
            <a:avLst>
              <a:gd name="adj" fmla="val 31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341096" y="3133725"/>
            <a:ext cx="449910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24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750105" y="3609975"/>
            <a:ext cx="449910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2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الرموز</a:t>
            </a:r>
            <a:endParaRPr lang="en-US" sz="2424" dirty="0"/>
          </a:p>
        </p:txBody>
      </p:sp>
      <p:sp>
        <p:nvSpPr>
          <p:cNvPr id="8" name="Shape 6"/>
          <p:cNvSpPr/>
          <p:nvPr/>
        </p:nvSpPr>
        <p:spPr>
          <a:xfrm>
            <a:off x="16402050" y="4324350"/>
            <a:ext cx="438150" cy="304800"/>
          </a:xfrm>
          <a:prstGeom prst="roundRect">
            <a:avLst>
              <a:gd name="adj" fmla="val 25000"/>
            </a:avLst>
          </a:prstGeom>
          <a:solidFill>
            <a:srgbClr val="F5F3E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713000" y="4324350"/>
            <a:ext cx="16903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--surface-page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6402050" y="4972050"/>
            <a:ext cx="438150" cy="304800"/>
          </a:xfrm>
          <a:prstGeom prst="roundRect">
            <a:avLst>
              <a:gd name="adj" fmla="val 25000"/>
            </a:avLst>
          </a:prstGeom>
          <a:solidFill>
            <a:srgbClr val="0A111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786818" y="4972050"/>
            <a:ext cx="16091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--text-primary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6402050" y="5619750"/>
            <a:ext cx="438150" cy="304800"/>
          </a:xfrm>
          <a:prstGeom prst="roundRect">
            <a:avLst>
              <a:gd name="adj" fmla="val 25000"/>
            </a:avLst>
          </a:prstGeom>
          <a:solidFill>
            <a:srgbClr val="12B5B0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382280" y="5619750"/>
            <a:ext cx="9435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--accent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6402050" y="6267450"/>
            <a:ext cx="438150" cy="304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9A86A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63899" y="6267450"/>
            <a:ext cx="16343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--hairline-gold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750105" y="6829425"/>
            <a:ext cx="421279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838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كل لونٍ ومسافةٍ وخطٍّ في التطبيق يُستمدّ من الرموز نفسها — لا قيم متفرّقة.</a:t>
            </a:r>
            <a:endParaRPr lang="en-US" sz="1894" dirty="0"/>
          </a:p>
        </p:txBody>
      </p:sp>
      <p:sp>
        <p:nvSpPr>
          <p:cNvPr id="17" name="Text 15"/>
          <p:cNvSpPr/>
          <p:nvPr/>
        </p:nvSpPr>
        <p:spPr>
          <a:xfrm>
            <a:off x="11836747" y="5167313"/>
            <a:ext cx="34185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←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6698903" y="2752725"/>
            <a:ext cx="4890195" cy="5314950"/>
          </a:xfrm>
          <a:prstGeom prst="roundRect">
            <a:avLst>
              <a:gd name="adj" fmla="val 31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89943" y="3133725"/>
            <a:ext cx="449910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24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COMPONENTS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98953" y="3609975"/>
            <a:ext cx="449910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2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المكوّنات</a:t>
            </a:r>
            <a:endParaRPr lang="en-US" sz="2424" dirty="0"/>
          </a:p>
        </p:txBody>
      </p:sp>
      <p:sp>
        <p:nvSpPr>
          <p:cNvPr id="21" name="Text 19"/>
          <p:cNvSpPr/>
          <p:nvPr/>
        </p:nvSpPr>
        <p:spPr>
          <a:xfrm>
            <a:off x="7098953" y="4238625"/>
            <a:ext cx="4212797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838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زرٌّ واحد، بطاقةٌ واحدة، ختمٌ واحد — تُبنى مرةً وتُستخدم في كل شاشة، فتبدو الواجهة يداً واحدة.</a:t>
            </a:r>
            <a:endParaRPr lang="en-US" sz="1894" dirty="0"/>
          </a:p>
        </p:txBody>
      </p:sp>
      <p:sp>
        <p:nvSpPr>
          <p:cNvPr id="22" name="Text 20"/>
          <p:cNvSpPr/>
          <p:nvPr/>
        </p:nvSpPr>
        <p:spPr>
          <a:xfrm>
            <a:off x="7098953" y="5695950"/>
            <a:ext cx="421279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838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الذهبي لا يظهر إلا في مقام التوثيق: الختم، الإطار الشعري، الأرقام المميّزة.</a:t>
            </a:r>
            <a:endParaRPr lang="en-US" sz="1894" dirty="0"/>
          </a:p>
        </p:txBody>
      </p:sp>
      <p:sp>
        <p:nvSpPr>
          <p:cNvPr id="23" name="Text 21"/>
          <p:cNvSpPr/>
          <p:nvPr/>
        </p:nvSpPr>
        <p:spPr>
          <a:xfrm>
            <a:off x="6185595" y="5167313"/>
            <a:ext cx="34185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←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1047750" y="2752725"/>
            <a:ext cx="4890195" cy="5314950"/>
          </a:xfrm>
          <a:prstGeom prst="roundRect">
            <a:avLst>
              <a:gd name="adj" fmla="val 31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38791" y="3133725"/>
            <a:ext cx="449910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24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RHYTHM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47800" y="3609975"/>
            <a:ext cx="449910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2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الإيقاع</a:t>
            </a:r>
            <a:endParaRPr lang="en-US" sz="2424" dirty="0"/>
          </a:p>
        </p:txBody>
      </p:sp>
      <p:sp>
        <p:nvSpPr>
          <p:cNvPr id="27" name="Text 25"/>
          <p:cNvSpPr/>
          <p:nvPr/>
        </p:nvSpPr>
        <p:spPr>
          <a:xfrm>
            <a:off x="1447800" y="4238625"/>
            <a:ext cx="4212797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838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مسافاتٌ سخيّة، وحركةٌ هادئة بين 150 و400ms، وأسطحٌ دافئة يتقدّمها الفعل التركوازي.</a:t>
            </a:r>
            <a:endParaRPr lang="en-US" sz="1894" dirty="0"/>
          </a:p>
        </p:txBody>
      </p:sp>
      <p:sp>
        <p:nvSpPr>
          <p:cNvPr id="28" name="Text 26"/>
          <p:cNvSpPr/>
          <p:nvPr/>
        </p:nvSpPr>
        <p:spPr>
          <a:xfrm>
            <a:off x="1447800" y="5695950"/>
            <a:ext cx="421279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838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النتيجة: منتجٌ يُحسّ منه ما تَعِد به العلامة — فخامة هادئة وثقة.</a:t>
            </a:r>
            <a:endParaRPr lang="en-US" sz="1894" dirty="0"/>
          </a:p>
        </p:txBody>
      </p:sp>
      <p:sp>
        <p:nvSpPr>
          <p:cNvPr id="29" name="Text 27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23 / 84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APPLICATIONS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تطبيقات الهوية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267825" y="2581275"/>
            <a:ext cx="7972425" cy="2643188"/>
          </a:xfrm>
          <a:prstGeom prst="roundRect">
            <a:avLst>
              <a:gd name="adj" fmla="val 5766"/>
            </a:avLst>
          </a:prstGeom>
          <a:solidFill>
            <a:srgbClr val="EEEBE4"/>
          </a:solidFill>
          <a:ln w="9525">
            <a:solidFill>
              <a:srgbClr val="E7E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054013" y="3188494"/>
            <a:ext cx="1428750" cy="1428750"/>
          </a:xfrm>
          <a:prstGeom prst="roundRect">
            <a:avLst>
              <a:gd name="adj" fmla="val 22667"/>
            </a:avLst>
          </a:prstGeom>
          <a:ln/>
          <a:effectLst>
            <a:outerShdw sx="100000" sy="100000" kx="0" ky="0" algn="bl" rotWithShape="0" blurRad="285750" dist="76200" dir="5400000">
              <a:srgbClr val="0A111F">
                <a:alpha val="14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54013" y="3188494"/>
            <a:ext cx="1428750" cy="14287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2025313" y="3598069"/>
            <a:ext cx="609600" cy="609600"/>
          </a:xfrm>
          <a:prstGeom prst="roundRect">
            <a:avLst>
              <a:gd name="adj" fmla="val 23438"/>
            </a:avLst>
          </a:prstGeom>
          <a:ln/>
          <a:effectLst>
            <a:outerShdw sx="100000" sy="100000" kx="0" ky="0" algn="bl" rotWithShape="0" blurRad="152400" dist="38100" dir="5400000">
              <a:srgbClr val="0A111F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5313" y="3598069"/>
            <a:ext cx="609600" cy="609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267825" y="5338763"/>
            <a:ext cx="87696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أيقونة التطبيق — بحجمين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1047750" y="2581275"/>
            <a:ext cx="7972425" cy="2643188"/>
          </a:xfrm>
          <a:prstGeom prst="roundRect">
            <a:avLst>
              <a:gd name="adj" fmla="val 5766"/>
            </a:avLst>
          </a:prstGeom>
          <a:solidFill>
            <a:srgbClr val="FCFBF8"/>
          </a:solidFill>
          <a:ln w="9525">
            <a:solidFill>
              <a:srgbClr val="E7E2D9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557463" y="2588419"/>
            <a:ext cx="4953000" cy="262890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C9A86A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50800" dir="16200000">
              <a:srgbClr val="C9A86A">
                <a:alpha val="2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210026" y="2845594"/>
            <a:ext cx="1967061" cy="533400"/>
          </a:xfrm>
          <a:prstGeom prst="roundRect">
            <a:avLst>
              <a:gd name="adj" fmla="val 50000"/>
            </a:avLst>
          </a:prstGeom>
          <a:solidFill>
            <a:srgbClr val="C9A86A">
              <a:alpha val="7000"/>
            </a:srgbClr>
          </a:solidFill>
          <a:ln w="9525">
            <a:solidFill>
              <a:srgbClr val="C9A86A">
                <a:alpha val="5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29101" y="2940844"/>
            <a:ext cx="16051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رقمي موثّق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2890838" y="2959894"/>
            <a:ext cx="133702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#PRV-0482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2890838" y="3931444"/>
            <a:ext cx="4286250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17" name="Text 13"/>
          <p:cNvSpPr/>
          <p:nvPr/>
        </p:nvSpPr>
        <p:spPr>
          <a:xfrm>
            <a:off x="6595170" y="3493294"/>
            <a:ext cx="65811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الساعة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2890838" y="3493294"/>
            <a:ext cx="14002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غوّاصة رياضية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2890838" y="4493419"/>
            <a:ext cx="4286250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0" name="Text 16"/>
          <p:cNvSpPr/>
          <p:nvPr/>
        </p:nvSpPr>
        <p:spPr>
          <a:xfrm>
            <a:off x="6260753" y="4055269"/>
            <a:ext cx="9925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سنة الصنع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2890838" y="4064794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2021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6282333" y="4617244"/>
            <a:ext cx="9709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سعر الشراء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2890838" y="4626769"/>
            <a:ext cx="152938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SAR 145,000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1047750" y="5338763"/>
            <a:ext cx="87696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ملخّص السجلّ — أصلٌ قابل للمشاركة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9267825" y="5929313"/>
            <a:ext cx="7972425" cy="2643188"/>
          </a:xfrm>
          <a:prstGeom prst="roundRect">
            <a:avLst>
              <a:gd name="adj" fmla="val 5766"/>
            </a:avLst>
          </a:prstGeom>
          <a:solidFill>
            <a:srgbClr val="FFFFFF"/>
          </a:solidFill>
          <a:ln w="9525">
            <a:solidFill>
              <a:srgbClr val="E7E2D9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0587038" y="5588794"/>
            <a:ext cx="5334000" cy="3324225"/>
          </a:xfrm>
          <a:prstGeom prst="roundRect">
            <a:avLst>
              <a:gd name="adj" fmla="val 4585"/>
            </a:avLst>
          </a:prstGeom>
          <a:solidFill>
            <a:srgbClr val="F5F3EF"/>
          </a:solidFill>
          <a:ln w="9525">
            <a:solidFill>
              <a:srgbClr val="E7E2D9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3894549" y="5903119"/>
            <a:ext cx="16359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</a:t>
            </a:r>
            <a:endParaRPr lang="en-US" sz="1818" dirty="0"/>
          </a:p>
        </p:txBody>
      </p:sp>
      <p:sp>
        <p:nvSpPr>
          <p:cNvPr id="28" name="Text 24"/>
          <p:cNvSpPr/>
          <p:nvPr/>
        </p:nvSpPr>
        <p:spPr>
          <a:xfrm>
            <a:off x="13482340" y="6322219"/>
            <a:ext cx="225299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33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وثّق ساعتك.</a:t>
            </a:r>
            <a:endParaRPr lang="en-US" sz="3300" dirty="0"/>
          </a:p>
        </p:txBody>
      </p:sp>
      <p:sp>
        <p:nvSpPr>
          <p:cNvPr id="29" name="Text 25"/>
          <p:cNvSpPr/>
          <p:nvPr/>
        </p:nvSpPr>
        <p:spPr>
          <a:xfrm>
            <a:off x="10977563" y="7017544"/>
            <a:ext cx="468953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رقمي موثّق لكل ساعةٍ فاخرة — يبقى معها أينما انتقلت.</a:t>
            </a:r>
            <a:endParaRPr lang="en-US" sz="1894" dirty="0"/>
          </a:p>
        </p:txBody>
      </p:sp>
      <p:sp>
        <p:nvSpPr>
          <p:cNvPr id="30" name="Shape 26"/>
          <p:cNvSpPr/>
          <p:nvPr/>
        </p:nvSpPr>
        <p:spPr>
          <a:xfrm>
            <a:off x="13705880" y="7989094"/>
            <a:ext cx="1824633" cy="609600"/>
          </a:xfrm>
          <a:prstGeom prst="roundRect">
            <a:avLst>
              <a:gd name="adj" fmla="val 18750"/>
            </a:avLst>
          </a:prstGeom>
          <a:solidFill>
            <a:srgbClr val="12B5B0"/>
          </a:solidFill>
          <a:ln/>
        </p:spPr>
      </p:sp>
      <p:sp>
        <p:nvSpPr>
          <p:cNvPr id="31" name="Text 27"/>
          <p:cNvSpPr/>
          <p:nvPr/>
        </p:nvSpPr>
        <p:spPr>
          <a:xfrm>
            <a:off x="14029730" y="8122444"/>
            <a:ext cx="125313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2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حمّل التطبيق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9267825" y="8686800"/>
            <a:ext cx="87696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واجهة الموقع</a:t>
            </a:r>
            <a:endParaRPr lang="en-US" sz="1800" dirty="0"/>
          </a:p>
        </p:txBody>
      </p:sp>
      <p:sp>
        <p:nvSpPr>
          <p:cNvPr id="33" name="Shape 29"/>
          <p:cNvSpPr/>
          <p:nvPr/>
        </p:nvSpPr>
        <p:spPr>
          <a:xfrm>
            <a:off x="1047750" y="5929313"/>
            <a:ext cx="7972425" cy="2643188"/>
          </a:xfrm>
          <a:prstGeom prst="roundRect">
            <a:avLst>
              <a:gd name="adj" fmla="val 5766"/>
            </a:avLst>
          </a:prstGeom>
          <a:solidFill>
            <a:srgbClr val="EEEBE4"/>
          </a:solidFill>
          <a:ln w="9525">
            <a:solidFill>
              <a:srgbClr val="E7E2D9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3843338" y="5998369"/>
            <a:ext cx="2381250" cy="2505075"/>
          </a:xfrm>
          <a:prstGeom prst="roundRect">
            <a:avLst>
              <a:gd name="adj" fmla="val 6400"/>
            </a:avLst>
          </a:prstGeom>
          <a:solidFill>
            <a:srgbClr val="0A111F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38" y="5998369"/>
            <a:ext cx="781050" cy="78105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4667548" y="6969919"/>
            <a:ext cx="80917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بروفاتو</a:t>
            </a:r>
            <a:endParaRPr lang="en-US" sz="2250" dirty="0"/>
          </a:p>
        </p:txBody>
      </p:sp>
      <p:sp>
        <p:nvSpPr>
          <p:cNvPr id="37" name="Text 32"/>
          <p:cNvSpPr/>
          <p:nvPr/>
        </p:nvSpPr>
        <p:spPr>
          <a:xfrm>
            <a:off x="4176712" y="7717060"/>
            <a:ext cx="1790700" cy="696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96" spc="259" kern="0" dirty="0">
                <a:solidFill>
                  <a:srgbClr val="D8BF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PROOF · PROVENANCE · TRUST</a:t>
            </a:r>
            <a:endParaRPr lang="en-US" sz="1296" dirty="0"/>
          </a:p>
        </p:txBody>
      </p:sp>
      <p:sp>
        <p:nvSpPr>
          <p:cNvPr id="38" name="Text 33"/>
          <p:cNvSpPr/>
          <p:nvPr/>
        </p:nvSpPr>
        <p:spPr>
          <a:xfrm>
            <a:off x="1047750" y="8686800"/>
            <a:ext cx="87696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منشور تعريفي</a:t>
            </a:r>
            <a:endParaRPr lang="en-US" sz="1800" dirty="0"/>
          </a:p>
        </p:txBody>
      </p:sp>
      <p:sp>
        <p:nvSpPr>
          <p:cNvPr id="39" name="Text 34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 / 84</a:t>
            </a:r>
            <a:endParaRPr lang="en-US" sz="1800" dirty="0"/>
          </a:p>
        </p:txBody>
      </p:sp>
      <p:sp>
        <p:nvSpPr>
          <p:cNvPr id="40" name="Text 35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524000" y="5905500"/>
            <a:ext cx="5905500" cy="5905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571500" y="3733800"/>
            <a:ext cx="178117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spc="675" kern="0" dirty="0">
                <a:solidFill>
                  <a:srgbClr val="D8BF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— Logo System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047750" y="4295775"/>
            <a:ext cx="17811750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6300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نظام الشعار الكامل</a:t>
            </a:r>
            <a:endParaRPr lang="en-US" sz="6300" dirty="0"/>
          </a:p>
        </p:txBody>
      </p:sp>
      <p:sp>
        <p:nvSpPr>
          <p:cNvPr id="5" name="Text 2"/>
          <p:cNvSpPr/>
          <p:nvPr/>
        </p:nvSpPr>
        <p:spPr>
          <a:xfrm>
            <a:off x="1047750" y="5657850"/>
            <a:ext cx="1667827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467"/>
              </a:lnSpc>
              <a:buNone/>
            </a:pPr>
            <a:r>
              <a:rPr lang="en-US" sz="2424" dirty="0">
                <a:solidFill>
                  <a:srgbClr val="8E97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التركيبات · الإصدارات اللونية · الخلفيات · مساحة الأمان · الضوابط · التصدير</a:t>
            </a:r>
            <a:endParaRPr lang="en-US" sz="2424" dirty="0"/>
          </a:p>
        </p:txBody>
      </p:sp>
      <p:sp>
        <p:nvSpPr>
          <p:cNvPr id="6" name="Text 3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C66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 / 84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8E97A8">
                    <a:alpha val="6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 LOCKUPS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تركيبات الشعار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435013" y="2752725"/>
            <a:ext cx="3805237" cy="6276975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35013" y="2752725"/>
            <a:ext cx="3805237" cy="44672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04256" y="3886200"/>
            <a:ext cx="666750" cy="666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507453" y="4705350"/>
            <a:ext cx="166035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b="1" spc="45" kern="0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بروفا </a:t>
            </a:r>
            <a:pPr algn="ctr" indent="0" marL="0">
              <a:buNone/>
            </a:pPr>
            <a:r>
              <a:rPr lang="en-US" sz="4500" b="1" spc="45" kern="0" dirty="0">
                <a:solidFill>
                  <a:srgbClr val="12B5B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</a:t>
            </a:r>
            <a:endParaRPr lang="en-US" sz="4500" dirty="0"/>
          </a:p>
        </p:txBody>
      </p:sp>
      <p:sp>
        <p:nvSpPr>
          <p:cNvPr id="9" name="Text 6"/>
          <p:cNvSpPr/>
          <p:nvPr/>
        </p:nvSpPr>
        <p:spPr>
          <a:xfrm>
            <a:off x="14712404" y="5715000"/>
            <a:ext cx="125045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45" kern="0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</a:t>
            </a:r>
            <a:pPr algn="ctr" indent="0" marL="0">
              <a:buNone/>
            </a:pPr>
            <a:r>
              <a:rPr lang="en-US" sz="2250" b="1" spc="45" kern="0" dirty="0">
                <a:solidFill>
                  <a:srgbClr val="12B5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tto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13435013" y="7219950"/>
            <a:ext cx="3805237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11" name="Text 8"/>
          <p:cNvSpPr/>
          <p:nvPr/>
        </p:nvSpPr>
        <p:spPr>
          <a:xfrm>
            <a:off x="13351669" y="7400925"/>
            <a:ext cx="36409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252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BILINGUAL LOCKUP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3682663" y="7753350"/>
            <a:ext cx="36409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التركيبة ثنائية اللغة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13682663" y="8153400"/>
            <a:ext cx="3409236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333"/>
              </a:lnSpc>
              <a:buNone/>
            </a:pPr>
            <a:r>
              <a:rPr lang="en-US" sz="18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العربية تعلو، والإنجليزية تساندها — للأغلفة والمقدّمات.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305925" y="2752725"/>
            <a:ext cx="3805237" cy="6276975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305925" y="2752725"/>
            <a:ext cx="3805237" cy="44672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4363" y="4614863"/>
            <a:ext cx="742950" cy="74295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1791801" y="4633913"/>
            <a:ext cx="9525" cy="7048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9629775" y="4257675"/>
            <a:ext cx="210581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spc="36" kern="0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بروفا </a:t>
            </a:r>
            <a:pPr algn="l" indent="0" marL="0">
              <a:buNone/>
            </a:pPr>
            <a:r>
              <a:rPr lang="en-US" sz="3600" b="1" spc="36" kern="0" dirty="0">
                <a:solidFill>
                  <a:srgbClr val="12B5B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</a:t>
            </a:r>
            <a:endParaRPr lang="en-US" sz="3600" dirty="0"/>
          </a:p>
        </p:txBody>
      </p:sp>
      <p:sp>
        <p:nvSpPr>
          <p:cNvPr id="19" name="Text 15"/>
          <p:cNvSpPr/>
          <p:nvPr/>
        </p:nvSpPr>
        <p:spPr>
          <a:xfrm>
            <a:off x="9629775" y="5057775"/>
            <a:ext cx="1990576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378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OWNERSHIP RECORDS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9305925" y="7219950"/>
            <a:ext cx="3805237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1" name="Text 17"/>
          <p:cNvSpPr/>
          <p:nvPr/>
        </p:nvSpPr>
        <p:spPr>
          <a:xfrm>
            <a:off x="9222581" y="7400925"/>
            <a:ext cx="36409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252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HORIZONTAL LOCKUP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9553575" y="7753350"/>
            <a:ext cx="36409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التركيبة الأفقية</a:t>
            </a:r>
            <a:endParaRPr lang="en-US" sz="1875" dirty="0"/>
          </a:p>
        </p:txBody>
      </p:sp>
      <p:sp>
        <p:nvSpPr>
          <p:cNvPr id="23" name="Text 19"/>
          <p:cNvSpPr/>
          <p:nvPr/>
        </p:nvSpPr>
        <p:spPr>
          <a:xfrm>
            <a:off x="9553575" y="8153400"/>
            <a:ext cx="3409236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333"/>
              </a:lnSpc>
              <a:buNone/>
            </a:pPr>
            <a:r>
              <a:rPr lang="en-US" sz="18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للترويسات والأشرطة العلوية والمساحات العريضة.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5176838" y="2752725"/>
            <a:ext cx="3805237" cy="6276975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176838" y="2752725"/>
            <a:ext cx="3805237" cy="48196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306" y="4333875"/>
            <a:ext cx="876300" cy="8763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487864" y="5362575"/>
            <a:ext cx="118318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spc="33" kern="0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بروفا </a:t>
            </a:r>
            <a:pPr algn="ctr" indent="0" marL="0">
              <a:buNone/>
            </a:pPr>
            <a:r>
              <a:rPr lang="en-US" sz="3300" b="1" spc="33" kern="0" dirty="0">
                <a:solidFill>
                  <a:srgbClr val="12B5B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</a:t>
            </a:r>
            <a:endParaRPr lang="en-US" sz="3300" dirty="0"/>
          </a:p>
        </p:txBody>
      </p:sp>
      <p:sp>
        <p:nvSpPr>
          <p:cNvPr id="28" name="Shape 23"/>
          <p:cNvSpPr/>
          <p:nvPr/>
        </p:nvSpPr>
        <p:spPr>
          <a:xfrm>
            <a:off x="5176838" y="7572375"/>
            <a:ext cx="3805237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9" name="Text 24"/>
          <p:cNvSpPr/>
          <p:nvPr/>
        </p:nvSpPr>
        <p:spPr>
          <a:xfrm>
            <a:off x="5093494" y="7753350"/>
            <a:ext cx="36409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252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VERTICAL LOCKUP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5424488" y="8105775"/>
            <a:ext cx="36409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التركيبة الرأسية</a:t>
            </a:r>
            <a:endParaRPr lang="en-US" sz="1875" dirty="0"/>
          </a:p>
        </p:txBody>
      </p:sp>
      <p:sp>
        <p:nvSpPr>
          <p:cNvPr id="31" name="Text 26"/>
          <p:cNvSpPr/>
          <p:nvPr/>
        </p:nvSpPr>
        <p:spPr>
          <a:xfrm>
            <a:off x="5424488" y="8505825"/>
            <a:ext cx="36409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333"/>
              </a:lnSpc>
              <a:buNone/>
            </a:pPr>
            <a:r>
              <a:rPr lang="en-US" sz="18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للمساحات المربّعة والمتوازنة عمودياً.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1047750" y="2752725"/>
            <a:ext cx="3805237" cy="6276975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1047750" y="2752725"/>
            <a:ext cx="3805237" cy="44672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1719" y="4357688"/>
            <a:ext cx="1257300" cy="125730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1047750" y="7219950"/>
            <a:ext cx="3805237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36" name="Text 30"/>
          <p:cNvSpPr/>
          <p:nvPr/>
        </p:nvSpPr>
        <p:spPr>
          <a:xfrm>
            <a:off x="964406" y="7400925"/>
            <a:ext cx="36409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252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STANDALONE SYMBOL</a:t>
            </a:r>
            <a:endParaRPr lang="en-US" sz="1800" dirty="0"/>
          </a:p>
        </p:txBody>
      </p:sp>
      <p:sp>
        <p:nvSpPr>
          <p:cNvPr id="37" name="Text 31"/>
          <p:cNvSpPr/>
          <p:nvPr/>
        </p:nvSpPr>
        <p:spPr>
          <a:xfrm>
            <a:off x="1295400" y="7753350"/>
            <a:ext cx="36409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الرمز المستقل</a:t>
            </a:r>
            <a:endParaRPr lang="en-US" sz="1875" dirty="0"/>
          </a:p>
        </p:txBody>
      </p:sp>
      <p:sp>
        <p:nvSpPr>
          <p:cNvPr id="38" name="Text 32"/>
          <p:cNvSpPr/>
          <p:nvPr/>
        </p:nvSpPr>
        <p:spPr>
          <a:xfrm>
            <a:off x="1295400" y="8153400"/>
            <a:ext cx="3409236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333"/>
              </a:lnSpc>
              <a:buNone/>
            </a:pPr>
            <a:r>
              <a:rPr lang="en-US" sz="18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الأيقونة وحدها حين تعرّف العلامة نفسها.</a:t>
            </a:r>
            <a:endParaRPr lang="en-US" sz="1800" dirty="0"/>
          </a:p>
        </p:txBody>
      </p:sp>
      <p:sp>
        <p:nvSpPr>
          <p:cNvPr id="39" name="Text 33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26 / 84</a:t>
            </a:r>
            <a:endParaRPr lang="en-US" sz="1800" dirty="0"/>
          </a:p>
        </p:txBody>
      </p:sp>
      <p:sp>
        <p:nvSpPr>
          <p:cNvPr id="40" name="Text 34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 &amp; MONOCHROME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الإصدارات اللونية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435013" y="2752725"/>
            <a:ext cx="3805237" cy="6276975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35013" y="2752725"/>
            <a:ext cx="3805237" cy="48196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47006" y="4567238"/>
            <a:ext cx="2381250" cy="119062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3435013" y="7572375"/>
            <a:ext cx="3805237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9" name="Text 6"/>
          <p:cNvSpPr/>
          <p:nvPr/>
        </p:nvSpPr>
        <p:spPr>
          <a:xfrm>
            <a:off x="13351669" y="7753350"/>
            <a:ext cx="36409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252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COLOR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682663" y="8105775"/>
            <a:ext cx="36409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النسخة الكاملة</a:t>
            </a:r>
            <a:endParaRPr lang="en-US" sz="1875" dirty="0"/>
          </a:p>
        </p:txBody>
      </p:sp>
      <p:sp>
        <p:nvSpPr>
          <p:cNvPr id="11" name="Text 8"/>
          <p:cNvSpPr/>
          <p:nvPr/>
        </p:nvSpPr>
        <p:spPr>
          <a:xfrm>
            <a:off x="13682663" y="8505825"/>
            <a:ext cx="36409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333"/>
              </a:lnSpc>
              <a:buNone/>
            </a:pPr>
            <a:r>
              <a:rPr lang="en-US" sz="18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الأصل — على الخلفيات الفاتحة.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9305925" y="2752725"/>
            <a:ext cx="3805237" cy="6276975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305925" y="2752725"/>
            <a:ext cx="3805237" cy="4819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10017919" y="4543425"/>
            <a:ext cx="2381250" cy="1238250"/>
          </a:xfrm>
          <a:prstGeom prst="rect">
            <a:avLst/>
          </a:prstGeom>
          <a:solidFill>
            <a:srgbClr val="0A111F"/>
          </a:solidFill>
          <a:ln/>
        </p:spPr>
      </p:sp>
      <p:sp>
        <p:nvSpPr>
          <p:cNvPr id="15" name="Shape 12"/>
          <p:cNvSpPr/>
          <p:nvPr/>
        </p:nvSpPr>
        <p:spPr>
          <a:xfrm>
            <a:off x="9305925" y="7572375"/>
            <a:ext cx="3805237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16" name="Text 13"/>
          <p:cNvSpPr/>
          <p:nvPr/>
        </p:nvSpPr>
        <p:spPr>
          <a:xfrm>
            <a:off x="9222581" y="7753350"/>
            <a:ext cx="36409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252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MONOCHROME NAVY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553575" y="8105775"/>
            <a:ext cx="36409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أحادي كحلي</a:t>
            </a:r>
            <a:endParaRPr lang="en-US" sz="1875" dirty="0"/>
          </a:p>
        </p:txBody>
      </p:sp>
      <p:sp>
        <p:nvSpPr>
          <p:cNvPr id="18" name="Text 15"/>
          <p:cNvSpPr/>
          <p:nvPr/>
        </p:nvSpPr>
        <p:spPr>
          <a:xfrm>
            <a:off x="9553575" y="8505825"/>
            <a:ext cx="36409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333"/>
              </a:lnSpc>
              <a:buNone/>
            </a:pPr>
            <a:r>
              <a:rPr lang="en-US" sz="18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للطباعة أحادية اللون والمستندات.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176838" y="2752725"/>
            <a:ext cx="3805237" cy="6276975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176838" y="2752725"/>
            <a:ext cx="3805237" cy="44672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5888831" y="4367213"/>
            <a:ext cx="2381250" cy="123825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2" name="Shape 19"/>
          <p:cNvSpPr/>
          <p:nvPr/>
        </p:nvSpPr>
        <p:spPr>
          <a:xfrm>
            <a:off x="5176838" y="7219950"/>
            <a:ext cx="3805237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3" name="Text 20"/>
          <p:cNvSpPr/>
          <p:nvPr/>
        </p:nvSpPr>
        <p:spPr>
          <a:xfrm>
            <a:off x="5093494" y="7400925"/>
            <a:ext cx="36409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252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MONOCHROME BLACK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424488" y="7753350"/>
            <a:ext cx="36409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أحادي أسود</a:t>
            </a:r>
            <a:endParaRPr lang="en-US" sz="1875" dirty="0"/>
          </a:p>
        </p:txBody>
      </p:sp>
      <p:sp>
        <p:nvSpPr>
          <p:cNvPr id="25" name="Text 22"/>
          <p:cNvSpPr/>
          <p:nvPr/>
        </p:nvSpPr>
        <p:spPr>
          <a:xfrm>
            <a:off x="5424488" y="8153400"/>
            <a:ext cx="3409236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333"/>
              </a:lnSpc>
              <a:buNone/>
            </a:pPr>
            <a:r>
              <a:rPr lang="en-US" sz="18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للفاكس والختم والاستخدام الرسمي المحايد.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1047750" y="2752725"/>
            <a:ext cx="3805237" cy="6276975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047750" y="2752725"/>
            <a:ext cx="3805237" cy="4467225"/>
          </a:xfrm>
          <a:prstGeom prst="rect">
            <a:avLst/>
          </a:prstGeom>
          <a:solidFill>
            <a:srgbClr val="0A111F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744" y="4391025"/>
            <a:ext cx="2381250" cy="1190625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1047750" y="7219950"/>
            <a:ext cx="3805237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30" name="Text 26"/>
          <p:cNvSpPr/>
          <p:nvPr/>
        </p:nvSpPr>
        <p:spPr>
          <a:xfrm>
            <a:off x="964406" y="7400925"/>
            <a:ext cx="36409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252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REVERSED WHITE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1295400" y="7753350"/>
            <a:ext cx="36409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النسخة المعكوسة</a:t>
            </a:r>
            <a:endParaRPr lang="en-US" sz="1875" dirty="0"/>
          </a:p>
        </p:txBody>
      </p:sp>
      <p:sp>
        <p:nvSpPr>
          <p:cNvPr id="32" name="Text 28"/>
          <p:cNvSpPr/>
          <p:nvPr/>
        </p:nvSpPr>
        <p:spPr>
          <a:xfrm>
            <a:off x="1295400" y="8153400"/>
            <a:ext cx="3409236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333"/>
              </a:lnSpc>
              <a:buNone/>
            </a:pPr>
            <a:r>
              <a:rPr lang="en-US" sz="18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للخلفيات الداكنة — الأيقونة تحافظ على لمستها.</a:t>
            </a:r>
            <a:endParaRPr lang="en-US" sz="1800" dirty="0"/>
          </a:p>
        </p:txBody>
      </p:sp>
      <p:sp>
        <p:nvSpPr>
          <p:cNvPr id="33" name="Text 29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27 / 84</a:t>
            </a:r>
            <a:endParaRPr lang="en-US" sz="1800" dirty="0"/>
          </a:p>
        </p:txBody>
      </p:sp>
      <p:sp>
        <p:nvSpPr>
          <p:cNvPr id="34" name="Text 30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BACKGROUND CONTROL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الشعار على الخلفيات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435013" y="2752725"/>
            <a:ext cx="3805237" cy="5591175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35013" y="2752725"/>
            <a:ext cx="3805237" cy="41338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9881" y="4295775"/>
            <a:ext cx="2095500" cy="10477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3435013" y="6886575"/>
            <a:ext cx="3805237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9" name="Text 6"/>
          <p:cNvSpPr/>
          <p:nvPr/>
        </p:nvSpPr>
        <p:spPr>
          <a:xfrm>
            <a:off x="13682663" y="7067550"/>
            <a:ext cx="36409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خلفية فاتحة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13682663" y="7467600"/>
            <a:ext cx="3409236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333"/>
              </a:lnSpc>
              <a:buNone/>
            </a:pPr>
            <a:r>
              <a:rPr lang="en-US" sz="18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النسخة الكاملة على الأبيض والورق الدافئ.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9305925" y="2752725"/>
            <a:ext cx="3805237" cy="5591175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305925" y="2752725"/>
            <a:ext cx="3805237" cy="4486275"/>
          </a:xfrm>
          <a:prstGeom prst="rect">
            <a:avLst/>
          </a:prstGeom>
          <a:solidFill>
            <a:srgbClr val="0A111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794" y="4471988"/>
            <a:ext cx="2095500" cy="104775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305925" y="7239000"/>
            <a:ext cx="3805237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15" name="Text 11"/>
          <p:cNvSpPr/>
          <p:nvPr/>
        </p:nvSpPr>
        <p:spPr>
          <a:xfrm>
            <a:off x="9553575" y="7419975"/>
            <a:ext cx="36409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خلفية داكنة</a:t>
            </a:r>
            <a:endParaRPr lang="en-US" sz="1875" dirty="0"/>
          </a:p>
        </p:txBody>
      </p:sp>
      <p:sp>
        <p:nvSpPr>
          <p:cNvPr id="16" name="Text 12"/>
          <p:cNvSpPr/>
          <p:nvPr/>
        </p:nvSpPr>
        <p:spPr>
          <a:xfrm>
            <a:off x="9553575" y="7820025"/>
            <a:ext cx="36409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333"/>
              </a:lnSpc>
              <a:buNone/>
            </a:pPr>
            <a:r>
              <a:rPr lang="en-US" sz="18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النسخة المعكوسة على الكحلي.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5176838" y="2752725"/>
            <a:ext cx="3805237" cy="5591175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176838" y="2752725"/>
            <a:ext cx="3805237" cy="4133850"/>
          </a:xfrm>
          <a:prstGeom prst="rect">
            <a:avLst/>
          </a:prstGeom>
          <a:gradFill rotWithShape="1">
            <a:gsLst>
              <a:gs pos="0">
                <a:srgbClr val="2B3648">
                  <a:alpha val="100000"/>
                </a:srgbClr>
              </a:gs>
              <a:gs pos="100000">
                <a:srgbClr val="141C2C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706" y="4295775"/>
            <a:ext cx="2095500" cy="104775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176838" y="6886575"/>
            <a:ext cx="3805237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1" name="Text 16"/>
          <p:cNvSpPr/>
          <p:nvPr/>
        </p:nvSpPr>
        <p:spPr>
          <a:xfrm>
            <a:off x="5424488" y="7067550"/>
            <a:ext cx="36409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على الصور</a:t>
            </a:r>
            <a:endParaRPr lang="en-US" sz="1875" dirty="0"/>
          </a:p>
        </p:txBody>
      </p:sp>
      <p:sp>
        <p:nvSpPr>
          <p:cNvPr id="22" name="Text 17"/>
          <p:cNvSpPr/>
          <p:nvPr/>
        </p:nvSpPr>
        <p:spPr>
          <a:xfrm>
            <a:off x="5424488" y="7467600"/>
            <a:ext cx="3409236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333"/>
              </a:lnSpc>
              <a:buNone/>
            </a:pPr>
            <a:r>
              <a:rPr lang="en-US" sz="18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النسخة المعكوسة فوق منطقة داكنة هادئة من الصورة.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1047750" y="2752725"/>
            <a:ext cx="3805237" cy="5591175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47750" y="2752725"/>
            <a:ext cx="3805237" cy="448627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5" name="Shape 20"/>
          <p:cNvSpPr/>
          <p:nvPr/>
        </p:nvSpPr>
        <p:spPr>
          <a:xfrm>
            <a:off x="1728788" y="4605338"/>
            <a:ext cx="2443163" cy="781050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0" y="4814888"/>
            <a:ext cx="361950" cy="36195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014538" y="4824413"/>
            <a:ext cx="149304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تفاصيل السجلّ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1047750" y="7239000"/>
            <a:ext cx="3805237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9" name="Text 23"/>
          <p:cNvSpPr/>
          <p:nvPr/>
        </p:nvSpPr>
        <p:spPr>
          <a:xfrm>
            <a:off x="1295400" y="7419975"/>
            <a:ext cx="36409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داخل المستند والتطبيق</a:t>
            </a:r>
            <a:endParaRPr lang="en-US" sz="1875" dirty="0"/>
          </a:p>
        </p:txBody>
      </p:sp>
      <p:sp>
        <p:nvSpPr>
          <p:cNvPr id="30" name="Text 24"/>
          <p:cNvSpPr/>
          <p:nvPr/>
        </p:nvSpPr>
        <p:spPr>
          <a:xfrm>
            <a:off x="1295400" y="7820025"/>
            <a:ext cx="36409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333"/>
              </a:lnSpc>
              <a:buNone/>
            </a:pPr>
            <a:r>
              <a:rPr lang="en-US" sz="18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الأيقونة في الترويسات والأشرطة الصغيرة.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1047750" y="8629650"/>
            <a:ext cx="166782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القاعدة: تباينٌ كافٍ دائماً — لا يوضع الشعار على مناطق مزدحمة أو منخفضة التباين من الصورة.</a:t>
            </a:r>
            <a:endParaRPr lang="en-US" sz="1894" dirty="0"/>
          </a:p>
        </p:txBody>
      </p:sp>
      <p:sp>
        <p:nvSpPr>
          <p:cNvPr id="32" name="Text 26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28 / 84</a:t>
            </a:r>
            <a:endParaRPr lang="en-US" sz="1800" dirty="0"/>
          </a:p>
        </p:txBody>
      </p:sp>
      <p:sp>
        <p:nvSpPr>
          <p:cNvPr id="33" name="Text 27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CONSTRUCTION &amp; CLEAR-SPACE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البناء ومساحة الأمان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448800" y="4019550"/>
            <a:ext cx="7791450" cy="3743325"/>
          </a:xfrm>
          <a:prstGeom prst="roundRect">
            <a:avLst>
              <a:gd name="adj" fmla="val 40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139488" y="4552950"/>
            <a:ext cx="4410075" cy="2676525"/>
          </a:xfrm>
          <a:prstGeom prst="rect">
            <a:avLst/>
          </a:prstGeom>
          <a:ln w="14288">
            <a:solidFill>
              <a:srgbClr val="C4CAD4"/>
            </a:solidFill>
            <a:prstDash val="dash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5775" y="5176838"/>
            <a:ext cx="2857500" cy="1428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75469" y="4700588"/>
            <a:ext cx="213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×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275469" y="6777038"/>
            <a:ext cx="213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×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344275" y="5738813"/>
            <a:ext cx="213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×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5207555" y="5738813"/>
            <a:ext cx="213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×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14006" y="3657600"/>
            <a:ext cx="7663244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مساحة الأمان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تعادل ارتفاع الأيقونة (×) من كل جهة — لا يقترب منها عنصر.</a:t>
            </a:r>
            <a:endParaRPr lang="en-US" sz="2197" dirty="0"/>
          </a:p>
        </p:txBody>
      </p:sp>
      <p:sp>
        <p:nvSpPr>
          <p:cNvPr id="13" name="Text 10"/>
          <p:cNvSpPr/>
          <p:nvPr/>
        </p:nvSpPr>
        <p:spPr>
          <a:xfrm>
            <a:off x="814006" y="4838700"/>
            <a:ext cx="766324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المحاذاة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على خط الأساس البصري للأيقونة والكلمة معاً.</a:t>
            </a:r>
            <a:endParaRPr lang="en-US" sz="2197" dirty="0"/>
          </a:p>
        </p:txBody>
      </p:sp>
      <p:sp>
        <p:nvSpPr>
          <p:cNvPr id="14" name="Text 11"/>
          <p:cNvSpPr/>
          <p:nvPr/>
        </p:nvSpPr>
        <p:spPr>
          <a:xfrm>
            <a:off x="814006" y="5534025"/>
            <a:ext cx="766324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الحد الأدنى للحجم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يحفظ وضوح الأيقونة والكلمة الكاملة.</a:t>
            </a:r>
            <a:endParaRPr lang="en-US" sz="2197" dirty="0"/>
          </a:p>
        </p:txBody>
      </p:sp>
      <p:sp>
        <p:nvSpPr>
          <p:cNvPr id="15" name="Text 12"/>
          <p:cNvSpPr/>
          <p:nvPr/>
        </p:nvSpPr>
        <p:spPr>
          <a:xfrm>
            <a:off x="814006" y="6229350"/>
            <a:ext cx="766324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الموضع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في الركن العلوي المبدئي (يمين في RTL) أو منتصف الغلاف.</a:t>
            </a:r>
            <a:endParaRPr lang="en-US" sz="2197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7038975"/>
            <a:ext cx="1143000" cy="5715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686401" y="7148513"/>
            <a:ext cx="85739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120px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4342805" y="7724775"/>
            <a:ext cx="463128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الحد الأدنى للشعار الكامل — رقمياً · 28mm طباعةً.</a:t>
            </a:r>
            <a:endParaRPr lang="en-US" sz="1894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6505" y="7038975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616696" y="7091363"/>
            <a:ext cx="69740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32px</a:t>
            </a: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1560463" y="7610475"/>
            <a:ext cx="243944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الحد الأدنى للأيقونة وحدها.</a:t>
            </a:r>
            <a:endParaRPr lang="en-US" sz="1894" dirty="0"/>
          </a:p>
        </p:txBody>
      </p:sp>
      <p:sp>
        <p:nvSpPr>
          <p:cNvPr id="22" name="Text 17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29 / 84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INCORRECT USAGE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الاستخدام الخاطئ للشعار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392150" y="2752725"/>
            <a:ext cx="3848100" cy="2957513"/>
          </a:xfrm>
          <a:prstGeom prst="roundRect">
            <a:avLst>
              <a:gd name="adj" fmla="val 4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4200" y="3521869"/>
            <a:ext cx="1524000" cy="76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392150" y="5053013"/>
            <a:ext cx="3848100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8" name="Text 5"/>
          <p:cNvSpPr/>
          <p:nvPr/>
        </p:nvSpPr>
        <p:spPr>
          <a:xfrm>
            <a:off x="13601700" y="5214938"/>
            <a:ext cx="35444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تغيير الألوان أو إضافة تدرّجات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277350" y="2752725"/>
            <a:ext cx="3848100" cy="2957513"/>
          </a:xfrm>
          <a:prstGeom prst="roundRect">
            <a:avLst>
              <a:gd name="adj" fmla="val 4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720001">
            <a:off x="10439400" y="3521869"/>
            <a:ext cx="1524001" cy="762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277350" y="5053013"/>
            <a:ext cx="3848100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12" name="Text 8"/>
          <p:cNvSpPr/>
          <p:nvPr/>
        </p:nvSpPr>
        <p:spPr>
          <a:xfrm>
            <a:off x="9486900" y="5214938"/>
            <a:ext cx="35444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التدوير أو الإمالة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162550" y="2752725"/>
            <a:ext cx="3848100" cy="2957513"/>
          </a:xfrm>
          <a:prstGeom prst="roundRect">
            <a:avLst>
              <a:gd name="adj" fmla="val 4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100" y="3521869"/>
            <a:ext cx="1905000" cy="7620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162550" y="5053013"/>
            <a:ext cx="3848100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16" name="Text 11"/>
          <p:cNvSpPr/>
          <p:nvPr/>
        </p:nvSpPr>
        <p:spPr>
          <a:xfrm>
            <a:off x="5372100" y="5214938"/>
            <a:ext cx="35444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التمديد أو تشويه النسب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1047750" y="2752725"/>
            <a:ext cx="3848100" cy="2957513"/>
          </a:xfrm>
          <a:prstGeom prst="roundRect">
            <a:avLst>
              <a:gd name="adj" fmla="val 4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3521869"/>
            <a:ext cx="1524000" cy="7620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1047750" y="5053013"/>
            <a:ext cx="3848100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0" name="Text 14"/>
          <p:cNvSpPr/>
          <p:nvPr/>
        </p:nvSpPr>
        <p:spPr>
          <a:xfrm>
            <a:off x="1257300" y="5214938"/>
            <a:ext cx="35444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إضافة ظلال أو تأثيرات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13392150" y="5976938"/>
            <a:ext cx="3848100" cy="3052763"/>
          </a:xfrm>
          <a:prstGeom prst="roundRect">
            <a:avLst>
              <a:gd name="adj" fmla="val 4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3392150" y="5976938"/>
            <a:ext cx="3848100" cy="2395538"/>
          </a:xfrm>
          <a:prstGeom prst="rect">
            <a:avLst/>
          </a:prstGeom>
          <a:gradFill rotWithShape="1">
            <a:gsLst>
              <a:gs pos="0">
                <a:srgbClr val="2B3648">
                  <a:alpha val="100000"/>
                </a:srgbClr>
              </a:gs>
              <a:gs pos="100000">
                <a:srgbClr val="141C2C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54200" y="6793706"/>
            <a:ext cx="1524000" cy="76200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13392150" y="8372475"/>
            <a:ext cx="3848100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5" name="Text 18"/>
          <p:cNvSpPr/>
          <p:nvPr/>
        </p:nvSpPr>
        <p:spPr>
          <a:xfrm>
            <a:off x="13601700" y="8534400"/>
            <a:ext cx="35444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النسخة الملوّنة على خلفية داكنة</a:t>
            </a:r>
            <a:endParaRPr lang="en-US" sz="1800" dirty="0"/>
          </a:p>
        </p:txBody>
      </p:sp>
      <p:sp>
        <p:nvSpPr>
          <p:cNvPr id="26" name="Shape 19"/>
          <p:cNvSpPr/>
          <p:nvPr/>
        </p:nvSpPr>
        <p:spPr>
          <a:xfrm>
            <a:off x="9277350" y="5976938"/>
            <a:ext cx="3848100" cy="3052763"/>
          </a:xfrm>
          <a:prstGeom prst="roundRect">
            <a:avLst>
              <a:gd name="adj" fmla="val 4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9277350" y="5976938"/>
            <a:ext cx="3848100" cy="2395538"/>
          </a:xfrm>
          <a:prstGeom prst="rect">
            <a:avLst/>
          </a:prstGeom>
          <a:solidFill>
            <a:srgbClr val="DFD9CC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7025" y="6817519"/>
            <a:ext cx="1428750" cy="714375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9277350" y="8372475"/>
            <a:ext cx="3848100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30" name="Text 22"/>
          <p:cNvSpPr/>
          <p:nvPr/>
        </p:nvSpPr>
        <p:spPr>
          <a:xfrm>
            <a:off x="9486900" y="8534400"/>
            <a:ext cx="35444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خلفيات مزدحمة</a:t>
            </a:r>
            <a:endParaRPr lang="en-US" sz="1800" dirty="0"/>
          </a:p>
        </p:txBody>
      </p:sp>
      <p:sp>
        <p:nvSpPr>
          <p:cNvPr id="31" name="Shape 23"/>
          <p:cNvSpPr/>
          <p:nvPr/>
        </p:nvSpPr>
        <p:spPr>
          <a:xfrm>
            <a:off x="5162550" y="5976938"/>
            <a:ext cx="3848100" cy="3052763"/>
          </a:xfrm>
          <a:prstGeom prst="roundRect">
            <a:avLst>
              <a:gd name="adj" fmla="val 4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3663" y="6746081"/>
            <a:ext cx="1285875" cy="857250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5162550" y="8372475"/>
            <a:ext cx="3848100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34" name="Text 25"/>
          <p:cNvSpPr/>
          <p:nvPr/>
        </p:nvSpPr>
        <p:spPr>
          <a:xfrm>
            <a:off x="5372100" y="8534400"/>
            <a:ext cx="35444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إعادة رسم الأيقونة أو تعديلها</a:t>
            </a:r>
            <a:endParaRPr lang="en-US" sz="1800" dirty="0"/>
          </a:p>
        </p:txBody>
      </p:sp>
      <p:sp>
        <p:nvSpPr>
          <p:cNvPr id="35" name="Shape 26"/>
          <p:cNvSpPr/>
          <p:nvPr/>
        </p:nvSpPr>
        <p:spPr>
          <a:xfrm>
            <a:off x="1047750" y="5976938"/>
            <a:ext cx="3848100" cy="3052763"/>
          </a:xfrm>
          <a:prstGeom prst="roundRect">
            <a:avLst>
              <a:gd name="adj" fmla="val 4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36" name="Text 27"/>
          <p:cNvSpPr/>
          <p:nvPr/>
        </p:nvSpPr>
        <p:spPr>
          <a:xfrm>
            <a:off x="2062014" y="6927056"/>
            <a:ext cx="200169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300" kern="0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</a:t>
            </a:r>
            <a:endParaRPr lang="en-US" sz="3000" dirty="0"/>
          </a:p>
        </p:txBody>
      </p:sp>
      <p:sp>
        <p:nvSpPr>
          <p:cNvPr id="37" name="Shape 28"/>
          <p:cNvSpPr/>
          <p:nvPr/>
        </p:nvSpPr>
        <p:spPr>
          <a:xfrm>
            <a:off x="1047750" y="8372475"/>
            <a:ext cx="3848100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38" name="Text 29"/>
          <p:cNvSpPr/>
          <p:nvPr/>
        </p:nvSpPr>
        <p:spPr>
          <a:xfrm>
            <a:off x="1257300" y="8534400"/>
            <a:ext cx="35444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استبدال المحرف أو التباعد</a:t>
            </a:r>
            <a:endParaRPr lang="en-US" sz="1800" dirty="0"/>
          </a:p>
        </p:txBody>
      </p:sp>
      <p:sp>
        <p:nvSpPr>
          <p:cNvPr id="39" name="Text 30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 / 84</a:t>
            </a:r>
            <a:endParaRPr lang="en-US" sz="1800" dirty="0"/>
          </a:p>
        </p:txBody>
      </p:sp>
      <p:sp>
        <p:nvSpPr>
          <p:cNvPr id="40" name="Text 31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ASSET NAMING &amp; EXPORT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تسمية الأصول والتصدير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448800" y="2752725"/>
            <a:ext cx="7791450" cy="55245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844190" y="3114675"/>
            <a:ext cx="10722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بنية المجلد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48850" y="3629025"/>
            <a:ext cx="720109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00"/>
              </a:lnSpc>
              <a:buNone/>
            </a:pPr>
            <a:r>
              <a:rPr lang="en-US" sz="180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provatto-brand/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48850" y="4057650"/>
            <a:ext cx="720109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00"/>
              </a:lnSpc>
              <a:buNone/>
            </a:pPr>
            <a:r>
              <a:rPr lang="en-US" sz="180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logo/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48850" y="4486275"/>
            <a:ext cx="720109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00"/>
              </a:lnSpc>
              <a:buNone/>
            </a:pPr>
            <a:r>
              <a:rPr lang="en-US" sz="1800" dirty="0">
                <a:solidFill>
                  <a:srgbClr val="565E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provatto-logo-color.svg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848850" y="4914900"/>
            <a:ext cx="720109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00"/>
              </a:lnSpc>
              <a:buNone/>
            </a:pPr>
            <a:r>
              <a:rPr lang="en-US" sz="1800" dirty="0">
                <a:solidFill>
                  <a:srgbClr val="565E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provatto-logo-white.svg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48850" y="5343525"/>
            <a:ext cx="720109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00"/>
              </a:lnSpc>
              <a:buNone/>
            </a:pPr>
            <a:r>
              <a:rPr lang="en-US" sz="1800" dirty="0">
                <a:solidFill>
                  <a:srgbClr val="565E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provatto-logo-navy.svg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848850" y="5772150"/>
            <a:ext cx="720109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00"/>
              </a:lnSpc>
              <a:buNone/>
            </a:pPr>
            <a:r>
              <a:rPr lang="en-US" sz="1800" dirty="0">
                <a:solidFill>
                  <a:srgbClr val="565E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provatto-icon.svg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848850" y="6200775"/>
            <a:ext cx="720109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00"/>
              </a:lnSpc>
              <a:buNone/>
            </a:pPr>
            <a:r>
              <a:rPr lang="en-US" sz="180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app-icon/ </a:t>
            </a:r>
            <a:pPr algn="l" indent="0" marL="0">
              <a:lnSpc>
                <a:spcPct val="142500"/>
              </a:lnSpc>
              <a:buNone/>
            </a:pPr>
            <a:r>
              <a:rPr lang="en-US" sz="1800" dirty="0">
                <a:solidFill>
                  <a:srgbClr val="8A64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·png ·svg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848850" y="6629400"/>
            <a:ext cx="720109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00"/>
              </a:lnSpc>
              <a:buNone/>
            </a:pPr>
            <a:r>
              <a:rPr lang="en-US" sz="180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seal/ </a:t>
            </a:r>
            <a:pPr algn="l" indent="0" marL="0">
              <a:lnSpc>
                <a:spcPct val="142500"/>
              </a:lnSpc>
              <a:buNone/>
            </a:pPr>
            <a:r>
              <a:rPr lang="en-US" sz="1800" dirty="0">
                <a:solidFill>
                  <a:srgbClr val="8A64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·svg ·png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848850" y="7058025"/>
            <a:ext cx="720109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00"/>
              </a:lnSpc>
              <a:buNone/>
            </a:pPr>
            <a:r>
              <a:rPr lang="en-US" sz="180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templates/ </a:t>
            </a:r>
            <a:pPr algn="l" indent="0" marL="0">
              <a:lnSpc>
                <a:spcPct val="142500"/>
              </a:lnSpc>
              <a:buNone/>
            </a:pPr>
            <a:r>
              <a:rPr lang="en-US" sz="1800" dirty="0">
                <a:solidFill>
                  <a:srgbClr val="8A64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social ·pptx ·pdf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848850" y="7486650"/>
            <a:ext cx="720109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00"/>
              </a:lnSpc>
              <a:buNone/>
            </a:pPr>
            <a:r>
              <a:rPr lang="en-US" sz="180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fonts/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47750" y="3371850"/>
            <a:ext cx="7791450" cy="14288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265545" y="2905125"/>
            <a:ext cx="253555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الصيغة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210050" y="2914650"/>
            <a:ext cx="23050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55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92480" y="2905125"/>
            <a:ext cx="32270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الاستخدام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047750" y="4319588"/>
            <a:ext cx="7791450" cy="9525"/>
          </a:xfrm>
          <a:prstGeom prst="rect">
            <a:avLst/>
          </a:prstGeom>
          <a:solidFill>
            <a:srgbClr val="E7E2D9"/>
          </a:solidFill>
          <a:ln/>
        </p:spPr>
      </p:sp>
      <p:sp>
        <p:nvSpPr>
          <p:cNvPr id="22" name="Text 20"/>
          <p:cNvSpPr/>
          <p:nvPr/>
        </p:nvSpPr>
        <p:spPr>
          <a:xfrm>
            <a:off x="6496050" y="3538538"/>
            <a:ext cx="25355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.svg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4210050" y="3548063"/>
            <a:ext cx="23050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VECTOR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085850" y="3538538"/>
            <a:ext cx="302171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الويب، الشاشات، الطباعة القابلة للتحجيم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047750" y="4948238"/>
            <a:ext cx="7791450" cy="9525"/>
          </a:xfrm>
          <a:prstGeom prst="rect">
            <a:avLst/>
          </a:prstGeom>
          <a:solidFill>
            <a:srgbClr val="E7E2D9"/>
          </a:solidFill>
          <a:ln/>
        </p:spPr>
      </p:sp>
      <p:sp>
        <p:nvSpPr>
          <p:cNvPr id="26" name="Text 24"/>
          <p:cNvSpPr/>
          <p:nvPr/>
        </p:nvSpPr>
        <p:spPr>
          <a:xfrm>
            <a:off x="6496050" y="4481513"/>
            <a:ext cx="25355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.png @1×/2×/3×</a:t>
            </a:r>
            <a:endParaRPr lang="en-US" sz="1725" dirty="0"/>
          </a:p>
        </p:txBody>
      </p:sp>
      <p:sp>
        <p:nvSpPr>
          <p:cNvPr id="27" name="Text 25"/>
          <p:cNvSpPr/>
          <p:nvPr/>
        </p:nvSpPr>
        <p:spPr>
          <a:xfrm>
            <a:off x="4210050" y="4491038"/>
            <a:ext cx="23050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RASTER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085850" y="4481513"/>
            <a:ext cx="32270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التطبيق، الشرائح، البريد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047750" y="5576888"/>
            <a:ext cx="7791450" cy="9525"/>
          </a:xfrm>
          <a:prstGeom prst="rect">
            <a:avLst/>
          </a:prstGeom>
          <a:solidFill>
            <a:srgbClr val="E7E2D9"/>
          </a:solidFill>
          <a:ln/>
        </p:spPr>
      </p:sp>
      <p:sp>
        <p:nvSpPr>
          <p:cNvPr id="30" name="Text 28"/>
          <p:cNvSpPr/>
          <p:nvPr/>
        </p:nvSpPr>
        <p:spPr>
          <a:xfrm>
            <a:off x="6496050" y="5110163"/>
            <a:ext cx="25355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.pdf</a:t>
            </a:r>
            <a:endParaRPr lang="en-US" sz="1725" dirty="0"/>
          </a:p>
        </p:txBody>
      </p:sp>
      <p:sp>
        <p:nvSpPr>
          <p:cNvPr id="31" name="Text 29"/>
          <p:cNvSpPr/>
          <p:nvPr/>
        </p:nvSpPr>
        <p:spPr>
          <a:xfrm>
            <a:off x="4210050" y="5119688"/>
            <a:ext cx="23050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PRINT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085850" y="5110163"/>
            <a:ext cx="32270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القرطاسية والوثائق الرسمية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6496050" y="5738813"/>
            <a:ext cx="25355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.ico / 512²</a:t>
            </a:r>
            <a:endParaRPr lang="en-US" sz="1725" dirty="0"/>
          </a:p>
        </p:txBody>
      </p:sp>
      <p:sp>
        <p:nvSpPr>
          <p:cNvPr id="34" name="Text 32"/>
          <p:cNvSpPr/>
          <p:nvPr/>
        </p:nvSpPr>
        <p:spPr>
          <a:xfrm>
            <a:off x="4210050" y="5748338"/>
            <a:ext cx="23050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FAVICON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085850" y="5738813"/>
            <a:ext cx="32270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أيقونة الموقع والمتصفّح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047750" y="6453188"/>
            <a:ext cx="8025194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اصطلاح التسمية: </a:t>
            </a:r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provatto-[asset]-[variant]@[scale].[ext] </a:t>
            </a:r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بحروفٍ صغيرة وشُرَطٍ فاصلة، بلا مسافات.</a:t>
            </a:r>
            <a:endParaRPr lang="en-US" sz="1894" dirty="0"/>
          </a:p>
        </p:txBody>
      </p:sp>
      <p:sp>
        <p:nvSpPr>
          <p:cNvPr id="37" name="Text 35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31 / 84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524000" y="5905500"/>
            <a:ext cx="5905500" cy="5905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571500" y="3733800"/>
            <a:ext cx="178117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spc="675" kern="0" dirty="0">
                <a:solidFill>
                  <a:srgbClr val="D8BF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— Record Seal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047750" y="4295775"/>
            <a:ext cx="17811750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6300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ختم السجلّ الرقمي</a:t>
            </a:r>
            <a:endParaRPr lang="en-US" sz="6300" dirty="0"/>
          </a:p>
        </p:txBody>
      </p:sp>
      <p:sp>
        <p:nvSpPr>
          <p:cNvPr id="5" name="Text 2"/>
          <p:cNvSpPr/>
          <p:nvPr/>
        </p:nvSpPr>
        <p:spPr>
          <a:xfrm>
            <a:off x="1047750" y="5657850"/>
            <a:ext cx="1667827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467"/>
              </a:lnSpc>
              <a:buNone/>
            </a:pPr>
            <a:r>
              <a:rPr lang="en-US" sz="2424" dirty="0">
                <a:solidFill>
                  <a:srgbClr val="8E97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علامةٌ تدلّ على سجلٍّ رقمي صادر عبر بروفاتو — لا على شهادة أصالة أو ملكية</a:t>
            </a:r>
            <a:endParaRPr lang="en-US" sz="2424" dirty="0"/>
          </a:p>
        </p:txBody>
      </p:sp>
      <p:sp>
        <p:nvSpPr>
          <p:cNvPr id="6" name="Text 3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C66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32 / 84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8E97A8">
                    <a:alpha val="6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SEAL VARIANTS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إصدارات الختم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058650" y="2752725"/>
            <a:ext cx="5181600" cy="2976563"/>
          </a:xfrm>
          <a:prstGeom prst="roundRect">
            <a:avLst>
              <a:gd name="adj" fmla="val 51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058650" y="2752725"/>
            <a:ext cx="5181600" cy="19192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554075" y="2616994"/>
            <a:ext cx="2190750" cy="219075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1949" y="3131344"/>
            <a:ext cx="495300" cy="495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878691" y="3683794"/>
            <a:ext cx="154166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رقمي موثّق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4105037" y="4055269"/>
            <a:ext cx="108912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#PRV-0482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2058650" y="4672013"/>
            <a:ext cx="5181600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12" name="Text 8"/>
          <p:cNvSpPr/>
          <p:nvPr/>
        </p:nvSpPr>
        <p:spPr>
          <a:xfrm>
            <a:off x="11837670" y="4852988"/>
            <a:ext cx="51549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252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PRIMARY SEAL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2306300" y="5205413"/>
            <a:ext cx="51549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الختم الأساسي</a:t>
            </a:r>
            <a:endParaRPr lang="en-US" sz="1875" dirty="0"/>
          </a:p>
        </p:txBody>
      </p:sp>
      <p:sp>
        <p:nvSpPr>
          <p:cNvPr id="14" name="Shape 10"/>
          <p:cNvSpPr/>
          <p:nvPr/>
        </p:nvSpPr>
        <p:spPr>
          <a:xfrm>
            <a:off x="6553200" y="2752725"/>
            <a:ext cx="5181600" cy="2976563"/>
          </a:xfrm>
          <a:prstGeom prst="roundRect">
            <a:avLst>
              <a:gd name="adj" fmla="val 51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53200" y="2752725"/>
            <a:ext cx="5181600" cy="1919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7451080" y="3231356"/>
            <a:ext cx="3385989" cy="962025"/>
          </a:xfrm>
          <a:prstGeom prst="roundRect">
            <a:avLst>
              <a:gd name="adj" fmla="val 13861"/>
            </a:avLst>
          </a:prstGeom>
          <a:solidFill>
            <a:srgbClr val="C9A86A">
              <a:alpha val="5000"/>
            </a:srgbClr>
          </a:solidFill>
          <a:ln w="9525">
            <a:solidFill>
              <a:srgbClr val="C9A86A">
                <a:alpha val="5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9844" y="3512344"/>
            <a:ext cx="400050" cy="40005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998869" y="3521869"/>
            <a:ext cx="9525" cy="38100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7708255" y="3393281"/>
            <a:ext cx="23310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رقمي موثّق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7708255" y="3764756"/>
            <a:ext cx="23310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Record ID · #PRV-0482</a:t>
            </a:r>
            <a:endParaRPr lang="en-US" sz="1575" dirty="0"/>
          </a:p>
        </p:txBody>
      </p:sp>
      <p:sp>
        <p:nvSpPr>
          <p:cNvPr id="21" name="Shape 16"/>
          <p:cNvSpPr/>
          <p:nvPr/>
        </p:nvSpPr>
        <p:spPr>
          <a:xfrm>
            <a:off x="6553200" y="4672013"/>
            <a:ext cx="5181600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2" name="Text 17"/>
          <p:cNvSpPr/>
          <p:nvPr/>
        </p:nvSpPr>
        <p:spPr>
          <a:xfrm>
            <a:off x="6332220" y="4852988"/>
            <a:ext cx="51549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252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HORIZONTAL SEAL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800850" y="5205413"/>
            <a:ext cx="51549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الختم الأفقي</a:t>
            </a:r>
            <a:endParaRPr lang="en-US" sz="1875" dirty="0"/>
          </a:p>
        </p:txBody>
      </p:sp>
      <p:sp>
        <p:nvSpPr>
          <p:cNvPr id="24" name="Shape 19"/>
          <p:cNvSpPr/>
          <p:nvPr/>
        </p:nvSpPr>
        <p:spPr>
          <a:xfrm>
            <a:off x="1047750" y="2752725"/>
            <a:ext cx="5181600" cy="2976563"/>
          </a:xfrm>
          <a:prstGeom prst="roundRect">
            <a:avLst>
              <a:gd name="adj" fmla="val 51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1047750" y="2752725"/>
            <a:ext cx="5181600" cy="1919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1"/>
          <p:cNvSpPr/>
          <p:nvPr/>
        </p:nvSpPr>
        <p:spPr>
          <a:xfrm>
            <a:off x="2737842" y="3121819"/>
            <a:ext cx="1801564" cy="504825"/>
          </a:xfrm>
          <a:prstGeom prst="roundRect">
            <a:avLst>
              <a:gd name="adj" fmla="val 50000"/>
            </a:avLst>
          </a:prstGeom>
          <a:solidFill>
            <a:srgbClr val="C9A86A">
              <a:alpha val="7000"/>
            </a:srgbClr>
          </a:solidFill>
          <a:ln w="9525">
            <a:solidFill>
              <a:srgbClr val="C9A86A">
                <a:alpha val="55000"/>
              </a:srgbClr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2937867" y="3217069"/>
            <a:ext cx="147771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رقمي موثّق</a:t>
            </a:r>
            <a:endParaRPr lang="en-US" sz="1650" dirty="0"/>
          </a:p>
        </p:txBody>
      </p:sp>
      <p:sp>
        <p:nvSpPr>
          <p:cNvPr id="28" name="Shape 23"/>
          <p:cNvSpPr/>
          <p:nvPr/>
        </p:nvSpPr>
        <p:spPr>
          <a:xfrm>
            <a:off x="2658219" y="3798094"/>
            <a:ext cx="1960662" cy="504825"/>
          </a:xfrm>
          <a:prstGeom prst="roundRect">
            <a:avLst>
              <a:gd name="adj" fmla="val 50000"/>
            </a:avLst>
          </a:prstGeom>
          <a:solidFill>
            <a:srgbClr val="12B5B0">
              <a:alpha val="8000"/>
            </a:srgbClr>
          </a:solidFill>
          <a:ln w="9525">
            <a:solidFill>
              <a:srgbClr val="12B5B0">
                <a:alpha val="4000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858244" y="3893344"/>
            <a:ext cx="16368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706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Provatto Record</a:t>
            </a:r>
            <a:endParaRPr lang="en-US" sz="1650" dirty="0"/>
          </a:p>
        </p:txBody>
      </p:sp>
      <p:sp>
        <p:nvSpPr>
          <p:cNvPr id="30" name="Shape 25"/>
          <p:cNvSpPr/>
          <p:nvPr/>
        </p:nvSpPr>
        <p:spPr>
          <a:xfrm>
            <a:off x="1047750" y="4672013"/>
            <a:ext cx="5181600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31" name="Text 26"/>
          <p:cNvSpPr/>
          <p:nvPr/>
        </p:nvSpPr>
        <p:spPr>
          <a:xfrm>
            <a:off x="826770" y="4852988"/>
            <a:ext cx="51549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252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 / DIGITAL-ONLY</a:t>
            </a:r>
            <a:endParaRPr lang="en-US" sz="1800" dirty="0"/>
          </a:p>
        </p:txBody>
      </p:sp>
      <p:sp>
        <p:nvSpPr>
          <p:cNvPr id="32" name="Text 27"/>
          <p:cNvSpPr/>
          <p:nvPr/>
        </p:nvSpPr>
        <p:spPr>
          <a:xfrm>
            <a:off x="1295400" y="5205413"/>
            <a:ext cx="51549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الختم المضغوط والرقمي</a:t>
            </a:r>
            <a:endParaRPr lang="en-US" sz="1875" dirty="0"/>
          </a:p>
        </p:txBody>
      </p:sp>
      <p:sp>
        <p:nvSpPr>
          <p:cNvPr id="33" name="Shape 28"/>
          <p:cNvSpPr/>
          <p:nvPr/>
        </p:nvSpPr>
        <p:spPr>
          <a:xfrm>
            <a:off x="12058650" y="6053138"/>
            <a:ext cx="5181600" cy="2976563"/>
          </a:xfrm>
          <a:prstGeom prst="roundRect">
            <a:avLst>
              <a:gd name="adj" fmla="val 51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12058650" y="6053138"/>
            <a:ext cx="5181600" cy="19192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92200" y="6155531"/>
            <a:ext cx="1714500" cy="1714500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14401949" y="6431756"/>
            <a:ext cx="495300" cy="495300"/>
          </a:xfrm>
          <a:prstGeom prst="rect">
            <a:avLst/>
          </a:prstGeom>
          <a:solidFill>
            <a:srgbClr val="0A111F"/>
          </a:solidFill>
          <a:ln/>
        </p:spPr>
      </p:sp>
      <p:sp>
        <p:nvSpPr>
          <p:cNvPr id="37" name="Text 31"/>
          <p:cNvSpPr/>
          <p:nvPr/>
        </p:nvSpPr>
        <p:spPr>
          <a:xfrm>
            <a:off x="13878691" y="6984206"/>
            <a:ext cx="154166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رقمي موثّق</a:t>
            </a:r>
            <a:endParaRPr lang="en-US" sz="1650" dirty="0"/>
          </a:p>
        </p:txBody>
      </p:sp>
      <p:sp>
        <p:nvSpPr>
          <p:cNvPr id="38" name="Text 32"/>
          <p:cNvSpPr/>
          <p:nvPr/>
        </p:nvSpPr>
        <p:spPr>
          <a:xfrm>
            <a:off x="14105037" y="7355681"/>
            <a:ext cx="108912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65E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#PRV-0482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12058650" y="7972425"/>
            <a:ext cx="5181600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40" name="Text 34"/>
          <p:cNvSpPr/>
          <p:nvPr/>
        </p:nvSpPr>
        <p:spPr>
          <a:xfrm>
            <a:off x="11837670" y="8153400"/>
            <a:ext cx="51549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252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MONOCHROME SEAL</a:t>
            </a:r>
            <a:endParaRPr lang="en-US" sz="1800" dirty="0"/>
          </a:p>
        </p:txBody>
      </p:sp>
      <p:sp>
        <p:nvSpPr>
          <p:cNvPr id="41" name="Text 35"/>
          <p:cNvSpPr/>
          <p:nvPr/>
        </p:nvSpPr>
        <p:spPr>
          <a:xfrm>
            <a:off x="12306300" y="8505825"/>
            <a:ext cx="51549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الختم الأحادي</a:t>
            </a:r>
            <a:endParaRPr lang="en-US" sz="1875" dirty="0"/>
          </a:p>
        </p:txBody>
      </p:sp>
      <p:sp>
        <p:nvSpPr>
          <p:cNvPr id="42" name="Shape 36"/>
          <p:cNvSpPr/>
          <p:nvPr/>
        </p:nvSpPr>
        <p:spPr>
          <a:xfrm>
            <a:off x="6553200" y="6053138"/>
            <a:ext cx="5181600" cy="2976563"/>
          </a:xfrm>
          <a:prstGeom prst="roundRect">
            <a:avLst>
              <a:gd name="adj" fmla="val 51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6553200" y="6053138"/>
            <a:ext cx="5181600" cy="1919288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44" name="Shape 38"/>
          <p:cNvSpPr/>
          <p:nvPr/>
        </p:nvSpPr>
        <p:spPr>
          <a:xfrm>
            <a:off x="8191500" y="6060281"/>
            <a:ext cx="1905000" cy="1905000"/>
          </a:xfrm>
          <a:prstGeom prst="ellipse">
            <a:avLst/>
          </a:prstGeom>
          <a:gradFill rotWithShape="1">
            <a:gsLst>
              <a:gs pos="0">
                <a:srgbClr val="EEEBE4">
                  <a:alpha val="100000"/>
                </a:srgbClr>
              </a:gs>
              <a:gs pos="100000">
                <a:srgbClr val="DDD6C7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133350" dist="38100" dir="5400000">
              <a:srgbClr val="0A111F">
                <a:alpha val="10000"/>
              </a:srgbClr>
            </a:outerShdw>
          </a:effectLst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0" y="6060281"/>
            <a:ext cx="1905000" cy="1905000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6553200" y="7972425"/>
            <a:ext cx="5181600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47" name="Text 40"/>
          <p:cNvSpPr/>
          <p:nvPr/>
        </p:nvSpPr>
        <p:spPr>
          <a:xfrm>
            <a:off x="6332220" y="8153400"/>
            <a:ext cx="51549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252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EMBOSSED PRINT</a:t>
            </a:r>
            <a:endParaRPr lang="en-US" sz="1800" dirty="0"/>
          </a:p>
        </p:txBody>
      </p:sp>
      <p:sp>
        <p:nvSpPr>
          <p:cNvPr id="48" name="Text 41"/>
          <p:cNvSpPr/>
          <p:nvPr/>
        </p:nvSpPr>
        <p:spPr>
          <a:xfrm>
            <a:off x="6800850" y="8505825"/>
            <a:ext cx="51549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التطبيق المطبوع البارز</a:t>
            </a:r>
            <a:endParaRPr lang="en-US" sz="1875" dirty="0"/>
          </a:p>
        </p:txBody>
      </p:sp>
      <p:sp>
        <p:nvSpPr>
          <p:cNvPr id="49" name="Shape 42"/>
          <p:cNvSpPr/>
          <p:nvPr/>
        </p:nvSpPr>
        <p:spPr>
          <a:xfrm>
            <a:off x="1047750" y="6053138"/>
            <a:ext cx="5181600" cy="2976563"/>
          </a:xfrm>
          <a:prstGeom prst="roundRect">
            <a:avLst>
              <a:gd name="adj" fmla="val 51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50" name="Shape 43"/>
          <p:cNvSpPr/>
          <p:nvPr/>
        </p:nvSpPr>
        <p:spPr>
          <a:xfrm>
            <a:off x="1047750" y="6053138"/>
            <a:ext cx="5181600" cy="1919288"/>
          </a:xfrm>
          <a:prstGeom prst="rect">
            <a:avLst/>
          </a:prstGeom>
          <a:solidFill>
            <a:srgbClr val="0A111F"/>
          </a:solidFill>
          <a:ln/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81300" y="6155531"/>
            <a:ext cx="1714500" cy="1714500"/>
          </a:xfrm>
          <a:prstGeom prst="rect">
            <a:avLst/>
          </a:prstGeom>
        </p:spPr>
      </p:pic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91049" y="6431756"/>
            <a:ext cx="495300" cy="495300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2867791" y="6984206"/>
            <a:ext cx="154166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D8BF8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رقمي موثّق</a:t>
            </a:r>
            <a:endParaRPr lang="en-US" sz="1650" dirty="0"/>
          </a:p>
        </p:txBody>
      </p:sp>
      <p:sp>
        <p:nvSpPr>
          <p:cNvPr id="54" name="Text 45"/>
          <p:cNvSpPr/>
          <p:nvPr/>
        </p:nvSpPr>
        <p:spPr>
          <a:xfrm>
            <a:off x="3094137" y="7355681"/>
            <a:ext cx="108912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E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#PRV-0482</a:t>
            </a:r>
            <a:endParaRPr lang="en-US" sz="1500" dirty="0"/>
          </a:p>
        </p:txBody>
      </p:sp>
      <p:sp>
        <p:nvSpPr>
          <p:cNvPr id="55" name="Shape 46"/>
          <p:cNvSpPr/>
          <p:nvPr/>
        </p:nvSpPr>
        <p:spPr>
          <a:xfrm>
            <a:off x="1047750" y="7972425"/>
            <a:ext cx="5181600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56" name="Text 47"/>
          <p:cNvSpPr/>
          <p:nvPr/>
        </p:nvSpPr>
        <p:spPr>
          <a:xfrm>
            <a:off x="826770" y="8153400"/>
            <a:ext cx="51549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252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REVERSED SEAL</a:t>
            </a:r>
            <a:endParaRPr lang="en-US" sz="1800" dirty="0"/>
          </a:p>
        </p:txBody>
      </p:sp>
      <p:sp>
        <p:nvSpPr>
          <p:cNvPr id="57" name="Text 48"/>
          <p:cNvSpPr/>
          <p:nvPr/>
        </p:nvSpPr>
        <p:spPr>
          <a:xfrm>
            <a:off x="1295400" y="8505825"/>
            <a:ext cx="51549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الختم على الداكن</a:t>
            </a:r>
            <a:endParaRPr lang="en-US" sz="1875" dirty="0"/>
          </a:p>
        </p:txBody>
      </p:sp>
      <p:sp>
        <p:nvSpPr>
          <p:cNvPr id="58" name="Text 49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33 / 84</a:t>
            </a:r>
            <a:endParaRPr lang="en-US" sz="1800" dirty="0"/>
          </a:p>
        </p:txBody>
      </p:sp>
      <p:sp>
        <p:nvSpPr>
          <p:cNvPr id="59" name="Text 50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CONSTRUCTION &amp; RULES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بناء الختم وضوابطه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410700" y="2752725"/>
            <a:ext cx="7829550" cy="3514725"/>
          </a:xfrm>
          <a:prstGeom prst="roundRect">
            <a:avLst>
              <a:gd name="adj" fmla="val 43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987213" y="3171825"/>
            <a:ext cx="2676525" cy="2676525"/>
          </a:xfrm>
          <a:prstGeom prst="rect">
            <a:avLst/>
          </a:prstGeom>
          <a:ln w="14288">
            <a:solidFill>
              <a:srgbClr val="C4CAD4"/>
            </a:solidFill>
            <a:prstDash val="dash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420600" y="3605213"/>
            <a:ext cx="1809750" cy="180975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7974" y="4076700"/>
            <a:ext cx="495300" cy="495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554716" y="4629150"/>
            <a:ext cx="154166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رقمي موثّق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16201876" y="6719888"/>
            <a:ext cx="1038374" cy="390525"/>
          </a:xfrm>
          <a:prstGeom prst="roundRect">
            <a:avLst>
              <a:gd name="adj" fmla="val 50000"/>
            </a:avLst>
          </a:prstGeom>
          <a:solidFill>
            <a:srgbClr val="C9A86A">
              <a:alpha val="7000"/>
            </a:srgbClr>
          </a:solidFill>
          <a:ln w="9525">
            <a:solidFill>
              <a:srgbClr val="C9A86A">
                <a:alpha val="5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6344751" y="6786563"/>
            <a:ext cx="8288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موثّق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5459819" y="6762750"/>
            <a:ext cx="6087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96px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9410700" y="6515100"/>
            <a:ext cx="591664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مساحة أمانٍ دائرية بمقدار نصف قطر الحلقة الخارجية؛ الحد الأدنى للختم الدائري 96px.</a:t>
            </a:r>
            <a:endParaRPr lang="en-US" sz="1894" dirty="0"/>
          </a:p>
        </p:txBody>
      </p:sp>
      <p:sp>
        <p:nvSpPr>
          <p:cNvPr id="14" name="Text 10"/>
          <p:cNvSpPr/>
          <p:nvPr/>
        </p:nvSpPr>
        <p:spPr>
          <a:xfrm>
            <a:off x="1047750" y="2752725"/>
            <a:ext cx="861250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24" b="1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تجنّب في الختم</a:t>
            </a:r>
            <a:endParaRPr lang="en-US" sz="2424" dirty="0"/>
          </a:p>
        </p:txBody>
      </p:sp>
      <p:sp>
        <p:nvSpPr>
          <p:cNvPr id="15" name="Shape 11"/>
          <p:cNvSpPr/>
          <p:nvPr/>
        </p:nvSpPr>
        <p:spPr>
          <a:xfrm>
            <a:off x="6445300" y="3438525"/>
            <a:ext cx="2432000" cy="2428875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820942" y="3900488"/>
            <a:ext cx="1680716" cy="504825"/>
          </a:xfrm>
          <a:prstGeom prst="roundRect">
            <a:avLst>
              <a:gd name="adj" fmla="val 50000"/>
            </a:avLst>
          </a:prstGeom>
          <a:solidFill>
            <a:srgbClr val="12B5B0"/>
          </a:solidFill>
          <a:ln w="9525">
            <a:solidFill>
              <a:srgbClr val="12B5B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020967" y="3995738"/>
            <a:ext cx="135686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مضمون الأصالة</a:t>
            </a:r>
            <a:endParaRPr lang="en-US" sz="1650" dirty="0"/>
          </a:p>
        </p:txBody>
      </p:sp>
      <p:sp>
        <p:nvSpPr>
          <p:cNvPr id="18" name="Shape 14"/>
          <p:cNvSpPr/>
          <p:nvPr/>
        </p:nvSpPr>
        <p:spPr>
          <a:xfrm>
            <a:off x="6445300" y="4867275"/>
            <a:ext cx="2432000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19" name="Text 15"/>
          <p:cNvSpPr/>
          <p:nvPr/>
        </p:nvSpPr>
        <p:spPr>
          <a:xfrm>
            <a:off x="6654850" y="5029200"/>
            <a:ext cx="20891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صياغة تُوحي بضمان الأصالة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3746599" y="3438525"/>
            <a:ext cx="2432000" cy="2428875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746599" y="5210175"/>
            <a:ext cx="2432000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2" name="Text 18"/>
          <p:cNvSpPr/>
          <p:nvPr/>
        </p:nvSpPr>
        <p:spPr>
          <a:xfrm>
            <a:off x="3956149" y="5372100"/>
            <a:ext cx="208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تعبئة الختم بلونٍ صريح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047750" y="3438525"/>
            <a:ext cx="2432149" cy="2428875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 rot="-840000">
            <a:off x="1601828" y="4071865"/>
            <a:ext cx="1323975" cy="504825"/>
          </a:xfrm>
          <a:prstGeom prst="roundRect">
            <a:avLst>
              <a:gd name="adj" fmla="val 50000"/>
            </a:avLst>
          </a:prstGeom>
          <a:solidFill>
            <a:srgbClr val="C9A86A">
              <a:alpha val="7000"/>
            </a:srgbClr>
          </a:solidFill>
          <a:ln w="9525">
            <a:solidFill>
              <a:srgbClr val="C9A86A">
                <a:alpha val="55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 rot="-840000">
            <a:off x="1801853" y="4167116"/>
            <a:ext cx="1000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موثّق</a:t>
            </a:r>
            <a:endParaRPr lang="en-US" sz="1650" dirty="0"/>
          </a:p>
        </p:txBody>
      </p:sp>
      <p:sp>
        <p:nvSpPr>
          <p:cNvPr id="26" name="Shape 22"/>
          <p:cNvSpPr/>
          <p:nvPr/>
        </p:nvSpPr>
        <p:spPr>
          <a:xfrm>
            <a:off x="1047750" y="5210175"/>
            <a:ext cx="2432149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7" name="Text 23"/>
          <p:cNvSpPr/>
          <p:nvPr/>
        </p:nvSpPr>
        <p:spPr>
          <a:xfrm>
            <a:off x="1257300" y="5372100"/>
            <a:ext cx="20892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التدوير أو التشويه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1047750" y="6153150"/>
            <a:ext cx="7829550" cy="1371600"/>
          </a:xfrm>
          <a:prstGeom prst="roundRect">
            <a:avLst>
              <a:gd name="adj" fmla="val 9722"/>
            </a:avLst>
          </a:prstGeom>
          <a:solidFill>
            <a:srgbClr val="EEEBE4"/>
          </a:solidFill>
          <a:ln w="9525">
            <a:solidFill>
              <a:srgbClr val="C9A86A">
                <a:alpha val="32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400175" y="6410325"/>
            <a:ext cx="735958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838"/>
              </a:lnSpc>
              <a:buNone/>
            </a:pPr>
            <a:r>
              <a:rPr lang="en-US" sz="189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الختم يدلّ فقط </a:t>
            </a:r>
            <a:pPr algn="l" indent="0" marL="0">
              <a:lnSpc>
                <a:spcPct val="122838"/>
              </a:lnSpc>
              <a:buNone/>
            </a:pPr>
            <a:r>
              <a:rPr lang="en-US" sz="1894" dirty="0">
                <a:solidFill>
                  <a:srgbClr val="565E6C"/>
                </a:solidFill>
                <a:highlight>
                  <a:srgbClr val="EEEBE4"/>
                </a:highlight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على وجود سجلٍّ رقمي صادر عبر بروفاتو — ولا يعني ضمان أصالة الساعة، ولا اعتماداً حكومياً، ولا سند ملكيةٍ قانونياً.</a:t>
            </a:r>
            <a:endParaRPr lang="en-US" sz="1894" dirty="0"/>
          </a:p>
        </p:txBody>
      </p:sp>
      <p:sp>
        <p:nvSpPr>
          <p:cNvPr id="30" name="Text 26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34 / 84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SEAL IN APPLICATION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الختم في التطبيقات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435013" y="2752725"/>
            <a:ext cx="3805237" cy="6276975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35013" y="2752725"/>
            <a:ext cx="3805237" cy="55721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7" name="Shape 5"/>
          <p:cNvSpPr/>
          <p:nvPr/>
        </p:nvSpPr>
        <p:spPr>
          <a:xfrm>
            <a:off x="13758863" y="4452938"/>
            <a:ext cx="3157538" cy="217170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122128" y="4776788"/>
            <a:ext cx="161746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تفاصيل السجلّ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5377071" y="5262563"/>
            <a:ext cx="133702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#PRV-0482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4790986" y="5795963"/>
            <a:ext cx="1801564" cy="504825"/>
          </a:xfrm>
          <a:prstGeom prst="roundRect">
            <a:avLst>
              <a:gd name="adj" fmla="val 50000"/>
            </a:avLst>
          </a:prstGeom>
          <a:solidFill>
            <a:srgbClr val="C9A86A">
              <a:alpha val="7000"/>
            </a:srgbClr>
          </a:solidFill>
          <a:ln w="9525">
            <a:solidFill>
              <a:srgbClr val="C9A86A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991011" y="5891213"/>
            <a:ext cx="147771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رقمي موثّق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435013" y="8324850"/>
            <a:ext cx="3805237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13" name="Text 11"/>
          <p:cNvSpPr/>
          <p:nvPr/>
        </p:nvSpPr>
        <p:spPr>
          <a:xfrm>
            <a:off x="13682663" y="8505825"/>
            <a:ext cx="36409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داخل السجلّ الرقمي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305925" y="2752725"/>
            <a:ext cx="3805237" cy="6276975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05925" y="2752725"/>
            <a:ext cx="3805237" cy="55721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94169" y="4528691"/>
            <a:ext cx="1428750" cy="202019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FECE4"/>
            </a:solidFill>
            <a:prstDash val="solid"/>
          </a:ln>
          <a:effectLst>
            <a:outerShdw sx="100000" sy="100000" kx="0" ky="0" algn="bl" rotWithShape="0" blurRad="190500" dist="57150" dir="5400000">
              <a:srgbClr val="0A111F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1098113" y="4690616"/>
            <a:ext cx="662880" cy="57150"/>
          </a:xfrm>
          <a:prstGeom prst="roundRect">
            <a:avLst>
              <a:gd name="adj" fmla="val 50000"/>
            </a:avLst>
          </a:prstGeom>
          <a:solidFill>
            <a:srgbClr val="E7E2D9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66673" y="4814441"/>
            <a:ext cx="994321" cy="47625"/>
          </a:xfrm>
          <a:prstGeom prst="roundRect">
            <a:avLst>
              <a:gd name="adj" fmla="val 50000"/>
            </a:avLst>
          </a:prstGeom>
          <a:solidFill>
            <a:srgbClr val="EDE9E1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77104" y="4928741"/>
            <a:ext cx="883890" cy="47625"/>
          </a:xfrm>
          <a:prstGeom prst="roundRect">
            <a:avLst>
              <a:gd name="adj" fmla="val 50000"/>
            </a:avLst>
          </a:prstGeom>
          <a:solidFill>
            <a:srgbClr val="EDE9E1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2369" y="5824984"/>
            <a:ext cx="228600" cy="4953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9305925" y="8324850"/>
            <a:ext cx="3805237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2" name="Text 19"/>
          <p:cNvSpPr/>
          <p:nvPr/>
        </p:nvSpPr>
        <p:spPr>
          <a:xfrm>
            <a:off x="9553575" y="8505825"/>
            <a:ext cx="36409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على ملفّات PDF</a:t>
            </a:r>
            <a:endParaRPr lang="en-US" sz="1875" dirty="0"/>
          </a:p>
        </p:txBody>
      </p:sp>
      <p:sp>
        <p:nvSpPr>
          <p:cNvPr id="23" name="Shape 20"/>
          <p:cNvSpPr/>
          <p:nvPr/>
        </p:nvSpPr>
        <p:spPr>
          <a:xfrm>
            <a:off x="5176838" y="2752725"/>
            <a:ext cx="3805237" cy="6276975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176838" y="2752725"/>
            <a:ext cx="3805237" cy="5572125"/>
          </a:xfrm>
          <a:prstGeom prst="rect">
            <a:avLst/>
          </a:prstGeom>
          <a:solidFill>
            <a:srgbClr val="0A111F"/>
          </a:solidFill>
          <a:ln/>
        </p:spPr>
      </p:sp>
      <p:sp>
        <p:nvSpPr>
          <p:cNvPr id="25" name="Shape 22"/>
          <p:cNvSpPr/>
          <p:nvPr/>
        </p:nvSpPr>
        <p:spPr>
          <a:xfrm>
            <a:off x="6100619" y="4655915"/>
            <a:ext cx="1957674" cy="1765745"/>
          </a:xfrm>
          <a:prstGeom prst="roundRect">
            <a:avLst>
              <a:gd name="adj" fmla="val 7358"/>
            </a:avLst>
          </a:prstGeom>
          <a:gradFill rotWithShape="1">
            <a:gsLst>
              <a:gs pos="0">
                <a:srgbClr val="132038">
                  <a:alpha val="100000"/>
                </a:srgbClr>
              </a:gs>
              <a:gs pos="100000">
                <a:srgbClr val="0A111F">
                  <a:alpha val="100000"/>
                </a:srgbClr>
              </a:gs>
            </a:gsLst>
            <a:lin ang="4200000" scaled="0"/>
          </a:gradFill>
          <a:ln w="5906">
            <a:solidFill>
              <a:srgbClr val="C9A86A">
                <a:alpha val="35000"/>
              </a:srgbClr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9397" y="4838986"/>
            <a:ext cx="885825" cy="442913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6283690" y="4838986"/>
            <a:ext cx="705707" cy="460629"/>
          </a:xfrm>
          <a:prstGeom prst="roundRect">
            <a:avLst>
              <a:gd name="adj" fmla="val 50000"/>
            </a:avLst>
          </a:prstGeom>
          <a:solidFill>
            <a:srgbClr val="12B5B0">
              <a:alpha val="14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6389989" y="4880324"/>
            <a:ext cx="569309" cy="416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7" b="1" dirty="0">
                <a:solidFill>
                  <a:srgbClr val="5ED2C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نشط</a:t>
            </a:r>
            <a:endParaRPr lang="en-US" sz="977" dirty="0"/>
          </a:p>
        </p:txBody>
      </p:sp>
      <p:sp>
        <p:nvSpPr>
          <p:cNvPr id="29" name="Shape 25"/>
          <p:cNvSpPr/>
          <p:nvPr/>
        </p:nvSpPr>
        <p:spPr>
          <a:xfrm>
            <a:off x="6283690" y="5429536"/>
            <a:ext cx="1591532" cy="809053"/>
          </a:xfrm>
          <a:prstGeom prst="roundRect">
            <a:avLst>
              <a:gd name="adj" fmla="val 10219"/>
            </a:avLst>
          </a:prstGeom>
          <a:solidFill>
            <a:srgbClr val="C9A86A">
              <a:alpha val="8000"/>
            </a:srgbClr>
          </a:solidFill>
          <a:ln w="5906">
            <a:solidFill>
              <a:srgbClr val="C9A86A">
                <a:alpha val="50000"/>
              </a:srgbClr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743" y="5710047"/>
            <a:ext cx="248031" cy="248031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443139" y="5529929"/>
            <a:ext cx="994505" cy="463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16" b="1" dirty="0">
                <a:solidFill>
                  <a:srgbClr val="D8BF8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رقمي موثّق</a:t>
            </a:r>
            <a:endParaRPr lang="en-US" sz="1116" dirty="0"/>
          </a:p>
        </p:txBody>
      </p:sp>
      <p:sp>
        <p:nvSpPr>
          <p:cNvPr id="32" name="Text 27"/>
          <p:cNvSpPr/>
          <p:nvPr/>
        </p:nvSpPr>
        <p:spPr>
          <a:xfrm>
            <a:off x="6443139" y="5972842"/>
            <a:ext cx="994505" cy="203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7" dirty="0">
                <a:solidFill>
                  <a:srgbClr val="8E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#PRV-0482</a:t>
            </a:r>
            <a:endParaRPr lang="en-US" sz="977" dirty="0"/>
          </a:p>
        </p:txBody>
      </p:sp>
      <p:sp>
        <p:nvSpPr>
          <p:cNvPr id="33" name="Shape 28"/>
          <p:cNvSpPr/>
          <p:nvPr/>
        </p:nvSpPr>
        <p:spPr>
          <a:xfrm>
            <a:off x="5176838" y="8324850"/>
            <a:ext cx="3805237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34" name="Text 29"/>
          <p:cNvSpPr/>
          <p:nvPr/>
        </p:nvSpPr>
        <p:spPr>
          <a:xfrm>
            <a:off x="5424488" y="8505825"/>
            <a:ext cx="36409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على بطاقة المالك</a:t>
            </a:r>
            <a:endParaRPr lang="en-US" sz="1875" dirty="0"/>
          </a:p>
        </p:txBody>
      </p:sp>
      <p:sp>
        <p:nvSpPr>
          <p:cNvPr id="35" name="Shape 30"/>
          <p:cNvSpPr/>
          <p:nvPr/>
        </p:nvSpPr>
        <p:spPr>
          <a:xfrm>
            <a:off x="1047750" y="2752725"/>
            <a:ext cx="3805237" cy="6276975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1047750" y="2752725"/>
            <a:ext cx="3805237" cy="55721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37" name="Shape 32"/>
          <p:cNvSpPr/>
          <p:nvPr/>
        </p:nvSpPr>
        <p:spPr>
          <a:xfrm>
            <a:off x="2293144" y="4110038"/>
            <a:ext cx="1314450" cy="2857500"/>
          </a:xfrm>
          <a:prstGeom prst="roundRect">
            <a:avLst>
              <a:gd name="adj" fmla="val 159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76200" dir="5400000">
              <a:srgbClr val="0A111F">
                <a:alpha val="14000"/>
              </a:srgbClr>
            </a:outerShdw>
          </a:effectLst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65971" y="4808339"/>
            <a:ext cx="755898" cy="755898"/>
          </a:xfrm>
          <a:prstGeom prst="rect">
            <a:avLst/>
          </a:prstGeom>
        </p:spPr>
      </p:pic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6"/>
          <a:srcRect l="17308" r="17308" t="0" b="0"/>
          <a:stretch/>
        </p:blipFill>
        <p:spPr>
          <a:xfrm>
            <a:off x="2410569" y="4710113"/>
            <a:ext cx="323850" cy="49530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2340769" y="5262563"/>
            <a:ext cx="46330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موثّق</a:t>
            </a:r>
            <a:endParaRPr lang="en-US" sz="1050" dirty="0"/>
          </a:p>
        </p:txBody>
      </p:sp>
      <p:sp>
        <p:nvSpPr>
          <p:cNvPr id="41" name="Text 34"/>
          <p:cNvSpPr/>
          <p:nvPr/>
        </p:nvSpPr>
        <p:spPr>
          <a:xfrm>
            <a:off x="2293144" y="5891213"/>
            <a:ext cx="13906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الساعة نشط</a:t>
            </a:r>
            <a:endParaRPr lang="en-US" sz="1500" dirty="0"/>
          </a:p>
        </p:txBody>
      </p:sp>
      <p:sp>
        <p:nvSpPr>
          <p:cNvPr id="42" name="Shape 35"/>
          <p:cNvSpPr/>
          <p:nvPr/>
        </p:nvSpPr>
        <p:spPr>
          <a:xfrm>
            <a:off x="1047750" y="8324850"/>
            <a:ext cx="3805237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43" name="Text 36"/>
          <p:cNvSpPr/>
          <p:nvPr/>
        </p:nvSpPr>
        <p:spPr>
          <a:xfrm>
            <a:off x="1295400" y="8505825"/>
            <a:ext cx="36409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داخل التطبيق</a:t>
            </a:r>
            <a:endParaRPr lang="en-US" sz="1875" dirty="0"/>
          </a:p>
        </p:txBody>
      </p:sp>
      <p:sp>
        <p:nvSpPr>
          <p:cNvPr id="44" name="Text 37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35 / 84</a:t>
            </a:r>
            <a:endParaRPr lang="en-US" sz="1800" dirty="0"/>
          </a:p>
        </p:txBody>
      </p:sp>
      <p:sp>
        <p:nvSpPr>
          <p:cNvPr id="45" name="Text 38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524000" y="5905500"/>
            <a:ext cx="5905500" cy="5905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571500" y="3733800"/>
            <a:ext cx="178117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spc="675" kern="0" dirty="0">
                <a:solidFill>
                  <a:srgbClr val="D8BF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— Record Card &amp; Document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047750" y="4295775"/>
            <a:ext cx="17811750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6300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بطاقة السجلّ ووثيقته</a:t>
            </a:r>
            <a:endParaRPr lang="en-US" sz="6300" dirty="0"/>
          </a:p>
        </p:txBody>
      </p:sp>
      <p:sp>
        <p:nvSpPr>
          <p:cNvPr id="5" name="Text 2"/>
          <p:cNvSpPr/>
          <p:nvPr/>
        </p:nvSpPr>
        <p:spPr>
          <a:xfrm>
            <a:off x="1047750" y="5657850"/>
            <a:ext cx="1667827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467"/>
              </a:lnSpc>
              <a:buNone/>
            </a:pPr>
            <a:r>
              <a:rPr lang="en-US" sz="2424" dirty="0">
                <a:solidFill>
                  <a:srgbClr val="8E97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بطاقة السجلّ الرقمي · ملخّص السجلّ — توثيقٌ لوجود سجلٍّ داخل بروفاتو</a:t>
            </a:r>
            <a:endParaRPr lang="en-US" sz="2424" dirty="0"/>
          </a:p>
        </p:txBody>
      </p:sp>
      <p:sp>
        <p:nvSpPr>
          <p:cNvPr id="6" name="Text 3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C66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36 / 84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8E97A8">
                    <a:alpha val="6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RECORD CARD · LIGHT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بطاقة السجلّ الرقمي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410700" y="2847975"/>
            <a:ext cx="4953000" cy="552450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 w="9525">
            <a:solidFill>
              <a:srgbClr val="EFECE4"/>
            </a:solidFill>
            <a:prstDash val="solid"/>
          </a:ln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5375" y="3238500"/>
            <a:ext cx="1428750" cy="71437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820275" y="3238500"/>
            <a:ext cx="1201341" cy="438150"/>
          </a:xfrm>
          <a:prstGeom prst="roundRect">
            <a:avLst>
              <a:gd name="adj" fmla="val 50000"/>
            </a:avLst>
          </a:prstGeom>
          <a:solidFill>
            <a:srgbClr val="E7F5EE"/>
          </a:solidFill>
          <a:ln/>
        </p:spPr>
      </p:sp>
      <p:sp>
        <p:nvSpPr>
          <p:cNvPr id="8" name="Text 5"/>
          <p:cNvSpPr/>
          <p:nvPr/>
        </p:nvSpPr>
        <p:spPr>
          <a:xfrm>
            <a:off x="9991725" y="3305175"/>
            <a:ext cx="9346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B706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نشط</a:t>
            </a:r>
            <a:endParaRPr lang="en-US" sz="1575" dirty="0"/>
          </a:p>
        </p:txBody>
      </p:sp>
      <p:sp>
        <p:nvSpPr>
          <p:cNvPr id="9" name="Text 6"/>
          <p:cNvSpPr/>
          <p:nvPr/>
        </p:nvSpPr>
        <p:spPr>
          <a:xfrm>
            <a:off x="12030075" y="4162425"/>
            <a:ext cx="21164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اسم المالك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030075" y="4486275"/>
            <a:ext cx="211645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زياد الوشمي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9820275" y="4162425"/>
            <a:ext cx="21164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Record ID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627870" y="4486275"/>
            <a:ext cx="21164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#PRV-0482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2030075" y="5048250"/>
            <a:ext cx="21164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الرقم المرجعي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837670" y="5372100"/>
            <a:ext cx="21164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AB-2104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820275" y="5048250"/>
            <a:ext cx="21164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الرقم التسلسلي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627870" y="5372100"/>
            <a:ext cx="21164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SR-88192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12030075" y="5886450"/>
            <a:ext cx="21164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تاريخ إنشاء السجلّ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1837670" y="6210300"/>
            <a:ext cx="21164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Jan 2026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9820275" y="5886450"/>
            <a:ext cx="21164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حالة السجلّ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820275" y="6210300"/>
            <a:ext cx="211645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موثّق رقمياً</a:t>
            </a:r>
            <a:endParaRPr lang="en-US" sz="1950" dirty="0"/>
          </a:p>
        </p:txBody>
      </p:sp>
      <p:sp>
        <p:nvSpPr>
          <p:cNvPr id="21" name="Shape 18"/>
          <p:cNvSpPr/>
          <p:nvPr/>
        </p:nvSpPr>
        <p:spPr>
          <a:xfrm>
            <a:off x="9820275" y="6791325"/>
            <a:ext cx="4133850" cy="9525"/>
          </a:xfrm>
          <a:prstGeom prst="rect">
            <a:avLst/>
          </a:prstGeom>
          <a:solidFill>
            <a:srgbClr val="EFECE4"/>
          </a:solidFill>
          <a:ln/>
        </p:spPr>
      </p:sp>
      <p:sp>
        <p:nvSpPr>
          <p:cNvPr id="22" name="Shape 19"/>
          <p:cNvSpPr/>
          <p:nvPr/>
        </p:nvSpPr>
        <p:spPr>
          <a:xfrm>
            <a:off x="12152561" y="7477125"/>
            <a:ext cx="1801564" cy="504825"/>
          </a:xfrm>
          <a:prstGeom prst="roundRect">
            <a:avLst>
              <a:gd name="adj" fmla="val 50000"/>
            </a:avLst>
          </a:prstGeom>
          <a:solidFill>
            <a:srgbClr val="C9A86A">
              <a:alpha val="7000"/>
            </a:srgbClr>
          </a:solidFill>
          <a:ln w="9525">
            <a:solidFill>
              <a:srgbClr val="C9A86A">
                <a:alpha val="5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352586" y="7572375"/>
            <a:ext cx="147771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رقمي موثّق</a:t>
            </a:r>
            <a:endParaRPr lang="en-US" sz="1650" dirty="0"/>
          </a:p>
        </p:txBody>
      </p:sp>
      <p:sp>
        <p:nvSpPr>
          <p:cNvPr id="24" name="Shape 21"/>
          <p:cNvSpPr/>
          <p:nvPr/>
        </p:nvSpPr>
        <p:spPr>
          <a:xfrm>
            <a:off x="9820275" y="6991350"/>
            <a:ext cx="9906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E7E2D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632728" y="7077075"/>
            <a:ext cx="92422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26" name="Shape 23"/>
          <p:cNvSpPr/>
          <p:nvPr/>
        </p:nvSpPr>
        <p:spPr>
          <a:xfrm>
            <a:off x="10511582" y="7077075"/>
            <a:ext cx="92571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27" name="Shape 24"/>
          <p:cNvSpPr/>
          <p:nvPr/>
        </p:nvSpPr>
        <p:spPr>
          <a:xfrm>
            <a:off x="10269438" y="7077075"/>
            <a:ext cx="92422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28" name="Shape 25"/>
          <p:cNvSpPr/>
          <p:nvPr/>
        </p:nvSpPr>
        <p:spPr>
          <a:xfrm>
            <a:off x="10027146" y="7077075"/>
            <a:ext cx="92571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29" name="Shape 26"/>
          <p:cNvSpPr/>
          <p:nvPr/>
        </p:nvSpPr>
        <p:spPr>
          <a:xfrm>
            <a:off x="9906149" y="7077075"/>
            <a:ext cx="92422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30" name="Shape 27"/>
          <p:cNvSpPr/>
          <p:nvPr/>
        </p:nvSpPr>
        <p:spPr>
          <a:xfrm>
            <a:off x="10632728" y="7198072"/>
            <a:ext cx="92422" cy="92571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31" name="Shape 28"/>
          <p:cNvSpPr/>
          <p:nvPr/>
        </p:nvSpPr>
        <p:spPr>
          <a:xfrm>
            <a:off x="10390436" y="7198072"/>
            <a:ext cx="92571" cy="92571"/>
          </a:xfrm>
          <a:prstGeom prst="roundRect">
            <a:avLst>
              <a:gd name="adj" fmla="val 20579"/>
            </a:avLst>
          </a:prstGeom>
          <a:solidFill>
            <a:srgbClr val="0A111F"/>
          </a:solidFill>
          <a:ln/>
        </p:spPr>
      </p:sp>
      <p:sp>
        <p:nvSpPr>
          <p:cNvPr id="32" name="Shape 29"/>
          <p:cNvSpPr/>
          <p:nvPr/>
        </p:nvSpPr>
        <p:spPr>
          <a:xfrm>
            <a:off x="10148292" y="7198072"/>
            <a:ext cx="92571" cy="92571"/>
          </a:xfrm>
          <a:prstGeom prst="roundRect">
            <a:avLst>
              <a:gd name="adj" fmla="val 20579"/>
            </a:avLst>
          </a:prstGeom>
          <a:solidFill>
            <a:srgbClr val="0A111F"/>
          </a:solidFill>
          <a:ln/>
        </p:spPr>
      </p:sp>
      <p:sp>
        <p:nvSpPr>
          <p:cNvPr id="33" name="Shape 30"/>
          <p:cNvSpPr/>
          <p:nvPr/>
        </p:nvSpPr>
        <p:spPr>
          <a:xfrm>
            <a:off x="9906149" y="7198072"/>
            <a:ext cx="92422" cy="92571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34" name="Shape 31"/>
          <p:cNvSpPr/>
          <p:nvPr/>
        </p:nvSpPr>
        <p:spPr>
          <a:xfrm>
            <a:off x="10511582" y="7319218"/>
            <a:ext cx="92571" cy="92571"/>
          </a:xfrm>
          <a:prstGeom prst="roundRect">
            <a:avLst>
              <a:gd name="adj" fmla="val 20579"/>
            </a:avLst>
          </a:prstGeom>
          <a:solidFill>
            <a:srgbClr val="0A111F"/>
          </a:solidFill>
          <a:ln/>
        </p:spPr>
      </p:sp>
      <p:sp>
        <p:nvSpPr>
          <p:cNvPr id="35" name="Shape 32"/>
          <p:cNvSpPr/>
          <p:nvPr/>
        </p:nvSpPr>
        <p:spPr>
          <a:xfrm>
            <a:off x="10390436" y="7319218"/>
            <a:ext cx="92571" cy="92571"/>
          </a:xfrm>
          <a:prstGeom prst="roundRect">
            <a:avLst>
              <a:gd name="adj" fmla="val 20579"/>
            </a:avLst>
          </a:prstGeom>
          <a:solidFill>
            <a:srgbClr val="0A111F"/>
          </a:solidFill>
          <a:ln/>
        </p:spPr>
      </p:sp>
      <p:sp>
        <p:nvSpPr>
          <p:cNvPr id="36" name="Shape 33"/>
          <p:cNvSpPr/>
          <p:nvPr/>
        </p:nvSpPr>
        <p:spPr>
          <a:xfrm>
            <a:off x="10269438" y="7319218"/>
            <a:ext cx="92422" cy="92571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37" name="Shape 34"/>
          <p:cNvSpPr/>
          <p:nvPr/>
        </p:nvSpPr>
        <p:spPr>
          <a:xfrm>
            <a:off x="9906149" y="7319218"/>
            <a:ext cx="92422" cy="92571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38" name="Shape 35"/>
          <p:cNvSpPr/>
          <p:nvPr/>
        </p:nvSpPr>
        <p:spPr>
          <a:xfrm>
            <a:off x="10632728" y="7440364"/>
            <a:ext cx="92422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39" name="Shape 36"/>
          <p:cNvSpPr/>
          <p:nvPr/>
        </p:nvSpPr>
        <p:spPr>
          <a:xfrm>
            <a:off x="10390436" y="7440364"/>
            <a:ext cx="92571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40" name="Shape 37"/>
          <p:cNvSpPr/>
          <p:nvPr/>
        </p:nvSpPr>
        <p:spPr>
          <a:xfrm>
            <a:off x="10148292" y="7440364"/>
            <a:ext cx="92571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41" name="Shape 38"/>
          <p:cNvSpPr/>
          <p:nvPr/>
        </p:nvSpPr>
        <p:spPr>
          <a:xfrm>
            <a:off x="10027146" y="7440364"/>
            <a:ext cx="92571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42" name="Shape 39"/>
          <p:cNvSpPr/>
          <p:nvPr/>
        </p:nvSpPr>
        <p:spPr>
          <a:xfrm>
            <a:off x="10511582" y="7561362"/>
            <a:ext cx="92571" cy="92571"/>
          </a:xfrm>
          <a:prstGeom prst="roundRect">
            <a:avLst>
              <a:gd name="adj" fmla="val 20579"/>
            </a:avLst>
          </a:prstGeom>
          <a:solidFill>
            <a:srgbClr val="0A111F"/>
          </a:solidFill>
          <a:ln/>
        </p:spPr>
      </p:sp>
      <p:sp>
        <p:nvSpPr>
          <p:cNvPr id="43" name="Shape 40"/>
          <p:cNvSpPr/>
          <p:nvPr/>
        </p:nvSpPr>
        <p:spPr>
          <a:xfrm>
            <a:off x="10269438" y="7561362"/>
            <a:ext cx="92422" cy="92571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44" name="Shape 41"/>
          <p:cNvSpPr/>
          <p:nvPr/>
        </p:nvSpPr>
        <p:spPr>
          <a:xfrm>
            <a:off x="10027146" y="7561362"/>
            <a:ext cx="92571" cy="92571"/>
          </a:xfrm>
          <a:prstGeom prst="roundRect">
            <a:avLst>
              <a:gd name="adj" fmla="val 20579"/>
            </a:avLst>
          </a:prstGeom>
          <a:solidFill>
            <a:srgbClr val="0A111F"/>
          </a:solidFill>
          <a:ln/>
        </p:spPr>
      </p:sp>
      <p:sp>
        <p:nvSpPr>
          <p:cNvPr id="45" name="Shape 42"/>
          <p:cNvSpPr/>
          <p:nvPr/>
        </p:nvSpPr>
        <p:spPr>
          <a:xfrm>
            <a:off x="9906149" y="7561362"/>
            <a:ext cx="92422" cy="92571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46" name="Shape 43"/>
          <p:cNvSpPr/>
          <p:nvPr/>
        </p:nvSpPr>
        <p:spPr>
          <a:xfrm>
            <a:off x="10632728" y="7682508"/>
            <a:ext cx="92422" cy="92571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47" name="Shape 44"/>
          <p:cNvSpPr/>
          <p:nvPr/>
        </p:nvSpPr>
        <p:spPr>
          <a:xfrm>
            <a:off x="10511582" y="7682508"/>
            <a:ext cx="92571" cy="92571"/>
          </a:xfrm>
          <a:prstGeom prst="roundRect">
            <a:avLst>
              <a:gd name="adj" fmla="val 20579"/>
            </a:avLst>
          </a:prstGeom>
          <a:solidFill>
            <a:srgbClr val="0A111F"/>
          </a:solidFill>
          <a:ln/>
        </p:spPr>
      </p:sp>
      <p:sp>
        <p:nvSpPr>
          <p:cNvPr id="48" name="Shape 45"/>
          <p:cNvSpPr/>
          <p:nvPr/>
        </p:nvSpPr>
        <p:spPr>
          <a:xfrm>
            <a:off x="10148292" y="7682508"/>
            <a:ext cx="92571" cy="92571"/>
          </a:xfrm>
          <a:prstGeom prst="roundRect">
            <a:avLst>
              <a:gd name="adj" fmla="val 20579"/>
            </a:avLst>
          </a:prstGeom>
          <a:solidFill>
            <a:srgbClr val="0A111F"/>
          </a:solidFill>
          <a:ln/>
        </p:spPr>
      </p:sp>
      <p:sp>
        <p:nvSpPr>
          <p:cNvPr id="49" name="Shape 46"/>
          <p:cNvSpPr/>
          <p:nvPr/>
        </p:nvSpPr>
        <p:spPr>
          <a:xfrm>
            <a:off x="9906149" y="7682508"/>
            <a:ext cx="92422" cy="92571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50" name="Shape 47"/>
          <p:cNvSpPr/>
          <p:nvPr/>
        </p:nvSpPr>
        <p:spPr>
          <a:xfrm>
            <a:off x="10632728" y="7803654"/>
            <a:ext cx="92422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51" name="Shape 48"/>
          <p:cNvSpPr/>
          <p:nvPr/>
        </p:nvSpPr>
        <p:spPr>
          <a:xfrm>
            <a:off x="10390436" y="7803654"/>
            <a:ext cx="92571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52" name="Shape 49"/>
          <p:cNvSpPr/>
          <p:nvPr/>
        </p:nvSpPr>
        <p:spPr>
          <a:xfrm>
            <a:off x="10269438" y="7803654"/>
            <a:ext cx="92422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53" name="Shape 50"/>
          <p:cNvSpPr/>
          <p:nvPr/>
        </p:nvSpPr>
        <p:spPr>
          <a:xfrm>
            <a:off x="10027146" y="7803654"/>
            <a:ext cx="92571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54" name="Shape 51"/>
          <p:cNvSpPr/>
          <p:nvPr/>
        </p:nvSpPr>
        <p:spPr>
          <a:xfrm>
            <a:off x="9906149" y="7803654"/>
            <a:ext cx="92422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55" name="Shape 52"/>
          <p:cNvSpPr/>
          <p:nvPr/>
        </p:nvSpPr>
        <p:spPr>
          <a:xfrm>
            <a:off x="3924300" y="3371850"/>
            <a:ext cx="4953000" cy="4476750"/>
          </a:xfrm>
          <a:prstGeom prst="roundRect">
            <a:avLst>
              <a:gd name="adj" fmla="val 4681"/>
            </a:avLst>
          </a:prstGeom>
          <a:solidFill>
            <a:srgbClr val="FFFFFF"/>
          </a:solidFill>
          <a:ln w="9525">
            <a:solidFill>
              <a:srgbClr val="EFECE4"/>
            </a:solidFill>
            <a:prstDash val="solid"/>
          </a:ln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56" name="Text 53"/>
          <p:cNvSpPr/>
          <p:nvPr/>
        </p:nvSpPr>
        <p:spPr>
          <a:xfrm>
            <a:off x="6727775" y="3762375"/>
            <a:ext cx="19139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معاينة السجلّ العامة</a:t>
            </a:r>
            <a:endParaRPr lang="en-US" sz="1725" dirty="0"/>
          </a:p>
        </p:txBody>
      </p:sp>
      <p:pic>
        <p:nvPicPr>
          <p:cNvPr id="5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5" y="3762375"/>
            <a:ext cx="381000" cy="381000"/>
          </a:xfrm>
          <a:prstGeom prst="rect">
            <a:avLst/>
          </a:prstGeom>
        </p:spPr>
      </p:pic>
      <p:sp>
        <p:nvSpPr>
          <p:cNvPr id="58" name="Text 54"/>
          <p:cNvSpPr/>
          <p:nvPr/>
        </p:nvSpPr>
        <p:spPr>
          <a:xfrm>
            <a:off x="4333875" y="4352925"/>
            <a:ext cx="425786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امسح الرمز للاطّلاع على معاينةٍ عامة ومحدودة للسجلّ — دون كشف بيانات المالك الخاصة.</a:t>
            </a:r>
            <a:endParaRPr lang="en-US" sz="1650" dirty="0"/>
          </a:p>
        </p:txBody>
      </p:sp>
      <p:sp>
        <p:nvSpPr>
          <p:cNvPr id="59" name="Shape 55"/>
          <p:cNvSpPr/>
          <p:nvPr/>
        </p:nvSpPr>
        <p:spPr>
          <a:xfrm>
            <a:off x="5686425" y="5229225"/>
            <a:ext cx="1428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7E2D9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6874371" y="5314950"/>
            <a:ext cx="155079" cy="155079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61" name="Shape 57"/>
          <p:cNvSpPr/>
          <p:nvPr/>
        </p:nvSpPr>
        <p:spPr>
          <a:xfrm>
            <a:off x="6690717" y="5314950"/>
            <a:ext cx="155079" cy="155079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62" name="Shape 58"/>
          <p:cNvSpPr/>
          <p:nvPr/>
        </p:nvSpPr>
        <p:spPr>
          <a:xfrm>
            <a:off x="6323261" y="5314950"/>
            <a:ext cx="155228" cy="155079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63" name="Shape 59"/>
          <p:cNvSpPr/>
          <p:nvPr/>
        </p:nvSpPr>
        <p:spPr>
          <a:xfrm>
            <a:off x="5955953" y="5314950"/>
            <a:ext cx="155079" cy="155079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64" name="Shape 60"/>
          <p:cNvSpPr/>
          <p:nvPr/>
        </p:nvSpPr>
        <p:spPr>
          <a:xfrm>
            <a:off x="5772299" y="5314950"/>
            <a:ext cx="155079" cy="155079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65" name="Shape 61"/>
          <p:cNvSpPr/>
          <p:nvPr/>
        </p:nvSpPr>
        <p:spPr>
          <a:xfrm>
            <a:off x="6874371" y="5498604"/>
            <a:ext cx="155079" cy="155079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66" name="Shape 62"/>
          <p:cNvSpPr/>
          <p:nvPr/>
        </p:nvSpPr>
        <p:spPr>
          <a:xfrm>
            <a:off x="6507063" y="5498604"/>
            <a:ext cx="155079" cy="155079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67" name="Shape 63"/>
          <p:cNvSpPr/>
          <p:nvPr/>
        </p:nvSpPr>
        <p:spPr>
          <a:xfrm>
            <a:off x="6139607" y="5498604"/>
            <a:ext cx="155079" cy="155079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68" name="Shape 64"/>
          <p:cNvSpPr/>
          <p:nvPr/>
        </p:nvSpPr>
        <p:spPr>
          <a:xfrm>
            <a:off x="5772299" y="5498604"/>
            <a:ext cx="155079" cy="155079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69" name="Shape 65"/>
          <p:cNvSpPr/>
          <p:nvPr/>
        </p:nvSpPr>
        <p:spPr>
          <a:xfrm>
            <a:off x="6690717" y="5682258"/>
            <a:ext cx="155079" cy="155079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70" name="Shape 66"/>
          <p:cNvSpPr/>
          <p:nvPr/>
        </p:nvSpPr>
        <p:spPr>
          <a:xfrm>
            <a:off x="6507063" y="5682258"/>
            <a:ext cx="155079" cy="155079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71" name="Shape 67"/>
          <p:cNvSpPr/>
          <p:nvPr/>
        </p:nvSpPr>
        <p:spPr>
          <a:xfrm>
            <a:off x="6323261" y="5682258"/>
            <a:ext cx="155228" cy="155079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72" name="Shape 68"/>
          <p:cNvSpPr/>
          <p:nvPr/>
        </p:nvSpPr>
        <p:spPr>
          <a:xfrm>
            <a:off x="5772299" y="5682258"/>
            <a:ext cx="155079" cy="155079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73" name="Shape 69"/>
          <p:cNvSpPr/>
          <p:nvPr/>
        </p:nvSpPr>
        <p:spPr>
          <a:xfrm>
            <a:off x="6874371" y="5865912"/>
            <a:ext cx="155079" cy="155228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74" name="Shape 70"/>
          <p:cNvSpPr/>
          <p:nvPr/>
        </p:nvSpPr>
        <p:spPr>
          <a:xfrm>
            <a:off x="6507063" y="5865912"/>
            <a:ext cx="155079" cy="155228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75" name="Shape 71"/>
          <p:cNvSpPr/>
          <p:nvPr/>
        </p:nvSpPr>
        <p:spPr>
          <a:xfrm>
            <a:off x="6139607" y="5865912"/>
            <a:ext cx="155079" cy="155228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76" name="Shape 72"/>
          <p:cNvSpPr/>
          <p:nvPr/>
        </p:nvSpPr>
        <p:spPr>
          <a:xfrm>
            <a:off x="5955953" y="5865912"/>
            <a:ext cx="155079" cy="155228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77" name="Shape 73"/>
          <p:cNvSpPr/>
          <p:nvPr/>
        </p:nvSpPr>
        <p:spPr>
          <a:xfrm>
            <a:off x="6690717" y="6049714"/>
            <a:ext cx="155079" cy="155079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78" name="Shape 74"/>
          <p:cNvSpPr/>
          <p:nvPr/>
        </p:nvSpPr>
        <p:spPr>
          <a:xfrm>
            <a:off x="6323261" y="6049714"/>
            <a:ext cx="155228" cy="155079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79" name="Shape 75"/>
          <p:cNvSpPr/>
          <p:nvPr/>
        </p:nvSpPr>
        <p:spPr>
          <a:xfrm>
            <a:off x="5955953" y="6049714"/>
            <a:ext cx="155079" cy="155079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80" name="Shape 76"/>
          <p:cNvSpPr/>
          <p:nvPr/>
        </p:nvSpPr>
        <p:spPr>
          <a:xfrm>
            <a:off x="5772299" y="6049714"/>
            <a:ext cx="155079" cy="155079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81" name="Shape 77"/>
          <p:cNvSpPr/>
          <p:nvPr/>
        </p:nvSpPr>
        <p:spPr>
          <a:xfrm>
            <a:off x="6874371" y="6233368"/>
            <a:ext cx="155079" cy="155079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82" name="Shape 78"/>
          <p:cNvSpPr/>
          <p:nvPr/>
        </p:nvSpPr>
        <p:spPr>
          <a:xfrm>
            <a:off x="6690717" y="6233368"/>
            <a:ext cx="155079" cy="155079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83" name="Shape 79"/>
          <p:cNvSpPr/>
          <p:nvPr/>
        </p:nvSpPr>
        <p:spPr>
          <a:xfrm>
            <a:off x="6139607" y="6233368"/>
            <a:ext cx="155079" cy="155079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84" name="Shape 80"/>
          <p:cNvSpPr/>
          <p:nvPr/>
        </p:nvSpPr>
        <p:spPr>
          <a:xfrm>
            <a:off x="5772299" y="6233368"/>
            <a:ext cx="155079" cy="155079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85" name="Shape 81"/>
          <p:cNvSpPr/>
          <p:nvPr/>
        </p:nvSpPr>
        <p:spPr>
          <a:xfrm>
            <a:off x="6874371" y="6417022"/>
            <a:ext cx="155079" cy="155079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86" name="Shape 82"/>
          <p:cNvSpPr/>
          <p:nvPr/>
        </p:nvSpPr>
        <p:spPr>
          <a:xfrm>
            <a:off x="6507063" y="6417022"/>
            <a:ext cx="155079" cy="155079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87" name="Shape 83"/>
          <p:cNvSpPr/>
          <p:nvPr/>
        </p:nvSpPr>
        <p:spPr>
          <a:xfrm>
            <a:off x="6323261" y="6417022"/>
            <a:ext cx="155228" cy="155079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88" name="Shape 84"/>
          <p:cNvSpPr/>
          <p:nvPr/>
        </p:nvSpPr>
        <p:spPr>
          <a:xfrm>
            <a:off x="5955953" y="6417022"/>
            <a:ext cx="155079" cy="155079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89" name="Shape 85"/>
          <p:cNvSpPr/>
          <p:nvPr/>
        </p:nvSpPr>
        <p:spPr>
          <a:xfrm>
            <a:off x="5772299" y="6417022"/>
            <a:ext cx="155079" cy="155079"/>
          </a:xfrm>
          <a:prstGeom prst="roundRect">
            <a:avLst>
              <a:gd name="adj" fmla="val 12284"/>
            </a:avLst>
          </a:prstGeom>
          <a:solidFill>
            <a:srgbClr val="0A111F"/>
          </a:solidFill>
          <a:ln/>
        </p:spPr>
      </p:sp>
      <p:sp>
        <p:nvSpPr>
          <p:cNvPr id="90" name="Shape 86"/>
          <p:cNvSpPr/>
          <p:nvPr/>
        </p:nvSpPr>
        <p:spPr>
          <a:xfrm>
            <a:off x="4333875" y="6867525"/>
            <a:ext cx="4133850" cy="9525"/>
          </a:xfrm>
          <a:prstGeom prst="rect">
            <a:avLst/>
          </a:prstGeom>
          <a:solidFill>
            <a:srgbClr val="EFECE4"/>
          </a:solidFill>
          <a:ln/>
        </p:spPr>
      </p:sp>
      <p:sp>
        <p:nvSpPr>
          <p:cNvPr id="91" name="Text 87"/>
          <p:cNvSpPr/>
          <p:nvPr/>
        </p:nvSpPr>
        <p:spPr>
          <a:xfrm>
            <a:off x="6415088" y="7219950"/>
            <a:ext cx="225790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provatto.sa/r/PRV-0482</a:t>
            </a:r>
            <a:endParaRPr lang="en-US" sz="1500" dirty="0"/>
          </a:p>
        </p:txBody>
      </p:sp>
      <p:sp>
        <p:nvSpPr>
          <p:cNvPr id="92" name="Shape 88"/>
          <p:cNvSpPr/>
          <p:nvPr/>
        </p:nvSpPr>
        <p:spPr>
          <a:xfrm>
            <a:off x="4333875" y="7067550"/>
            <a:ext cx="1562546" cy="390525"/>
          </a:xfrm>
          <a:prstGeom prst="roundRect">
            <a:avLst>
              <a:gd name="adj" fmla="val 50000"/>
            </a:avLst>
          </a:prstGeom>
          <a:solidFill>
            <a:srgbClr val="C9A86A">
              <a:alpha val="7000"/>
            </a:srgbClr>
          </a:solidFill>
          <a:ln w="9525">
            <a:solidFill>
              <a:srgbClr val="C9A86A">
                <a:alpha val="55000"/>
              </a:srgbClr>
            </a:solidFill>
            <a:prstDash val="solid"/>
          </a:ln>
        </p:spPr>
      </p:sp>
      <p:sp>
        <p:nvSpPr>
          <p:cNvPr id="93" name="Text 89"/>
          <p:cNvSpPr/>
          <p:nvPr/>
        </p:nvSpPr>
        <p:spPr>
          <a:xfrm>
            <a:off x="4476750" y="7134225"/>
            <a:ext cx="135299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Provatto Record</a:t>
            </a:r>
            <a:endParaRPr lang="en-US" sz="1350" dirty="0"/>
          </a:p>
        </p:txBody>
      </p:sp>
      <p:sp>
        <p:nvSpPr>
          <p:cNvPr id="94" name="Text 90"/>
          <p:cNvSpPr/>
          <p:nvPr/>
        </p:nvSpPr>
        <p:spPr>
          <a:xfrm>
            <a:off x="4540277" y="8715375"/>
            <a:ext cx="920759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7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هذه البطاقة توثّق وجود سجلٍّ رقمي داخل منصّة بروفاتو، ولا تُعدّ شهادة ضمانٍ لأصالة الساعة أو سند ملكيةٍ قانونياً.</a:t>
            </a:r>
            <a:endParaRPr lang="en-US" sz="1575" dirty="0"/>
          </a:p>
        </p:txBody>
      </p:sp>
      <p:sp>
        <p:nvSpPr>
          <p:cNvPr id="95" name="Text 91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37 / 84</a:t>
            </a:r>
            <a:endParaRPr lang="en-US" sz="1800" dirty="0"/>
          </a:p>
        </p:txBody>
      </p:sp>
      <p:sp>
        <p:nvSpPr>
          <p:cNvPr id="96" name="Text 92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RECORD CARD · NAVY &amp; WALLET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النسخة الكحلية وبطاقة المحفظة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029700" y="3309938"/>
            <a:ext cx="4953000" cy="4638675"/>
          </a:xfrm>
          <a:prstGeom prst="roundRect">
            <a:avLst>
              <a:gd name="adj" fmla="val 4517"/>
            </a:avLst>
          </a:prstGeom>
          <a:gradFill rotWithShape="1">
            <a:gsLst>
              <a:gs pos="0">
                <a:srgbClr val="132038">
                  <a:alpha val="100000"/>
                </a:srgbClr>
              </a:gs>
              <a:gs pos="100000">
                <a:srgbClr val="0A111F">
                  <a:alpha val="100000"/>
                </a:srgbClr>
              </a:gs>
            </a:gsLst>
            <a:lin ang="4200000" scaled="0"/>
          </a:gradFill>
          <a:ln w="9525">
            <a:solidFill>
              <a:srgbClr val="C9A86A">
                <a:alpha val="3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44375" y="3700463"/>
            <a:ext cx="1428750" cy="71437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439275" y="3700463"/>
            <a:ext cx="1201341" cy="438150"/>
          </a:xfrm>
          <a:prstGeom prst="roundRect">
            <a:avLst>
              <a:gd name="adj" fmla="val 50000"/>
            </a:avLst>
          </a:prstGeom>
          <a:solidFill>
            <a:srgbClr val="12B5B0">
              <a:alpha val="14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9610725" y="3767138"/>
            <a:ext cx="9346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5ED2C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نشط</a:t>
            </a:r>
            <a:endParaRPr lang="en-US" sz="1575" dirty="0"/>
          </a:p>
        </p:txBody>
      </p:sp>
      <p:sp>
        <p:nvSpPr>
          <p:cNvPr id="9" name="Text 6"/>
          <p:cNvSpPr/>
          <p:nvPr/>
        </p:nvSpPr>
        <p:spPr>
          <a:xfrm>
            <a:off x="11649075" y="4624388"/>
            <a:ext cx="21164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E97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اسم المالك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649075" y="4948238"/>
            <a:ext cx="211645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زياد الوشمي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9439275" y="4624388"/>
            <a:ext cx="21164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E97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Record ID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246870" y="4948238"/>
            <a:ext cx="21164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#PRV-0482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1649075" y="5510213"/>
            <a:ext cx="21164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E97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الرقم المرجعي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456670" y="5834063"/>
            <a:ext cx="21164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AB-2104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439275" y="5510213"/>
            <a:ext cx="21164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E97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تاريخ الإصدار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246870" y="5834063"/>
            <a:ext cx="21164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Jan 2026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9439275" y="6367463"/>
            <a:ext cx="41338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1378059" y="6929438"/>
            <a:ext cx="2195066" cy="628650"/>
          </a:xfrm>
          <a:prstGeom prst="roundRect">
            <a:avLst>
              <a:gd name="adj" fmla="val 21212"/>
            </a:avLst>
          </a:prstGeom>
          <a:solidFill>
            <a:srgbClr val="C9A86A">
              <a:alpha val="8000"/>
            </a:srgbClr>
          </a:solidFill>
          <a:ln w="9525">
            <a:solidFill>
              <a:srgbClr val="C9A86A">
                <a:alpha val="50000"/>
              </a:srgbClr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8300" y="7043738"/>
            <a:ext cx="323850" cy="4000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559034" y="7091363"/>
            <a:ext cx="14715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D8BF8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رقمي موثّق</a:t>
            </a:r>
            <a:endParaRPr lang="en-US" sz="1575" dirty="0"/>
          </a:p>
        </p:txBody>
      </p:sp>
      <p:sp>
        <p:nvSpPr>
          <p:cNvPr id="21" name="Shape 17"/>
          <p:cNvSpPr/>
          <p:nvPr/>
        </p:nvSpPr>
        <p:spPr>
          <a:xfrm>
            <a:off x="9439275" y="6567488"/>
            <a:ext cx="9906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E7E2D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251728" y="6653213"/>
            <a:ext cx="92422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23" name="Shape 19"/>
          <p:cNvSpPr/>
          <p:nvPr/>
        </p:nvSpPr>
        <p:spPr>
          <a:xfrm>
            <a:off x="10130582" y="6653213"/>
            <a:ext cx="92571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24" name="Shape 20"/>
          <p:cNvSpPr/>
          <p:nvPr/>
        </p:nvSpPr>
        <p:spPr>
          <a:xfrm>
            <a:off x="9888438" y="6653213"/>
            <a:ext cx="92422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25" name="Shape 21"/>
          <p:cNvSpPr/>
          <p:nvPr/>
        </p:nvSpPr>
        <p:spPr>
          <a:xfrm>
            <a:off x="9646146" y="6653213"/>
            <a:ext cx="92571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26" name="Shape 22"/>
          <p:cNvSpPr/>
          <p:nvPr/>
        </p:nvSpPr>
        <p:spPr>
          <a:xfrm>
            <a:off x="9525149" y="6653213"/>
            <a:ext cx="92422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27" name="Shape 23"/>
          <p:cNvSpPr/>
          <p:nvPr/>
        </p:nvSpPr>
        <p:spPr>
          <a:xfrm>
            <a:off x="10251728" y="6774210"/>
            <a:ext cx="92422" cy="92571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28" name="Shape 24"/>
          <p:cNvSpPr/>
          <p:nvPr/>
        </p:nvSpPr>
        <p:spPr>
          <a:xfrm>
            <a:off x="10009436" y="6774210"/>
            <a:ext cx="92571" cy="92571"/>
          </a:xfrm>
          <a:prstGeom prst="roundRect">
            <a:avLst>
              <a:gd name="adj" fmla="val 20579"/>
            </a:avLst>
          </a:prstGeom>
          <a:solidFill>
            <a:srgbClr val="0A111F"/>
          </a:solidFill>
          <a:ln/>
        </p:spPr>
      </p:sp>
      <p:sp>
        <p:nvSpPr>
          <p:cNvPr id="29" name="Shape 25"/>
          <p:cNvSpPr/>
          <p:nvPr/>
        </p:nvSpPr>
        <p:spPr>
          <a:xfrm>
            <a:off x="9767292" y="6774210"/>
            <a:ext cx="92571" cy="92571"/>
          </a:xfrm>
          <a:prstGeom prst="roundRect">
            <a:avLst>
              <a:gd name="adj" fmla="val 20579"/>
            </a:avLst>
          </a:prstGeom>
          <a:solidFill>
            <a:srgbClr val="0A111F"/>
          </a:solidFill>
          <a:ln/>
        </p:spPr>
      </p:sp>
      <p:sp>
        <p:nvSpPr>
          <p:cNvPr id="30" name="Shape 26"/>
          <p:cNvSpPr/>
          <p:nvPr/>
        </p:nvSpPr>
        <p:spPr>
          <a:xfrm>
            <a:off x="9525149" y="6774210"/>
            <a:ext cx="92422" cy="92571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31" name="Shape 27"/>
          <p:cNvSpPr/>
          <p:nvPr/>
        </p:nvSpPr>
        <p:spPr>
          <a:xfrm>
            <a:off x="10130582" y="6895356"/>
            <a:ext cx="92571" cy="92571"/>
          </a:xfrm>
          <a:prstGeom prst="roundRect">
            <a:avLst>
              <a:gd name="adj" fmla="val 20579"/>
            </a:avLst>
          </a:prstGeom>
          <a:solidFill>
            <a:srgbClr val="0A111F"/>
          </a:solidFill>
          <a:ln/>
        </p:spPr>
      </p:sp>
      <p:sp>
        <p:nvSpPr>
          <p:cNvPr id="32" name="Shape 28"/>
          <p:cNvSpPr/>
          <p:nvPr/>
        </p:nvSpPr>
        <p:spPr>
          <a:xfrm>
            <a:off x="10009436" y="6895356"/>
            <a:ext cx="92571" cy="92571"/>
          </a:xfrm>
          <a:prstGeom prst="roundRect">
            <a:avLst>
              <a:gd name="adj" fmla="val 20579"/>
            </a:avLst>
          </a:prstGeom>
          <a:solidFill>
            <a:srgbClr val="0A111F"/>
          </a:solidFill>
          <a:ln/>
        </p:spPr>
      </p:sp>
      <p:sp>
        <p:nvSpPr>
          <p:cNvPr id="33" name="Shape 29"/>
          <p:cNvSpPr/>
          <p:nvPr/>
        </p:nvSpPr>
        <p:spPr>
          <a:xfrm>
            <a:off x="9888438" y="6895356"/>
            <a:ext cx="92422" cy="92571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34" name="Shape 30"/>
          <p:cNvSpPr/>
          <p:nvPr/>
        </p:nvSpPr>
        <p:spPr>
          <a:xfrm>
            <a:off x="9525149" y="6895356"/>
            <a:ext cx="92422" cy="92571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35" name="Shape 31"/>
          <p:cNvSpPr/>
          <p:nvPr/>
        </p:nvSpPr>
        <p:spPr>
          <a:xfrm>
            <a:off x="10251728" y="7016502"/>
            <a:ext cx="92422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36" name="Shape 32"/>
          <p:cNvSpPr/>
          <p:nvPr/>
        </p:nvSpPr>
        <p:spPr>
          <a:xfrm>
            <a:off x="10009436" y="7016502"/>
            <a:ext cx="92571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37" name="Shape 33"/>
          <p:cNvSpPr/>
          <p:nvPr/>
        </p:nvSpPr>
        <p:spPr>
          <a:xfrm>
            <a:off x="9767292" y="7016502"/>
            <a:ext cx="92571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38" name="Shape 34"/>
          <p:cNvSpPr/>
          <p:nvPr/>
        </p:nvSpPr>
        <p:spPr>
          <a:xfrm>
            <a:off x="9646146" y="7016502"/>
            <a:ext cx="92571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39" name="Shape 35"/>
          <p:cNvSpPr/>
          <p:nvPr/>
        </p:nvSpPr>
        <p:spPr>
          <a:xfrm>
            <a:off x="10130582" y="7137499"/>
            <a:ext cx="92571" cy="92571"/>
          </a:xfrm>
          <a:prstGeom prst="roundRect">
            <a:avLst>
              <a:gd name="adj" fmla="val 20579"/>
            </a:avLst>
          </a:prstGeom>
          <a:solidFill>
            <a:srgbClr val="0A111F"/>
          </a:solidFill>
          <a:ln/>
        </p:spPr>
      </p:sp>
      <p:sp>
        <p:nvSpPr>
          <p:cNvPr id="40" name="Shape 36"/>
          <p:cNvSpPr/>
          <p:nvPr/>
        </p:nvSpPr>
        <p:spPr>
          <a:xfrm>
            <a:off x="9888438" y="7137499"/>
            <a:ext cx="92422" cy="92571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41" name="Shape 37"/>
          <p:cNvSpPr/>
          <p:nvPr/>
        </p:nvSpPr>
        <p:spPr>
          <a:xfrm>
            <a:off x="9646146" y="7137499"/>
            <a:ext cx="92571" cy="92571"/>
          </a:xfrm>
          <a:prstGeom prst="roundRect">
            <a:avLst>
              <a:gd name="adj" fmla="val 20579"/>
            </a:avLst>
          </a:prstGeom>
          <a:solidFill>
            <a:srgbClr val="0A111F"/>
          </a:solidFill>
          <a:ln/>
        </p:spPr>
      </p:sp>
      <p:sp>
        <p:nvSpPr>
          <p:cNvPr id="42" name="Shape 38"/>
          <p:cNvSpPr/>
          <p:nvPr/>
        </p:nvSpPr>
        <p:spPr>
          <a:xfrm>
            <a:off x="9525149" y="7137499"/>
            <a:ext cx="92422" cy="92571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43" name="Shape 39"/>
          <p:cNvSpPr/>
          <p:nvPr/>
        </p:nvSpPr>
        <p:spPr>
          <a:xfrm>
            <a:off x="10251728" y="7258645"/>
            <a:ext cx="92422" cy="92571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44" name="Shape 40"/>
          <p:cNvSpPr/>
          <p:nvPr/>
        </p:nvSpPr>
        <p:spPr>
          <a:xfrm>
            <a:off x="10130582" y="7258645"/>
            <a:ext cx="92571" cy="92571"/>
          </a:xfrm>
          <a:prstGeom prst="roundRect">
            <a:avLst>
              <a:gd name="adj" fmla="val 20579"/>
            </a:avLst>
          </a:prstGeom>
          <a:solidFill>
            <a:srgbClr val="0A111F"/>
          </a:solidFill>
          <a:ln/>
        </p:spPr>
      </p:sp>
      <p:sp>
        <p:nvSpPr>
          <p:cNvPr id="45" name="Shape 41"/>
          <p:cNvSpPr/>
          <p:nvPr/>
        </p:nvSpPr>
        <p:spPr>
          <a:xfrm>
            <a:off x="9767292" y="7258645"/>
            <a:ext cx="92571" cy="92571"/>
          </a:xfrm>
          <a:prstGeom prst="roundRect">
            <a:avLst>
              <a:gd name="adj" fmla="val 20579"/>
            </a:avLst>
          </a:prstGeom>
          <a:solidFill>
            <a:srgbClr val="0A111F"/>
          </a:solidFill>
          <a:ln/>
        </p:spPr>
      </p:sp>
      <p:sp>
        <p:nvSpPr>
          <p:cNvPr id="46" name="Shape 42"/>
          <p:cNvSpPr/>
          <p:nvPr/>
        </p:nvSpPr>
        <p:spPr>
          <a:xfrm>
            <a:off x="9525149" y="7258645"/>
            <a:ext cx="92422" cy="92571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47" name="Shape 43"/>
          <p:cNvSpPr/>
          <p:nvPr/>
        </p:nvSpPr>
        <p:spPr>
          <a:xfrm>
            <a:off x="10251728" y="7379791"/>
            <a:ext cx="92422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48" name="Shape 44"/>
          <p:cNvSpPr/>
          <p:nvPr/>
        </p:nvSpPr>
        <p:spPr>
          <a:xfrm>
            <a:off x="10009436" y="7379791"/>
            <a:ext cx="92571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49" name="Shape 45"/>
          <p:cNvSpPr/>
          <p:nvPr/>
        </p:nvSpPr>
        <p:spPr>
          <a:xfrm>
            <a:off x="9888438" y="7379791"/>
            <a:ext cx="92422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50" name="Shape 46"/>
          <p:cNvSpPr/>
          <p:nvPr/>
        </p:nvSpPr>
        <p:spPr>
          <a:xfrm>
            <a:off x="9646146" y="7379791"/>
            <a:ext cx="92571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51" name="Shape 47"/>
          <p:cNvSpPr/>
          <p:nvPr/>
        </p:nvSpPr>
        <p:spPr>
          <a:xfrm>
            <a:off x="9525149" y="7379791"/>
            <a:ext cx="92422" cy="92422"/>
          </a:xfrm>
          <a:prstGeom prst="roundRect">
            <a:avLst>
              <a:gd name="adj" fmla="val 20612"/>
            </a:avLst>
          </a:prstGeom>
          <a:solidFill>
            <a:srgbClr val="0A111F"/>
          </a:solidFill>
          <a:ln/>
        </p:spPr>
      </p:sp>
      <p:sp>
        <p:nvSpPr>
          <p:cNvPr id="52" name="Shape 48"/>
          <p:cNvSpPr/>
          <p:nvPr/>
        </p:nvSpPr>
        <p:spPr>
          <a:xfrm>
            <a:off x="4305300" y="4029075"/>
            <a:ext cx="4191000" cy="2190750"/>
          </a:xfrm>
          <a:prstGeom prst="roundRect">
            <a:avLst>
              <a:gd name="adj" fmla="val 6087"/>
            </a:avLst>
          </a:prstGeom>
          <a:gradFill rotWithShape="1">
            <a:gsLst>
              <a:gs pos="0">
                <a:srgbClr val="16233C">
                  <a:alpha val="100000"/>
                </a:srgbClr>
              </a:gs>
              <a:gs pos="100000">
                <a:srgbClr val="0A111F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285750" dist="76200" dir="5400000">
              <a:srgbClr val="0A111F">
                <a:alpha val="14000"/>
              </a:srgbClr>
            </a:outerShdw>
          </a:effectLst>
        </p:spPr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150" y="4352925"/>
            <a:ext cx="1238250" cy="619125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4648200" y="4352925"/>
            <a:ext cx="814685" cy="352425"/>
          </a:xfrm>
          <a:prstGeom prst="roundRect">
            <a:avLst>
              <a:gd name="adj" fmla="val 50000"/>
            </a:avLst>
          </a:prstGeom>
          <a:solidFill>
            <a:srgbClr val="C9A86A">
              <a:alpha val="10000"/>
            </a:srgbClr>
          </a:solidFill>
          <a:ln w="9525">
            <a:solidFill>
              <a:srgbClr val="C9A86A">
                <a:alpha val="40000"/>
              </a:srgbClr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4791075" y="4410075"/>
            <a:ext cx="60513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D8BF8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Record</a:t>
            </a:r>
            <a:endParaRPr lang="en-US" sz="1275" dirty="0"/>
          </a:p>
        </p:txBody>
      </p:sp>
      <p:sp>
        <p:nvSpPr>
          <p:cNvPr id="56" name="Text 51"/>
          <p:cNvSpPr/>
          <p:nvPr/>
        </p:nvSpPr>
        <p:spPr>
          <a:xfrm>
            <a:off x="4648200" y="5191125"/>
            <a:ext cx="38557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زياد الوشمي</a:t>
            </a:r>
            <a:endParaRPr lang="en-US" sz="2100" dirty="0"/>
          </a:p>
        </p:txBody>
      </p:sp>
      <p:sp>
        <p:nvSpPr>
          <p:cNvPr id="57" name="Text 52"/>
          <p:cNvSpPr/>
          <p:nvPr/>
        </p:nvSpPr>
        <p:spPr>
          <a:xfrm>
            <a:off x="4648200" y="5591175"/>
            <a:ext cx="361035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583"/>
              </a:lnSpc>
              <a:buNone/>
            </a:pPr>
            <a:r>
              <a:rPr lang="en-US" sz="1425" dirty="0">
                <a:solidFill>
                  <a:srgbClr val="8E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#PRV-0482 · AB-2104</a:t>
            </a:r>
            <a:endParaRPr lang="en-US" sz="1425" dirty="0"/>
          </a:p>
        </p:txBody>
      </p:sp>
      <p:sp>
        <p:nvSpPr>
          <p:cNvPr id="58" name="Text 53"/>
          <p:cNvSpPr/>
          <p:nvPr/>
        </p:nvSpPr>
        <p:spPr>
          <a:xfrm>
            <a:off x="4305300" y="6619875"/>
            <a:ext cx="4316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بطاقة بأسلوب المحفظة الرقمية — للحفظ في محفظة الهاتف، تحمل المعرّف والختم فقط دون التفاصيل الخاصة.</a:t>
            </a:r>
            <a:endParaRPr lang="en-US" sz="1200" dirty="0"/>
          </a:p>
        </p:txBody>
      </p:sp>
      <p:sp>
        <p:nvSpPr>
          <p:cNvPr id="59" name="Text 54"/>
          <p:cNvSpPr/>
          <p:nvPr/>
        </p:nvSpPr>
        <p:spPr>
          <a:xfrm>
            <a:off x="5209200" y="8715375"/>
            <a:ext cx="78697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7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توثّق وجود سجلٍّ رقمي داخل بروفاتو — وليست شهادة ضمانٍ لأصالة الساعة أو سند ملكيةٍ قانونياً.</a:t>
            </a:r>
            <a:endParaRPr lang="en-US" sz="1575" dirty="0"/>
          </a:p>
        </p:txBody>
      </p:sp>
      <p:sp>
        <p:nvSpPr>
          <p:cNvPr id="60" name="Text 55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38 / 84</a:t>
            </a:r>
            <a:endParaRPr lang="en-US" sz="1800" dirty="0"/>
          </a:p>
        </p:txBody>
      </p:sp>
      <p:sp>
        <p:nvSpPr>
          <p:cNvPr id="61" name="Text 56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RECORD SUMMARY · A4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وثيقة ملخّص السجلّ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76329" y="3078099"/>
            <a:ext cx="3136392" cy="5416678"/>
          </a:xfrm>
          <a:prstGeom prst="rect">
            <a:avLst/>
          </a:prstGeom>
          <a:solidFill>
            <a:srgbClr val="FFFFFF"/>
          </a:solidFill>
          <a:ln w="8001">
            <a:solidFill>
              <a:srgbClr val="EFECE4"/>
            </a:solidFill>
            <a:prstDash val="solid"/>
          </a:ln>
          <a:effectLst>
            <a:outerShdw sx="100000" sy="100000" kx="0" ky="0" algn="bl" rotWithShape="0" blurRad="381000" dist="95250" dir="5400000">
              <a:srgbClr val="0A111F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024360" y="4118229"/>
            <a:ext cx="2640330" cy="9525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2408408" y="3294126"/>
            <a:ext cx="2481910" cy="334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ملخّص السجلّ الرقمي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2332208" y="3622167"/>
            <a:ext cx="2332482" cy="406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34" spc="181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DIGITAL RECORD SUMMARY</a:t>
            </a:r>
            <a:endParaRPr lang="en-US" sz="1134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4360" y="3294126"/>
            <a:ext cx="384047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040987" y="4238244"/>
            <a:ext cx="699903" cy="254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3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اسم المالك</a:t>
            </a:r>
            <a:endParaRPr lang="en-US" sz="1134" dirty="0"/>
          </a:p>
        </p:txBody>
      </p:sp>
      <p:sp>
        <p:nvSpPr>
          <p:cNvPr id="11" name="Text 8"/>
          <p:cNvSpPr/>
          <p:nvPr/>
        </p:nvSpPr>
        <p:spPr>
          <a:xfrm>
            <a:off x="12024360" y="4238244"/>
            <a:ext cx="760035" cy="254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3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زياد الوشمي</a:t>
            </a:r>
            <a:endParaRPr lang="en-US" sz="1134" dirty="0"/>
          </a:p>
        </p:txBody>
      </p:sp>
      <p:sp>
        <p:nvSpPr>
          <p:cNvPr id="12" name="Text 9"/>
          <p:cNvSpPr/>
          <p:nvPr/>
        </p:nvSpPr>
        <p:spPr>
          <a:xfrm>
            <a:off x="13287768" y="4526280"/>
            <a:ext cx="1514614" cy="254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3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Record ID · رقم السجلّ</a:t>
            </a:r>
            <a:endParaRPr lang="en-US" sz="1134" dirty="0"/>
          </a:p>
        </p:txBody>
      </p:sp>
      <p:sp>
        <p:nvSpPr>
          <p:cNvPr id="13" name="Text 10"/>
          <p:cNvSpPr/>
          <p:nvPr/>
        </p:nvSpPr>
        <p:spPr>
          <a:xfrm>
            <a:off x="12024360" y="4526280"/>
            <a:ext cx="846296" cy="254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34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#PRV-0482</a:t>
            </a:r>
            <a:endParaRPr lang="en-US" sz="1134" dirty="0"/>
          </a:p>
        </p:txBody>
      </p:sp>
      <p:sp>
        <p:nvSpPr>
          <p:cNvPr id="14" name="Text 11"/>
          <p:cNvSpPr/>
          <p:nvPr/>
        </p:nvSpPr>
        <p:spPr>
          <a:xfrm>
            <a:off x="13384905" y="4814316"/>
            <a:ext cx="1355985" cy="470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3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الرقم المرجعي / التسلسلي</a:t>
            </a:r>
            <a:endParaRPr lang="en-US" sz="1134" dirty="0"/>
          </a:p>
        </p:txBody>
      </p:sp>
      <p:sp>
        <p:nvSpPr>
          <p:cNvPr id="15" name="Text 12"/>
          <p:cNvSpPr/>
          <p:nvPr/>
        </p:nvSpPr>
        <p:spPr>
          <a:xfrm>
            <a:off x="12024360" y="4814316"/>
            <a:ext cx="1324731" cy="470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34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AB-2104 · SR-88192</a:t>
            </a:r>
            <a:endParaRPr lang="en-US" sz="1134" dirty="0"/>
          </a:p>
        </p:txBody>
      </p:sp>
      <p:sp>
        <p:nvSpPr>
          <p:cNvPr id="16" name="Text 13"/>
          <p:cNvSpPr/>
          <p:nvPr/>
        </p:nvSpPr>
        <p:spPr>
          <a:xfrm>
            <a:off x="13652313" y="5318379"/>
            <a:ext cx="1088577" cy="254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3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تاريخ إصدار السجلّ</a:t>
            </a:r>
            <a:endParaRPr lang="en-US" sz="1134" dirty="0"/>
          </a:p>
        </p:txBody>
      </p:sp>
      <p:sp>
        <p:nvSpPr>
          <p:cNvPr id="17" name="Text 14"/>
          <p:cNvSpPr/>
          <p:nvPr/>
        </p:nvSpPr>
        <p:spPr>
          <a:xfrm>
            <a:off x="12024360" y="5318379"/>
            <a:ext cx="1363758" cy="254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34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Jan 2026 · v1.0</a:t>
            </a:r>
            <a:endParaRPr lang="en-US" sz="1134" dirty="0"/>
          </a:p>
        </p:txBody>
      </p:sp>
      <p:sp>
        <p:nvSpPr>
          <p:cNvPr id="18" name="Text 15"/>
          <p:cNvSpPr/>
          <p:nvPr/>
        </p:nvSpPr>
        <p:spPr>
          <a:xfrm>
            <a:off x="12024360" y="5654421"/>
            <a:ext cx="2904362" cy="254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34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ملخّص السجلّ الزمني</a:t>
            </a:r>
            <a:endParaRPr lang="en-US" sz="1134" dirty="0"/>
          </a:p>
        </p:txBody>
      </p:sp>
      <p:sp>
        <p:nvSpPr>
          <p:cNvPr id="19" name="Shape 16"/>
          <p:cNvSpPr/>
          <p:nvPr/>
        </p:nvSpPr>
        <p:spPr>
          <a:xfrm>
            <a:off x="12024360" y="6182487"/>
            <a:ext cx="2640330" cy="9525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20" name="Text 17"/>
          <p:cNvSpPr/>
          <p:nvPr/>
        </p:nvSpPr>
        <p:spPr>
          <a:xfrm>
            <a:off x="13957727" y="5942457"/>
            <a:ext cx="78316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71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إضافة السجلّ</a:t>
            </a:r>
            <a:endParaRPr lang="en-US" sz="1071" dirty="0"/>
          </a:p>
        </p:txBody>
      </p:sp>
      <p:sp>
        <p:nvSpPr>
          <p:cNvPr id="21" name="Text 18"/>
          <p:cNvSpPr/>
          <p:nvPr/>
        </p:nvSpPr>
        <p:spPr>
          <a:xfrm>
            <a:off x="12024360" y="5942457"/>
            <a:ext cx="65402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71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Jan 2026</a:t>
            </a:r>
            <a:endParaRPr lang="en-US" sz="1071" dirty="0"/>
          </a:p>
        </p:txBody>
      </p:sp>
      <p:sp>
        <p:nvSpPr>
          <p:cNvPr id="22" name="Shape 19"/>
          <p:cNvSpPr/>
          <p:nvPr/>
        </p:nvSpPr>
        <p:spPr>
          <a:xfrm>
            <a:off x="12024360" y="6486525"/>
            <a:ext cx="2640330" cy="9525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23" name="Text 20"/>
          <p:cNvSpPr/>
          <p:nvPr/>
        </p:nvSpPr>
        <p:spPr>
          <a:xfrm>
            <a:off x="13959227" y="6246495"/>
            <a:ext cx="78166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71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ملاحظة موثّقة</a:t>
            </a:r>
            <a:endParaRPr lang="en-US" sz="1071" dirty="0"/>
          </a:p>
        </p:txBody>
      </p:sp>
      <p:sp>
        <p:nvSpPr>
          <p:cNvPr id="24" name="Text 21"/>
          <p:cNvSpPr/>
          <p:nvPr/>
        </p:nvSpPr>
        <p:spPr>
          <a:xfrm>
            <a:off x="12024360" y="6246495"/>
            <a:ext cx="66777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71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Mar 2026</a:t>
            </a:r>
            <a:endParaRPr lang="en-US" sz="1071" dirty="0"/>
          </a:p>
        </p:txBody>
      </p:sp>
      <p:sp>
        <p:nvSpPr>
          <p:cNvPr id="25" name="Shape 22"/>
          <p:cNvSpPr/>
          <p:nvPr/>
        </p:nvSpPr>
        <p:spPr>
          <a:xfrm>
            <a:off x="12024360" y="6790563"/>
            <a:ext cx="2640330" cy="9525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26" name="Text 23"/>
          <p:cNvSpPr/>
          <p:nvPr/>
        </p:nvSpPr>
        <p:spPr>
          <a:xfrm>
            <a:off x="14065240" y="6550533"/>
            <a:ext cx="67564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71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صيانة دورية</a:t>
            </a:r>
            <a:endParaRPr lang="en-US" sz="1071" dirty="0"/>
          </a:p>
        </p:txBody>
      </p:sp>
      <p:sp>
        <p:nvSpPr>
          <p:cNvPr id="27" name="Text 24"/>
          <p:cNvSpPr/>
          <p:nvPr/>
        </p:nvSpPr>
        <p:spPr>
          <a:xfrm>
            <a:off x="12024360" y="6550533"/>
            <a:ext cx="148738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71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Aug 2026 · SAR 1,800</a:t>
            </a:r>
            <a:endParaRPr lang="en-US" sz="1071" dirty="0"/>
          </a:p>
        </p:txBody>
      </p:sp>
      <p:sp>
        <p:nvSpPr>
          <p:cNvPr id="28" name="Text 25"/>
          <p:cNvSpPr/>
          <p:nvPr/>
        </p:nvSpPr>
        <p:spPr>
          <a:xfrm>
            <a:off x="12024360" y="6918579"/>
            <a:ext cx="2904362" cy="254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34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المستندات المرفقة</a:t>
            </a:r>
            <a:endParaRPr lang="en-US" sz="1134" dirty="0"/>
          </a:p>
        </p:txBody>
      </p:sp>
      <p:sp>
        <p:nvSpPr>
          <p:cNvPr id="29" name="Shape 26"/>
          <p:cNvSpPr/>
          <p:nvPr/>
        </p:nvSpPr>
        <p:spPr>
          <a:xfrm>
            <a:off x="12024360" y="7446645"/>
            <a:ext cx="2640330" cy="9525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30" name="Text 27"/>
          <p:cNvSpPr/>
          <p:nvPr/>
        </p:nvSpPr>
        <p:spPr>
          <a:xfrm>
            <a:off x="13320897" y="7206615"/>
            <a:ext cx="14781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71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فاتورة الشراء · تقرير الصيانة</a:t>
            </a:r>
            <a:endParaRPr lang="en-US" sz="1071" dirty="0"/>
          </a:p>
        </p:txBody>
      </p:sp>
      <p:sp>
        <p:nvSpPr>
          <p:cNvPr id="31" name="Text 28"/>
          <p:cNvSpPr/>
          <p:nvPr/>
        </p:nvSpPr>
        <p:spPr>
          <a:xfrm>
            <a:off x="12024360" y="7206615"/>
            <a:ext cx="5093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71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2 ملفّات</a:t>
            </a:r>
            <a:endParaRPr lang="en-US" sz="1071" dirty="0"/>
          </a:p>
        </p:txBody>
      </p:sp>
      <p:sp>
        <p:nvSpPr>
          <p:cNvPr id="32" name="Shape 29"/>
          <p:cNvSpPr/>
          <p:nvPr/>
        </p:nvSpPr>
        <p:spPr>
          <a:xfrm>
            <a:off x="12024360" y="7566660"/>
            <a:ext cx="2640330" cy="9525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12664440" y="7958709"/>
            <a:ext cx="2076450" cy="390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73"/>
              </a:lnSpc>
              <a:buNone/>
            </a:pPr>
            <a:r>
              <a:rPr lang="en-US" sz="94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وثيقةٌ توثّق وجود سجلٍّ رقمي داخل بروفاتو. ليست شهادة أصالة أو سند ملكيةٍ قانونياً.</a:t>
            </a:r>
            <a:endParaRPr lang="en-US" sz="945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2386" y="7790688"/>
            <a:ext cx="208026" cy="416052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814006" y="3667125"/>
            <a:ext cx="766324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ترويسة الوثيقة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الشعار، العنوان ثنائي اللغة، ورقم الإصدار.</a:t>
            </a:r>
            <a:endParaRPr lang="en-US" sz="2197" dirty="0"/>
          </a:p>
        </p:txBody>
      </p:sp>
      <p:sp>
        <p:nvSpPr>
          <p:cNvPr id="36" name="Text 32"/>
          <p:cNvSpPr/>
          <p:nvPr/>
        </p:nvSpPr>
        <p:spPr>
          <a:xfrm>
            <a:off x="814006" y="4381500"/>
            <a:ext cx="766324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البيانات الوصفية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المالك، رقم السجلّ، المرجع، والتاريخ.</a:t>
            </a:r>
            <a:endParaRPr lang="en-US" sz="2197" dirty="0"/>
          </a:p>
        </p:txBody>
      </p:sp>
      <p:sp>
        <p:nvSpPr>
          <p:cNvPr id="37" name="Text 33"/>
          <p:cNvSpPr/>
          <p:nvPr/>
        </p:nvSpPr>
        <p:spPr>
          <a:xfrm>
            <a:off x="814006" y="5095875"/>
            <a:ext cx="766324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ملخّص السجلّ الزمني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وقائمة المستندات المرفقة.</a:t>
            </a:r>
            <a:endParaRPr lang="en-US" sz="2197" dirty="0"/>
          </a:p>
        </p:txBody>
      </p:sp>
      <p:sp>
        <p:nvSpPr>
          <p:cNvPr id="38" name="Text 34"/>
          <p:cNvSpPr/>
          <p:nvPr/>
        </p:nvSpPr>
        <p:spPr>
          <a:xfrm>
            <a:off x="814006" y="5810250"/>
            <a:ext cx="766324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الختم ورمز QR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للتحقّق من السجلّ عبر معاينةٍ عامة.</a:t>
            </a:r>
            <a:endParaRPr lang="en-US" sz="2197" dirty="0"/>
          </a:p>
        </p:txBody>
      </p:sp>
      <p:sp>
        <p:nvSpPr>
          <p:cNvPr id="39" name="Shape 35"/>
          <p:cNvSpPr/>
          <p:nvPr/>
        </p:nvSpPr>
        <p:spPr>
          <a:xfrm>
            <a:off x="1047750" y="6962775"/>
            <a:ext cx="7791450" cy="942975"/>
          </a:xfrm>
          <a:prstGeom prst="roundRect">
            <a:avLst>
              <a:gd name="adj" fmla="val 14141"/>
            </a:avLst>
          </a:prstGeom>
          <a:solidFill>
            <a:srgbClr val="EEEBE4"/>
          </a:solidFill>
          <a:ln w="9525">
            <a:solidFill>
              <a:srgbClr val="C9A86A">
                <a:alpha val="3200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400175" y="7219950"/>
            <a:ext cx="732034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838"/>
              </a:lnSpc>
              <a:buNone/>
            </a:pPr>
            <a:r>
              <a:rPr lang="en-US" sz="189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موضعٌ واضح: </a:t>
            </a:r>
            <a:pPr algn="l" indent="0" marL="0">
              <a:lnSpc>
                <a:spcPct val="122838"/>
              </a:lnSpc>
              <a:buNone/>
            </a:pPr>
            <a:r>
              <a:rPr lang="en-US" sz="1894" dirty="0">
                <a:solidFill>
                  <a:srgbClr val="565E6C"/>
                </a:solidFill>
                <a:highlight>
                  <a:srgbClr val="EEEBE4"/>
                </a:highlight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وثيقة ملخّص سجلّ — لا شهادة أصالة، ولا وثيقة ملكيةٍ قانونية.</a:t>
            </a:r>
            <a:endParaRPr lang="en-US" sz="1894" dirty="0"/>
          </a:p>
        </p:txBody>
      </p:sp>
      <p:sp>
        <p:nvSpPr>
          <p:cNvPr id="41" name="Text 37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39 / 84</a:t>
            </a:r>
            <a:endParaRPr lang="en-US" sz="1800" dirty="0"/>
          </a:p>
        </p:txBody>
      </p:sp>
      <p:sp>
        <p:nvSpPr>
          <p:cNvPr id="42" name="Text 38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MOBILE SUMMARY · PRIVACY PRINCIPLES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الوثيقة على الجوّال والخصوصية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054602" y="3695700"/>
            <a:ext cx="1282369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الخصوصية أولاً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المعاينة العامة تُظهر وجود السجلّ دون بيانات المالك.</a:t>
            </a:r>
            <a:endParaRPr lang="en-US" sz="2197" dirty="0"/>
          </a:p>
        </p:txBody>
      </p:sp>
      <p:sp>
        <p:nvSpPr>
          <p:cNvPr id="6" name="Text 4"/>
          <p:cNvSpPr/>
          <p:nvPr/>
        </p:nvSpPr>
        <p:spPr>
          <a:xfrm>
            <a:off x="4054602" y="4448175"/>
            <a:ext cx="1282369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تحكّم المالك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هو من يقرّر ما يُشارَك ومع من، ومتى.</a:t>
            </a:r>
            <a:endParaRPr lang="en-US" sz="2197" dirty="0"/>
          </a:p>
        </p:txBody>
      </p:sp>
      <p:sp>
        <p:nvSpPr>
          <p:cNvPr id="7" name="Text 5"/>
          <p:cNvSpPr/>
          <p:nvPr/>
        </p:nvSpPr>
        <p:spPr>
          <a:xfrm>
            <a:off x="4054602" y="5200650"/>
            <a:ext cx="1282369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معرّفٌ ثابت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رقم السجلّ يبقى مرجعاً واحداً عبر كل النسخ.</a:t>
            </a:r>
            <a:endParaRPr lang="en-US" sz="2197" dirty="0"/>
          </a:p>
        </p:txBody>
      </p:sp>
      <p:sp>
        <p:nvSpPr>
          <p:cNvPr id="8" name="Text 6"/>
          <p:cNvSpPr/>
          <p:nvPr/>
        </p:nvSpPr>
        <p:spPr>
          <a:xfrm>
            <a:off x="4054602" y="5953125"/>
            <a:ext cx="1282369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لغةٌ متوافقة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«توثيق سجلّ» لا «ضمان أصالة» ولا «نقل ملكية».</a:t>
            </a:r>
            <a:endParaRPr lang="en-US" sz="2197" dirty="0"/>
          </a:p>
        </p:txBody>
      </p:sp>
      <p:sp>
        <p:nvSpPr>
          <p:cNvPr id="9" name="Shape 7"/>
          <p:cNvSpPr/>
          <p:nvPr/>
        </p:nvSpPr>
        <p:spPr>
          <a:xfrm>
            <a:off x="4438650" y="7143750"/>
            <a:ext cx="12801600" cy="942975"/>
          </a:xfrm>
          <a:prstGeom prst="roundRect">
            <a:avLst>
              <a:gd name="adj" fmla="val 14141"/>
            </a:avLst>
          </a:prstGeom>
          <a:solidFill>
            <a:srgbClr val="EEEBE4"/>
          </a:solidFill>
          <a:ln w="9525">
            <a:solidFill>
              <a:srgbClr val="C9A86A">
                <a:alpha val="3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075" y="7400925"/>
            <a:ext cx="1248079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838"/>
              </a:lnSpc>
              <a:buNone/>
            </a:pPr>
            <a:r>
              <a:rPr lang="en-US" sz="1894" dirty="0">
                <a:solidFill>
                  <a:srgbClr val="565E6C"/>
                </a:solidFill>
                <a:highlight>
                  <a:srgbClr val="EEEBE4"/>
                </a:highlight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تُعرض الوثيقة بوصفها </a:t>
            </a:r>
            <a:pPr algn="l" indent="0" marL="0">
              <a:lnSpc>
                <a:spcPct val="122838"/>
              </a:lnSpc>
              <a:buNone/>
            </a:pPr>
            <a:r>
              <a:rPr lang="en-US" sz="189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ملخّص سجلّ </a:t>
            </a:r>
            <a:pPr algn="l" indent="0" marL="0">
              <a:lnSpc>
                <a:spcPct val="122838"/>
              </a:lnSpc>
              <a:buNone/>
            </a:pPr>
            <a:r>
              <a:rPr lang="en-US" sz="1894" dirty="0">
                <a:solidFill>
                  <a:srgbClr val="565E6C"/>
                </a:solidFill>
                <a:highlight>
                  <a:srgbClr val="EEEBE4"/>
                </a:highlight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؛ التنزيل بصيغة PDF متاحٌ للمالك مع الحفاظ على خصوصية بياناته.</a:t>
            </a:r>
            <a:endParaRPr lang="en-US" sz="1894" dirty="0"/>
          </a:p>
        </p:txBody>
      </p:sp>
      <p:sp>
        <p:nvSpPr>
          <p:cNvPr id="11" name="Shape 9"/>
          <p:cNvSpPr/>
          <p:nvPr/>
        </p:nvSpPr>
        <p:spPr>
          <a:xfrm>
            <a:off x="1047750" y="3033713"/>
            <a:ext cx="2628900" cy="5715000"/>
          </a:xfrm>
          <a:prstGeom prst="roundRect">
            <a:avLst>
              <a:gd name="adj" fmla="val 79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76200" dir="5400000">
              <a:srgbClr val="0A111F">
                <a:alpha val="14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71700" y="3357563"/>
            <a:ext cx="1238250" cy="61912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314450" y="3490913"/>
            <a:ext cx="592931" cy="352425"/>
          </a:xfrm>
          <a:prstGeom prst="roundRect">
            <a:avLst>
              <a:gd name="adj" fmla="val 50000"/>
            </a:avLst>
          </a:prstGeom>
          <a:solidFill>
            <a:srgbClr val="C9A86A">
              <a:alpha val="7000"/>
            </a:srgbClr>
          </a:solidFill>
          <a:ln w="9525">
            <a:solidFill>
              <a:srgbClr val="C9A86A">
                <a:alpha val="5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47800" y="3548063"/>
            <a:ext cx="40243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موثّق</a:t>
            </a:r>
            <a:endParaRPr lang="en-US" sz="1275" dirty="0"/>
          </a:p>
        </p:txBody>
      </p:sp>
      <p:sp>
        <p:nvSpPr>
          <p:cNvPr id="15" name="Text 12"/>
          <p:cNvSpPr/>
          <p:nvPr/>
        </p:nvSpPr>
        <p:spPr>
          <a:xfrm>
            <a:off x="1276350" y="4167188"/>
            <a:ext cx="21717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ملخّص السجلّ الرقمي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1209675" y="4948238"/>
            <a:ext cx="23050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#PRV-0482 · v1.0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314450" y="5776913"/>
            <a:ext cx="2095500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18" name="Text 15"/>
          <p:cNvSpPr/>
          <p:nvPr/>
        </p:nvSpPr>
        <p:spPr>
          <a:xfrm>
            <a:off x="2914799" y="5376863"/>
            <a:ext cx="5713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المالك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1314450" y="5376863"/>
            <a:ext cx="10260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زياد الوشمي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1314450" y="6319838"/>
            <a:ext cx="2095500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1" name="Text 18"/>
          <p:cNvSpPr/>
          <p:nvPr/>
        </p:nvSpPr>
        <p:spPr>
          <a:xfrm>
            <a:off x="2362349" y="5919788"/>
            <a:ext cx="11238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الرقم المرجعي</a:t>
            </a:r>
            <a:endParaRPr lang="en-US" sz="1575" dirty="0"/>
          </a:p>
        </p:txBody>
      </p:sp>
      <p:sp>
        <p:nvSpPr>
          <p:cNvPr id="22" name="Text 19"/>
          <p:cNvSpPr/>
          <p:nvPr/>
        </p:nvSpPr>
        <p:spPr>
          <a:xfrm>
            <a:off x="1314450" y="5929313"/>
            <a:ext cx="9038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AB-2104</a:t>
            </a:r>
            <a:endParaRPr lang="en-US" sz="1575" dirty="0"/>
          </a:p>
        </p:txBody>
      </p:sp>
      <p:sp>
        <p:nvSpPr>
          <p:cNvPr id="23" name="Shape 20"/>
          <p:cNvSpPr/>
          <p:nvPr/>
        </p:nvSpPr>
        <p:spPr>
          <a:xfrm>
            <a:off x="1314450" y="6862763"/>
            <a:ext cx="2095500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4" name="Text 21"/>
          <p:cNvSpPr/>
          <p:nvPr/>
        </p:nvSpPr>
        <p:spPr>
          <a:xfrm>
            <a:off x="2484537" y="6462713"/>
            <a:ext cx="10016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تاريخ الإصدار</a:t>
            </a:r>
            <a:endParaRPr lang="en-US" sz="1575" dirty="0"/>
          </a:p>
        </p:txBody>
      </p:sp>
      <p:sp>
        <p:nvSpPr>
          <p:cNvPr id="25" name="Text 22"/>
          <p:cNvSpPr/>
          <p:nvPr/>
        </p:nvSpPr>
        <p:spPr>
          <a:xfrm>
            <a:off x="1314450" y="6472238"/>
            <a:ext cx="12291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Jan 2026</a:t>
            </a:r>
            <a:endParaRPr lang="en-US" sz="1575" dirty="0"/>
          </a:p>
        </p:txBody>
      </p:sp>
      <p:sp>
        <p:nvSpPr>
          <p:cNvPr id="26" name="Text 23"/>
          <p:cNvSpPr/>
          <p:nvPr/>
        </p:nvSpPr>
        <p:spPr>
          <a:xfrm>
            <a:off x="2240905" y="7005638"/>
            <a:ext cx="12452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الأحداث الموثّقة</a:t>
            </a:r>
            <a:endParaRPr lang="en-US" sz="1575" dirty="0"/>
          </a:p>
        </p:txBody>
      </p:sp>
      <p:sp>
        <p:nvSpPr>
          <p:cNvPr id="27" name="Text 24"/>
          <p:cNvSpPr/>
          <p:nvPr/>
        </p:nvSpPr>
        <p:spPr>
          <a:xfrm>
            <a:off x="1314450" y="7015163"/>
            <a:ext cx="1963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575" dirty="0"/>
          </a:p>
        </p:txBody>
      </p:sp>
      <p:sp>
        <p:nvSpPr>
          <p:cNvPr id="28" name="Shape 25"/>
          <p:cNvSpPr/>
          <p:nvPr/>
        </p:nvSpPr>
        <p:spPr>
          <a:xfrm>
            <a:off x="1743075" y="7500938"/>
            <a:ext cx="123825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7E2D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767757" y="7586663"/>
            <a:ext cx="127843" cy="127843"/>
          </a:xfrm>
          <a:prstGeom prst="roundRect">
            <a:avLst>
              <a:gd name="adj" fmla="val 14901"/>
            </a:avLst>
          </a:prstGeom>
          <a:solidFill>
            <a:srgbClr val="0A111F"/>
          </a:solidFill>
          <a:ln/>
        </p:spPr>
      </p:sp>
      <p:sp>
        <p:nvSpPr>
          <p:cNvPr id="30" name="Shape 27"/>
          <p:cNvSpPr/>
          <p:nvPr/>
        </p:nvSpPr>
        <p:spPr>
          <a:xfrm>
            <a:off x="2611338" y="7586663"/>
            <a:ext cx="127843" cy="127843"/>
          </a:xfrm>
          <a:prstGeom prst="roundRect">
            <a:avLst>
              <a:gd name="adj" fmla="val 14901"/>
            </a:avLst>
          </a:prstGeom>
          <a:solidFill>
            <a:srgbClr val="0A111F"/>
          </a:solidFill>
          <a:ln/>
        </p:spPr>
      </p:sp>
      <p:sp>
        <p:nvSpPr>
          <p:cNvPr id="31" name="Shape 28"/>
          <p:cNvSpPr/>
          <p:nvPr/>
        </p:nvSpPr>
        <p:spPr>
          <a:xfrm>
            <a:off x="2298353" y="7586663"/>
            <a:ext cx="127843" cy="127843"/>
          </a:xfrm>
          <a:prstGeom prst="roundRect">
            <a:avLst>
              <a:gd name="adj" fmla="val 14901"/>
            </a:avLst>
          </a:prstGeom>
          <a:solidFill>
            <a:srgbClr val="0A111F"/>
          </a:solidFill>
          <a:ln/>
        </p:spPr>
      </p:sp>
      <p:sp>
        <p:nvSpPr>
          <p:cNvPr id="32" name="Shape 29"/>
          <p:cNvSpPr/>
          <p:nvPr/>
        </p:nvSpPr>
        <p:spPr>
          <a:xfrm>
            <a:off x="1985367" y="7586663"/>
            <a:ext cx="127843" cy="127843"/>
          </a:xfrm>
          <a:prstGeom prst="roundRect">
            <a:avLst>
              <a:gd name="adj" fmla="val 14901"/>
            </a:avLst>
          </a:prstGeom>
          <a:solidFill>
            <a:srgbClr val="0A111F"/>
          </a:solidFill>
          <a:ln/>
        </p:spPr>
      </p:sp>
      <p:sp>
        <p:nvSpPr>
          <p:cNvPr id="33" name="Shape 30"/>
          <p:cNvSpPr/>
          <p:nvPr/>
        </p:nvSpPr>
        <p:spPr>
          <a:xfrm>
            <a:off x="1828800" y="7586663"/>
            <a:ext cx="127992" cy="127843"/>
          </a:xfrm>
          <a:prstGeom prst="roundRect">
            <a:avLst>
              <a:gd name="adj" fmla="val 14901"/>
            </a:avLst>
          </a:prstGeom>
          <a:solidFill>
            <a:srgbClr val="0A111F"/>
          </a:solidFill>
          <a:ln/>
        </p:spPr>
      </p:sp>
      <p:sp>
        <p:nvSpPr>
          <p:cNvPr id="34" name="Shape 31"/>
          <p:cNvSpPr/>
          <p:nvPr/>
        </p:nvSpPr>
        <p:spPr>
          <a:xfrm>
            <a:off x="2767757" y="7743081"/>
            <a:ext cx="127843" cy="127843"/>
          </a:xfrm>
          <a:prstGeom prst="roundRect">
            <a:avLst>
              <a:gd name="adj" fmla="val 14901"/>
            </a:avLst>
          </a:prstGeom>
          <a:solidFill>
            <a:srgbClr val="0A111F"/>
          </a:solidFill>
          <a:ln/>
        </p:spPr>
      </p:sp>
      <p:sp>
        <p:nvSpPr>
          <p:cNvPr id="35" name="Shape 32"/>
          <p:cNvSpPr/>
          <p:nvPr/>
        </p:nvSpPr>
        <p:spPr>
          <a:xfrm>
            <a:off x="2454771" y="7743081"/>
            <a:ext cx="127992" cy="127843"/>
          </a:xfrm>
          <a:prstGeom prst="roundRect">
            <a:avLst>
              <a:gd name="adj" fmla="val 14901"/>
            </a:avLst>
          </a:prstGeom>
          <a:solidFill>
            <a:srgbClr val="0A111F"/>
          </a:solidFill>
          <a:ln/>
        </p:spPr>
      </p:sp>
      <p:sp>
        <p:nvSpPr>
          <p:cNvPr id="36" name="Shape 33"/>
          <p:cNvSpPr/>
          <p:nvPr/>
        </p:nvSpPr>
        <p:spPr>
          <a:xfrm>
            <a:off x="2141786" y="7743081"/>
            <a:ext cx="127992" cy="127843"/>
          </a:xfrm>
          <a:prstGeom prst="roundRect">
            <a:avLst>
              <a:gd name="adj" fmla="val 14901"/>
            </a:avLst>
          </a:prstGeom>
          <a:solidFill>
            <a:srgbClr val="0A111F"/>
          </a:solidFill>
          <a:ln/>
        </p:spPr>
      </p:sp>
      <p:sp>
        <p:nvSpPr>
          <p:cNvPr id="37" name="Shape 34"/>
          <p:cNvSpPr/>
          <p:nvPr/>
        </p:nvSpPr>
        <p:spPr>
          <a:xfrm>
            <a:off x="1828800" y="7743081"/>
            <a:ext cx="127992" cy="127843"/>
          </a:xfrm>
          <a:prstGeom prst="roundRect">
            <a:avLst>
              <a:gd name="adj" fmla="val 14901"/>
            </a:avLst>
          </a:prstGeom>
          <a:solidFill>
            <a:srgbClr val="0A111F"/>
          </a:solidFill>
          <a:ln/>
        </p:spPr>
      </p:sp>
      <p:sp>
        <p:nvSpPr>
          <p:cNvPr id="38" name="Shape 35"/>
          <p:cNvSpPr/>
          <p:nvPr/>
        </p:nvSpPr>
        <p:spPr>
          <a:xfrm>
            <a:off x="2611338" y="7899499"/>
            <a:ext cx="127843" cy="127992"/>
          </a:xfrm>
          <a:prstGeom prst="roundRect">
            <a:avLst>
              <a:gd name="adj" fmla="val 14901"/>
            </a:avLst>
          </a:prstGeom>
          <a:solidFill>
            <a:srgbClr val="0A111F"/>
          </a:solidFill>
          <a:ln/>
        </p:spPr>
      </p:sp>
      <p:sp>
        <p:nvSpPr>
          <p:cNvPr id="39" name="Shape 36"/>
          <p:cNvSpPr/>
          <p:nvPr/>
        </p:nvSpPr>
        <p:spPr>
          <a:xfrm>
            <a:off x="2454771" y="7899499"/>
            <a:ext cx="127992" cy="127992"/>
          </a:xfrm>
          <a:prstGeom prst="roundRect">
            <a:avLst>
              <a:gd name="adj" fmla="val 14884"/>
            </a:avLst>
          </a:prstGeom>
          <a:solidFill>
            <a:srgbClr val="0A111F"/>
          </a:solidFill>
          <a:ln/>
        </p:spPr>
      </p:sp>
      <p:sp>
        <p:nvSpPr>
          <p:cNvPr id="40" name="Shape 37"/>
          <p:cNvSpPr/>
          <p:nvPr/>
        </p:nvSpPr>
        <p:spPr>
          <a:xfrm>
            <a:off x="2298353" y="7899499"/>
            <a:ext cx="127843" cy="127992"/>
          </a:xfrm>
          <a:prstGeom prst="roundRect">
            <a:avLst>
              <a:gd name="adj" fmla="val 14901"/>
            </a:avLst>
          </a:prstGeom>
          <a:solidFill>
            <a:srgbClr val="0A111F"/>
          </a:solidFill>
          <a:ln/>
        </p:spPr>
      </p:sp>
      <p:sp>
        <p:nvSpPr>
          <p:cNvPr id="41" name="Shape 38"/>
          <p:cNvSpPr/>
          <p:nvPr/>
        </p:nvSpPr>
        <p:spPr>
          <a:xfrm>
            <a:off x="1828800" y="7899499"/>
            <a:ext cx="127992" cy="127992"/>
          </a:xfrm>
          <a:prstGeom prst="roundRect">
            <a:avLst>
              <a:gd name="adj" fmla="val 14884"/>
            </a:avLst>
          </a:prstGeom>
          <a:solidFill>
            <a:srgbClr val="0A111F"/>
          </a:solidFill>
          <a:ln/>
        </p:spPr>
      </p:sp>
      <p:sp>
        <p:nvSpPr>
          <p:cNvPr id="42" name="Shape 39"/>
          <p:cNvSpPr/>
          <p:nvPr/>
        </p:nvSpPr>
        <p:spPr>
          <a:xfrm>
            <a:off x="2767757" y="8056066"/>
            <a:ext cx="127843" cy="127843"/>
          </a:xfrm>
          <a:prstGeom prst="roundRect">
            <a:avLst>
              <a:gd name="adj" fmla="val 14901"/>
            </a:avLst>
          </a:prstGeom>
          <a:solidFill>
            <a:srgbClr val="0A111F"/>
          </a:solidFill>
          <a:ln/>
        </p:spPr>
      </p:sp>
      <p:sp>
        <p:nvSpPr>
          <p:cNvPr id="43" name="Shape 40"/>
          <p:cNvSpPr/>
          <p:nvPr/>
        </p:nvSpPr>
        <p:spPr>
          <a:xfrm>
            <a:off x="2454771" y="8056066"/>
            <a:ext cx="127992" cy="127843"/>
          </a:xfrm>
          <a:prstGeom prst="roundRect">
            <a:avLst>
              <a:gd name="adj" fmla="val 14901"/>
            </a:avLst>
          </a:prstGeom>
          <a:solidFill>
            <a:srgbClr val="0A111F"/>
          </a:solidFill>
          <a:ln/>
        </p:spPr>
      </p:sp>
      <p:sp>
        <p:nvSpPr>
          <p:cNvPr id="44" name="Shape 41"/>
          <p:cNvSpPr/>
          <p:nvPr/>
        </p:nvSpPr>
        <p:spPr>
          <a:xfrm>
            <a:off x="2141786" y="8056066"/>
            <a:ext cx="127992" cy="127843"/>
          </a:xfrm>
          <a:prstGeom prst="roundRect">
            <a:avLst>
              <a:gd name="adj" fmla="val 14901"/>
            </a:avLst>
          </a:prstGeom>
          <a:solidFill>
            <a:srgbClr val="0A111F"/>
          </a:solidFill>
          <a:ln/>
        </p:spPr>
      </p:sp>
      <p:sp>
        <p:nvSpPr>
          <p:cNvPr id="45" name="Shape 42"/>
          <p:cNvSpPr/>
          <p:nvPr/>
        </p:nvSpPr>
        <p:spPr>
          <a:xfrm>
            <a:off x="1985367" y="8056066"/>
            <a:ext cx="127843" cy="127843"/>
          </a:xfrm>
          <a:prstGeom prst="roundRect">
            <a:avLst>
              <a:gd name="adj" fmla="val 14901"/>
            </a:avLst>
          </a:prstGeom>
          <a:solidFill>
            <a:srgbClr val="0A111F"/>
          </a:solidFill>
          <a:ln/>
        </p:spPr>
      </p:sp>
      <p:sp>
        <p:nvSpPr>
          <p:cNvPr id="46" name="Shape 43"/>
          <p:cNvSpPr/>
          <p:nvPr/>
        </p:nvSpPr>
        <p:spPr>
          <a:xfrm>
            <a:off x="2611338" y="8212485"/>
            <a:ext cx="127843" cy="127992"/>
          </a:xfrm>
          <a:prstGeom prst="roundRect">
            <a:avLst>
              <a:gd name="adj" fmla="val 14901"/>
            </a:avLst>
          </a:prstGeom>
          <a:solidFill>
            <a:srgbClr val="0A111F"/>
          </a:solidFill>
          <a:ln/>
        </p:spPr>
      </p:sp>
      <p:sp>
        <p:nvSpPr>
          <p:cNvPr id="47" name="Shape 44"/>
          <p:cNvSpPr/>
          <p:nvPr/>
        </p:nvSpPr>
        <p:spPr>
          <a:xfrm>
            <a:off x="2298353" y="8212485"/>
            <a:ext cx="127843" cy="127992"/>
          </a:xfrm>
          <a:prstGeom prst="roundRect">
            <a:avLst>
              <a:gd name="adj" fmla="val 14901"/>
            </a:avLst>
          </a:prstGeom>
          <a:solidFill>
            <a:srgbClr val="0A111F"/>
          </a:solidFill>
          <a:ln/>
        </p:spPr>
      </p:sp>
      <p:sp>
        <p:nvSpPr>
          <p:cNvPr id="48" name="Shape 45"/>
          <p:cNvSpPr/>
          <p:nvPr/>
        </p:nvSpPr>
        <p:spPr>
          <a:xfrm>
            <a:off x="1985367" y="8212485"/>
            <a:ext cx="127843" cy="127992"/>
          </a:xfrm>
          <a:prstGeom prst="roundRect">
            <a:avLst>
              <a:gd name="adj" fmla="val 14901"/>
            </a:avLst>
          </a:prstGeom>
          <a:solidFill>
            <a:srgbClr val="0A111F"/>
          </a:solidFill>
          <a:ln/>
        </p:spPr>
      </p:sp>
      <p:sp>
        <p:nvSpPr>
          <p:cNvPr id="49" name="Shape 46"/>
          <p:cNvSpPr/>
          <p:nvPr/>
        </p:nvSpPr>
        <p:spPr>
          <a:xfrm>
            <a:off x="1828800" y="8212485"/>
            <a:ext cx="127992" cy="127992"/>
          </a:xfrm>
          <a:prstGeom prst="roundRect">
            <a:avLst>
              <a:gd name="adj" fmla="val 14884"/>
            </a:avLst>
          </a:prstGeom>
          <a:solidFill>
            <a:srgbClr val="0A111F"/>
          </a:solidFill>
          <a:ln/>
        </p:spPr>
      </p:sp>
      <p:sp>
        <p:nvSpPr>
          <p:cNvPr id="50" name="Shape 47"/>
          <p:cNvSpPr/>
          <p:nvPr/>
        </p:nvSpPr>
        <p:spPr>
          <a:xfrm>
            <a:off x="2767757" y="8369052"/>
            <a:ext cx="127843" cy="127843"/>
          </a:xfrm>
          <a:prstGeom prst="roundRect">
            <a:avLst>
              <a:gd name="adj" fmla="val 14901"/>
            </a:avLst>
          </a:prstGeom>
          <a:solidFill>
            <a:srgbClr val="0A111F"/>
          </a:solidFill>
          <a:ln/>
        </p:spPr>
      </p:sp>
      <p:sp>
        <p:nvSpPr>
          <p:cNvPr id="51" name="Shape 48"/>
          <p:cNvSpPr/>
          <p:nvPr/>
        </p:nvSpPr>
        <p:spPr>
          <a:xfrm>
            <a:off x="2611338" y="8369052"/>
            <a:ext cx="127843" cy="127843"/>
          </a:xfrm>
          <a:prstGeom prst="roundRect">
            <a:avLst>
              <a:gd name="adj" fmla="val 14901"/>
            </a:avLst>
          </a:prstGeom>
          <a:solidFill>
            <a:srgbClr val="0A111F"/>
          </a:solidFill>
          <a:ln/>
        </p:spPr>
      </p:sp>
      <p:sp>
        <p:nvSpPr>
          <p:cNvPr id="52" name="Shape 49"/>
          <p:cNvSpPr/>
          <p:nvPr/>
        </p:nvSpPr>
        <p:spPr>
          <a:xfrm>
            <a:off x="2141786" y="8369052"/>
            <a:ext cx="127992" cy="127843"/>
          </a:xfrm>
          <a:prstGeom prst="roundRect">
            <a:avLst>
              <a:gd name="adj" fmla="val 14901"/>
            </a:avLst>
          </a:prstGeom>
          <a:solidFill>
            <a:srgbClr val="0A111F"/>
          </a:solidFill>
          <a:ln/>
        </p:spPr>
      </p:sp>
      <p:sp>
        <p:nvSpPr>
          <p:cNvPr id="53" name="Shape 50"/>
          <p:cNvSpPr/>
          <p:nvPr/>
        </p:nvSpPr>
        <p:spPr>
          <a:xfrm>
            <a:off x="1828800" y="8369052"/>
            <a:ext cx="127992" cy="127843"/>
          </a:xfrm>
          <a:prstGeom prst="roundRect">
            <a:avLst>
              <a:gd name="adj" fmla="val 14901"/>
            </a:avLst>
          </a:prstGeom>
          <a:solidFill>
            <a:srgbClr val="0A111F"/>
          </a:solidFill>
          <a:ln/>
        </p:spPr>
      </p:sp>
      <p:sp>
        <p:nvSpPr>
          <p:cNvPr id="54" name="Shape 51"/>
          <p:cNvSpPr/>
          <p:nvPr/>
        </p:nvSpPr>
        <p:spPr>
          <a:xfrm>
            <a:off x="2767757" y="8525470"/>
            <a:ext cx="127843" cy="127992"/>
          </a:xfrm>
          <a:prstGeom prst="roundRect">
            <a:avLst>
              <a:gd name="adj" fmla="val 14901"/>
            </a:avLst>
          </a:prstGeom>
          <a:solidFill>
            <a:srgbClr val="0A111F"/>
          </a:solidFill>
          <a:ln/>
        </p:spPr>
      </p:sp>
      <p:sp>
        <p:nvSpPr>
          <p:cNvPr id="55" name="Shape 52"/>
          <p:cNvSpPr/>
          <p:nvPr/>
        </p:nvSpPr>
        <p:spPr>
          <a:xfrm>
            <a:off x="2454771" y="8525470"/>
            <a:ext cx="127992" cy="127992"/>
          </a:xfrm>
          <a:prstGeom prst="roundRect">
            <a:avLst>
              <a:gd name="adj" fmla="val 14884"/>
            </a:avLst>
          </a:prstGeom>
          <a:solidFill>
            <a:srgbClr val="0A111F"/>
          </a:solidFill>
          <a:ln/>
        </p:spPr>
      </p:sp>
      <p:sp>
        <p:nvSpPr>
          <p:cNvPr id="56" name="Shape 53"/>
          <p:cNvSpPr/>
          <p:nvPr/>
        </p:nvSpPr>
        <p:spPr>
          <a:xfrm>
            <a:off x="2298353" y="8525470"/>
            <a:ext cx="127843" cy="127992"/>
          </a:xfrm>
          <a:prstGeom prst="roundRect">
            <a:avLst>
              <a:gd name="adj" fmla="val 14901"/>
            </a:avLst>
          </a:prstGeom>
          <a:solidFill>
            <a:srgbClr val="0A111F"/>
          </a:solidFill>
          <a:ln/>
        </p:spPr>
      </p:sp>
      <p:sp>
        <p:nvSpPr>
          <p:cNvPr id="57" name="Shape 54"/>
          <p:cNvSpPr/>
          <p:nvPr/>
        </p:nvSpPr>
        <p:spPr>
          <a:xfrm>
            <a:off x="1985367" y="8525470"/>
            <a:ext cx="127843" cy="127992"/>
          </a:xfrm>
          <a:prstGeom prst="roundRect">
            <a:avLst>
              <a:gd name="adj" fmla="val 14901"/>
            </a:avLst>
          </a:prstGeom>
          <a:solidFill>
            <a:srgbClr val="0A111F"/>
          </a:solidFill>
          <a:ln/>
        </p:spPr>
      </p:sp>
      <p:sp>
        <p:nvSpPr>
          <p:cNvPr id="58" name="Shape 55"/>
          <p:cNvSpPr/>
          <p:nvPr/>
        </p:nvSpPr>
        <p:spPr>
          <a:xfrm>
            <a:off x="1828800" y="8525470"/>
            <a:ext cx="127992" cy="127992"/>
          </a:xfrm>
          <a:prstGeom prst="roundRect">
            <a:avLst>
              <a:gd name="adj" fmla="val 14884"/>
            </a:avLst>
          </a:prstGeom>
          <a:solidFill>
            <a:srgbClr val="0A111F"/>
          </a:solidFill>
          <a:ln/>
        </p:spPr>
      </p:sp>
      <p:sp>
        <p:nvSpPr>
          <p:cNvPr id="59" name="Shape 56"/>
          <p:cNvSpPr/>
          <p:nvPr/>
        </p:nvSpPr>
        <p:spPr>
          <a:xfrm>
            <a:off x="1314450" y="8929688"/>
            <a:ext cx="2095500" cy="485775"/>
          </a:xfrm>
          <a:prstGeom prst="roundRect">
            <a:avLst>
              <a:gd name="adj" fmla="val 19608"/>
            </a:avLst>
          </a:prstGeom>
          <a:solidFill>
            <a:srgbClr val="12B5B0"/>
          </a:solidFill>
          <a:ln/>
        </p:spPr>
      </p:sp>
      <p:sp>
        <p:nvSpPr>
          <p:cNvPr id="60" name="Text 57"/>
          <p:cNvSpPr/>
          <p:nvPr/>
        </p:nvSpPr>
        <p:spPr>
          <a:xfrm>
            <a:off x="1524000" y="9034463"/>
            <a:ext cx="16764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082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تنزيل الملخّص PDF</a:t>
            </a:r>
            <a:endParaRPr lang="en-US" sz="1425" dirty="0"/>
          </a:p>
        </p:txBody>
      </p:sp>
      <p:sp>
        <p:nvSpPr>
          <p:cNvPr id="61" name="Text 58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40 / 84</a:t>
            </a:r>
            <a:endParaRPr lang="en-US" sz="1800" dirty="0"/>
          </a:p>
        </p:txBody>
      </p:sp>
      <p:sp>
        <p:nvSpPr>
          <p:cNvPr id="62" name="Text 59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524000" y="5905500"/>
            <a:ext cx="5905500" cy="5905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571500" y="3733800"/>
            <a:ext cx="178117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spc="675" kern="0" dirty="0">
                <a:solidFill>
                  <a:srgbClr val="D8BF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 — Brand in Market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047750" y="4295775"/>
            <a:ext cx="17811750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6300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العلامة في السوق</a:t>
            </a:r>
            <a:endParaRPr lang="en-US" sz="6300" dirty="0"/>
          </a:p>
        </p:txBody>
      </p:sp>
      <p:sp>
        <p:nvSpPr>
          <p:cNvPr id="5" name="Text 2"/>
          <p:cNvSpPr/>
          <p:nvPr/>
        </p:nvSpPr>
        <p:spPr>
          <a:xfrm>
            <a:off x="1047750" y="5657850"/>
            <a:ext cx="1667827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467"/>
              </a:lnSpc>
              <a:buNone/>
            </a:pPr>
            <a:r>
              <a:rPr lang="en-US" sz="2424" dirty="0">
                <a:solidFill>
                  <a:srgbClr val="8E97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التواصل الاجتماعي · المتاجر الرقمية · التسويق · الموقع الإلكتروني</a:t>
            </a:r>
            <a:endParaRPr lang="en-US" sz="2424" dirty="0"/>
          </a:p>
        </p:txBody>
      </p:sp>
      <p:sp>
        <p:nvSpPr>
          <p:cNvPr id="6" name="Text 3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C66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41 / 84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8E97A8">
                    <a:alpha val="6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SOCIAL SYSTEM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نظام التواصل الاجتماعي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6433750" y="4271814"/>
            <a:ext cx="806500" cy="806500"/>
          </a:xfrm>
          <a:prstGeom prst="roundRect">
            <a:avLst>
              <a:gd name="adj" fmla="val 7086"/>
            </a:avLst>
          </a:prstGeom>
          <a:gradFill rotWithShape="1">
            <a:gsLst>
              <a:gs pos="0">
                <a:srgbClr val="16233C">
                  <a:alpha val="100000"/>
                </a:srgbClr>
              </a:gs>
              <a:gs pos="100000">
                <a:srgbClr val="0A111F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6" name="Shape 4"/>
          <p:cNvSpPr/>
          <p:nvPr/>
        </p:nvSpPr>
        <p:spPr>
          <a:xfrm>
            <a:off x="15551051" y="4271814"/>
            <a:ext cx="806500" cy="806500"/>
          </a:xfrm>
          <a:prstGeom prst="roundRect">
            <a:avLst>
              <a:gd name="adj" fmla="val 7086"/>
            </a:avLst>
          </a:prstGeom>
          <a:solidFill>
            <a:srgbClr val="F5F3EF"/>
          </a:solidFill>
          <a:ln/>
        </p:spPr>
      </p:sp>
      <p:sp>
        <p:nvSpPr>
          <p:cNvPr id="7" name="Shape 5"/>
          <p:cNvSpPr/>
          <p:nvPr/>
        </p:nvSpPr>
        <p:spPr>
          <a:xfrm>
            <a:off x="14668351" y="4271814"/>
            <a:ext cx="806500" cy="806500"/>
          </a:xfrm>
          <a:prstGeom prst="roundRect">
            <a:avLst>
              <a:gd name="adj" fmla="val 7086"/>
            </a:avLst>
          </a:prstGeom>
          <a:gradFill rotWithShape="1">
            <a:gsLst>
              <a:gs pos="0">
                <a:srgbClr val="12B5B0">
                  <a:alpha val="100000"/>
                </a:srgbClr>
              </a:gs>
              <a:gs pos="100000">
                <a:srgbClr val="0B7C79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8" name="Shape 6"/>
          <p:cNvSpPr/>
          <p:nvPr/>
        </p:nvSpPr>
        <p:spPr>
          <a:xfrm>
            <a:off x="16433750" y="5154513"/>
            <a:ext cx="806500" cy="806500"/>
          </a:xfrm>
          <a:prstGeom prst="roundRect">
            <a:avLst>
              <a:gd name="adj" fmla="val 7086"/>
            </a:avLst>
          </a:prstGeom>
          <a:solidFill>
            <a:srgbClr val="EEEBE4"/>
          </a:solidFill>
          <a:ln/>
        </p:spPr>
      </p:sp>
      <p:sp>
        <p:nvSpPr>
          <p:cNvPr id="9" name="Shape 7"/>
          <p:cNvSpPr/>
          <p:nvPr/>
        </p:nvSpPr>
        <p:spPr>
          <a:xfrm>
            <a:off x="15551051" y="5154513"/>
            <a:ext cx="806500" cy="806500"/>
          </a:xfrm>
          <a:prstGeom prst="roundRect">
            <a:avLst>
              <a:gd name="adj" fmla="val 7086"/>
            </a:avLst>
          </a:prstGeom>
          <a:gradFill rotWithShape="1">
            <a:gsLst>
              <a:gs pos="0">
                <a:srgbClr val="16233C">
                  <a:alpha val="100000"/>
                </a:srgbClr>
              </a:gs>
              <a:gs pos="100000">
                <a:srgbClr val="0A111F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10" name="Shape 8"/>
          <p:cNvSpPr/>
          <p:nvPr/>
        </p:nvSpPr>
        <p:spPr>
          <a:xfrm>
            <a:off x="14668351" y="5154513"/>
            <a:ext cx="806500" cy="806500"/>
          </a:xfrm>
          <a:prstGeom prst="roundRect">
            <a:avLst>
              <a:gd name="adj" fmla="val 7086"/>
            </a:avLst>
          </a:prstGeom>
          <a:solidFill>
            <a:srgbClr val="F5F3EF"/>
          </a:solidFill>
          <a:ln/>
        </p:spPr>
      </p:sp>
      <p:sp>
        <p:nvSpPr>
          <p:cNvPr id="11" name="Shape 9"/>
          <p:cNvSpPr/>
          <p:nvPr/>
        </p:nvSpPr>
        <p:spPr>
          <a:xfrm>
            <a:off x="16433750" y="6037213"/>
            <a:ext cx="806500" cy="806500"/>
          </a:xfrm>
          <a:prstGeom prst="roundRect">
            <a:avLst>
              <a:gd name="adj" fmla="val 7086"/>
            </a:avLst>
          </a:prstGeom>
          <a:gradFill rotWithShape="1">
            <a:gsLst>
              <a:gs pos="0">
                <a:srgbClr val="12B5B0">
                  <a:alpha val="100000"/>
                </a:srgbClr>
              </a:gs>
              <a:gs pos="100000">
                <a:srgbClr val="0B7C79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12" name="Shape 10"/>
          <p:cNvSpPr/>
          <p:nvPr/>
        </p:nvSpPr>
        <p:spPr>
          <a:xfrm>
            <a:off x="15551051" y="6037213"/>
            <a:ext cx="806500" cy="806500"/>
          </a:xfrm>
          <a:prstGeom prst="roundRect">
            <a:avLst>
              <a:gd name="adj" fmla="val 7086"/>
            </a:avLst>
          </a:prstGeom>
          <a:solidFill>
            <a:srgbClr val="EEEBE4"/>
          </a:solidFill>
          <a:ln/>
        </p:spPr>
      </p:sp>
      <p:sp>
        <p:nvSpPr>
          <p:cNvPr id="13" name="Shape 11"/>
          <p:cNvSpPr/>
          <p:nvPr/>
        </p:nvSpPr>
        <p:spPr>
          <a:xfrm>
            <a:off x="14668351" y="6037213"/>
            <a:ext cx="806500" cy="806500"/>
          </a:xfrm>
          <a:prstGeom prst="roundRect">
            <a:avLst>
              <a:gd name="adj" fmla="val 7086"/>
            </a:avLst>
          </a:prstGeom>
          <a:gradFill rotWithShape="1">
            <a:gsLst>
              <a:gs pos="0">
                <a:srgbClr val="16233C">
                  <a:alpha val="100000"/>
                </a:srgbClr>
              </a:gs>
              <a:gs pos="100000">
                <a:srgbClr val="0A111F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14" name="Text 12"/>
          <p:cNvSpPr/>
          <p:nvPr/>
        </p:nvSpPr>
        <p:spPr>
          <a:xfrm>
            <a:off x="10242649" y="7110413"/>
            <a:ext cx="720752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شبكةٌ متناوبة: كحلي، ورقي، وتركوازي بتقتير — إيقاعٌ هادئ يُبقي الحساب متماسكاً.</a:t>
            </a:r>
            <a:endParaRPr lang="en-US" sz="1894" dirty="0"/>
          </a:p>
        </p:txBody>
      </p:sp>
      <p:sp>
        <p:nvSpPr>
          <p:cNvPr id="15" name="Text 13"/>
          <p:cNvSpPr/>
          <p:nvPr/>
        </p:nvSpPr>
        <p:spPr>
          <a:xfrm>
            <a:off x="814006" y="4010025"/>
            <a:ext cx="766324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العربية تقود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العنوان والرسالة؛ الإنجليزية سطرٌ مساند أصغر.</a:t>
            </a:r>
            <a:endParaRPr lang="en-US" sz="2197" dirty="0"/>
          </a:p>
        </p:txBody>
      </p:sp>
      <p:sp>
        <p:nvSpPr>
          <p:cNvPr id="16" name="Text 14"/>
          <p:cNvSpPr/>
          <p:nvPr/>
        </p:nvSpPr>
        <p:spPr>
          <a:xfrm>
            <a:off x="814006" y="4705350"/>
            <a:ext cx="766324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الشعار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في الركن السفلي المبدئي، والأيقونة تكفي في القوالب الصغيرة.</a:t>
            </a:r>
            <a:endParaRPr lang="en-US" sz="2197" dirty="0"/>
          </a:p>
        </p:txBody>
      </p:sp>
      <p:sp>
        <p:nvSpPr>
          <p:cNvPr id="17" name="Text 15"/>
          <p:cNvSpPr/>
          <p:nvPr/>
        </p:nvSpPr>
        <p:spPr>
          <a:xfrm>
            <a:off x="814006" y="5400675"/>
            <a:ext cx="7663244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الصورة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بمنطقةٍ داكنة هادئة تحمل النص؛ لا صور ساعاتٍ لعلاماتٍ حقيقية.</a:t>
            </a:r>
            <a:endParaRPr lang="en-US" sz="2197" dirty="0"/>
          </a:p>
        </p:txBody>
      </p:sp>
      <p:sp>
        <p:nvSpPr>
          <p:cNvPr id="18" name="Text 16"/>
          <p:cNvSpPr/>
          <p:nvPr/>
        </p:nvSpPr>
        <p:spPr>
          <a:xfrm>
            <a:off x="814006" y="6581775"/>
            <a:ext cx="766324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الحثّ (CTA)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سطرٌ واحد واضح، ورمز السجلّ يظهر كتوقيعٍ متكرّر.</a:t>
            </a:r>
            <a:endParaRPr lang="en-US" sz="2197" dirty="0"/>
          </a:p>
        </p:txBody>
      </p:sp>
      <p:sp>
        <p:nvSpPr>
          <p:cNvPr id="19" name="Text 17"/>
          <p:cNvSpPr/>
          <p:nvPr/>
        </p:nvSpPr>
        <p:spPr>
          <a:xfrm>
            <a:off x="814006" y="7277100"/>
            <a:ext cx="766324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الوسوم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بحدٍّ أدنى وباللاتينية: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#Provatto #DigitalRecord</a:t>
            </a:r>
            <a:endParaRPr lang="en-US" sz="2197" dirty="0"/>
          </a:p>
        </p:txBody>
      </p:sp>
      <p:sp>
        <p:nvSpPr>
          <p:cNvPr id="20" name="Text 18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42 / 84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SOCIAL APPLICATIONS · I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تطبيقات اجتماعية — منشورات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63375" y="2752725"/>
            <a:ext cx="3238500" cy="3238500"/>
          </a:xfrm>
          <a:prstGeom prst="roundRect">
            <a:avLst>
              <a:gd name="adj" fmla="val 5294"/>
            </a:avLst>
          </a:prstGeom>
          <a:gradFill rotWithShape="1">
            <a:gsLst>
              <a:gs pos="0">
                <a:srgbClr val="16233C">
                  <a:alpha val="100000"/>
                </a:srgbClr>
              </a:gs>
              <a:gs pos="100000">
                <a:srgbClr val="0A111F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285750" dist="76200" dir="5400000">
              <a:srgbClr val="0A111F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011025" y="2962275"/>
            <a:ext cx="28202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2F4F8">
                    <a:alpha val="5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049125" y="3057525"/>
            <a:ext cx="2933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D8BF8D">
                    <a:alpha val="8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COMING SOON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49125" y="3609975"/>
            <a:ext cx="2747010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550" b="1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قريباً — سجلٌّ رقمي لكل ساعة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1725" y="5229225"/>
            <a:ext cx="9144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049125" y="5348288"/>
            <a:ext cx="93925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2F4F8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provatto.sa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601450" y="6105525"/>
            <a:ext cx="35623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مربّع · إطلاق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620125" y="2752725"/>
            <a:ext cx="2857500" cy="3571875"/>
          </a:xfrm>
          <a:prstGeom prst="roundRect">
            <a:avLst>
              <a:gd name="adj" fmla="val 6000"/>
            </a:avLst>
          </a:prstGeom>
          <a:solidFill>
            <a:srgbClr val="F5F3EF"/>
          </a:solidFill>
          <a:ln/>
          <a:effectLst>
            <a:outerShdw sx="100000" sy="100000" kx="0" ky="0" algn="bl" rotWithShape="0" blurRad="285750" dist="76200" dir="5400000">
              <a:srgbClr val="0A111F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905875" y="3057525"/>
            <a:ext cx="2514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B29051">
                    <a:alpha val="8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905875" y="3495675"/>
            <a:ext cx="23622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1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مقتنياتك في مكانٍ واحد، موثّقة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10772775" y="4619625"/>
            <a:ext cx="419100" cy="9525"/>
          </a:xfrm>
          <a:prstGeom prst="rect">
            <a:avLst/>
          </a:prstGeom>
          <a:solidFill>
            <a:srgbClr val="C9A86A">
              <a:alpha val="7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8905875" y="4762500"/>
            <a:ext cx="23622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500" dirty="0">
                <a:solidFill>
                  <a:srgbClr val="0A111F">
                    <a:alpha val="85000"/>
                  </a:srgbClr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سجّل ساعاتك وتتبّع تاريخها بهدوء.</a:t>
            </a:r>
            <a:endParaRPr lang="en-US" sz="15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475" y="5562600"/>
            <a:ext cx="914400" cy="4572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905875" y="5619750"/>
            <a:ext cx="554682" cy="342900"/>
          </a:xfrm>
          <a:prstGeom prst="roundRect">
            <a:avLst>
              <a:gd name="adj" fmla="val 50000"/>
            </a:avLst>
          </a:prstGeom>
          <a:solidFill>
            <a:srgbClr val="C9A86A">
              <a:alpha val="7000"/>
            </a:srgbClr>
          </a:solidFill>
          <a:ln w="9525">
            <a:solidFill>
              <a:srgbClr val="C9A86A">
                <a:alpha val="55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029700" y="5676900"/>
            <a:ext cx="3832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موثّق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477250" y="6438900"/>
            <a:ext cx="31432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عمودي · ميزة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5953125" y="2752725"/>
            <a:ext cx="2381250" cy="4238625"/>
          </a:xfrm>
          <a:prstGeom prst="roundRect">
            <a:avLst>
              <a:gd name="adj" fmla="val 7200"/>
            </a:avLst>
          </a:prstGeom>
          <a:gradFill rotWithShape="1">
            <a:gsLst>
              <a:gs pos="0">
                <a:srgbClr val="12B5B0">
                  <a:alpha val="100000"/>
                </a:srgbClr>
              </a:gs>
              <a:gs pos="100000">
                <a:srgbClr val="0B7C79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285750" dist="76200" dir="5400000">
              <a:srgbClr val="0A111F">
                <a:alpha val="16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6238875" y="3057525"/>
            <a:ext cx="19907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063F3D">
                    <a:alpha val="8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LEARN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238875" y="3765500"/>
            <a:ext cx="18859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100" b="1" dirty="0">
                <a:solidFill>
                  <a:srgbClr val="04252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ما السجلّ الرقمي؟</a:t>
            </a:r>
            <a:endParaRPr lang="en-US" sz="2100" dirty="0"/>
          </a:p>
        </p:txBody>
      </p:sp>
      <p:sp>
        <p:nvSpPr>
          <p:cNvPr id="24" name="Text 20"/>
          <p:cNvSpPr/>
          <p:nvPr/>
        </p:nvSpPr>
        <p:spPr>
          <a:xfrm>
            <a:off x="6238875" y="5025926"/>
            <a:ext cx="188595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500" dirty="0">
                <a:solidFill>
                  <a:srgbClr val="063F3D">
                    <a:alpha val="85000"/>
                  </a:srgbClr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توثيقٌ لمصدر الساعة وتاريخها — يرافقها من مالكٍ إلى مالك.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7646045" y="6457801"/>
            <a:ext cx="4787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4252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بروفاتو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238875" y="6462564"/>
            <a:ext cx="4286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63F3D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/ 3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5834063" y="7105650"/>
            <a:ext cx="26193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ستوري · تثقيفي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3286125" y="2752725"/>
            <a:ext cx="2381250" cy="4238625"/>
          </a:xfrm>
          <a:prstGeom prst="roundRect">
            <a:avLst>
              <a:gd name="adj" fmla="val 7200"/>
            </a:avLst>
          </a:prstGeom>
          <a:gradFill rotWithShape="1">
            <a:gsLst>
              <a:gs pos="0">
                <a:srgbClr val="16233C">
                  <a:alpha val="100000"/>
                </a:srgbClr>
              </a:gs>
              <a:gs pos="100000">
                <a:srgbClr val="0A111F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285750" dist="76200" dir="5400000">
              <a:srgbClr val="0A111F">
                <a:alpha val="16000"/>
              </a:srgbClr>
            </a:outerShdw>
          </a:effectLst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100" y="3781425"/>
            <a:ext cx="495300" cy="4953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978771" y="4333875"/>
            <a:ext cx="99595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D8BF8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موثّق</a:t>
            </a:r>
            <a:endParaRPr lang="en-US" sz="1650" dirty="0"/>
          </a:p>
        </p:txBody>
      </p:sp>
      <p:sp>
        <p:nvSpPr>
          <p:cNvPr id="31" name="Text 26"/>
          <p:cNvSpPr/>
          <p:nvPr/>
        </p:nvSpPr>
        <p:spPr>
          <a:xfrm>
            <a:off x="3533775" y="5372100"/>
            <a:ext cx="18859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3333"/>
              </a:lnSpc>
              <a:buNone/>
            </a:pPr>
            <a:r>
              <a:rPr lang="en-US" sz="2100" b="1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بياناتك ملكك وحدك</a:t>
            </a:r>
            <a:endParaRPr lang="en-US" sz="21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9550" y="6229350"/>
            <a:ext cx="9144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3167063" y="7105650"/>
            <a:ext cx="26193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ستوري · خصوصية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43 / 84</a:t>
            </a:r>
            <a:endParaRPr lang="en-US" sz="1800" dirty="0"/>
          </a:p>
        </p:txBody>
      </p:sp>
      <p:sp>
        <p:nvSpPr>
          <p:cNvPr id="35" name="Text 29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SOCIAL APPLICATIONS · II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إعلانات ومنشورات مهنية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305925" y="2752725"/>
            <a:ext cx="7934325" cy="3019425"/>
          </a:xfrm>
          <a:prstGeom prst="roundRect">
            <a:avLst>
              <a:gd name="adj" fmla="val 5678"/>
            </a:avLst>
          </a:prstGeom>
          <a:solidFill>
            <a:srgbClr val="F5F3EF"/>
          </a:solidFill>
          <a:ln/>
          <a:effectLst>
            <a:outerShdw sx="100000" sy="100000" kx="0" ky="0" algn="bl" rotWithShape="0" blurRad="285750" dist="76200" dir="5400000">
              <a:srgbClr val="0A111F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591675" y="3057525"/>
            <a:ext cx="809910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B29051">
                    <a:alpha val="8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LINKEDIN · ANNOUNCEMENT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91675" y="3362325"/>
            <a:ext cx="809910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1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نُطلق بروفاتو — منصّة توثيق الساعات الفاخرة في السعودية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00" y="4895850"/>
            <a:ext cx="1143000" cy="5715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91675" y="5072063"/>
            <a:ext cx="93925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A111F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provatto.sa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909209" y="5886450"/>
            <a:ext cx="87277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لينكدإن · إعلان الإطلاق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047750" y="2752725"/>
            <a:ext cx="7934325" cy="3019425"/>
          </a:xfrm>
          <a:prstGeom prst="roundRect">
            <a:avLst>
              <a:gd name="adj" fmla="val 5678"/>
            </a:avLst>
          </a:prstGeom>
          <a:gradFill rotWithShape="1">
            <a:gsLst>
              <a:gs pos="0">
                <a:srgbClr val="16233C">
                  <a:alpha val="100000"/>
                </a:srgbClr>
              </a:gs>
              <a:gs pos="100000">
                <a:srgbClr val="0A111F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285750" dist="76200" dir="5400000">
              <a:srgbClr val="0A111F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333500" y="3057525"/>
            <a:ext cx="809910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D8BF8D">
                    <a:alpha val="8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 · TRANSFER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333500" y="3362325"/>
            <a:ext cx="809910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100" b="1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انقل السجلّ الرقمي إلى مالكٍ جديد بثقة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333500" y="3848100"/>
            <a:ext cx="75837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500" dirty="0">
                <a:solidFill>
                  <a:srgbClr val="F2F4F8">
                    <a:alpha val="85000"/>
                  </a:srgbClr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توثيقٌ يرافق الساعة — دون أي نقلٍ قانوني للملكية.</a:t>
            </a:r>
            <a:endParaRPr lang="en-US" sz="15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4895850"/>
            <a:ext cx="1143000" cy="5715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51034" y="5886450"/>
            <a:ext cx="87277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إكس · ميزة النقل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11969800" y="6096000"/>
            <a:ext cx="5270450" cy="2190750"/>
          </a:xfrm>
          <a:prstGeom prst="roundRect">
            <a:avLst>
              <a:gd name="adj" fmla="val 6087"/>
            </a:avLst>
          </a:prstGeom>
          <a:solidFill>
            <a:srgbClr val="F5F3EF"/>
          </a:solidFill>
          <a:ln/>
          <a:effectLst>
            <a:outerShdw sx="100000" sy="100000" kx="0" ky="0" algn="bl" rotWithShape="0" blurRad="285750" dist="76200" dir="5400000">
              <a:srgbClr val="0A111F">
                <a:alpha val="16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12217450" y="6324600"/>
            <a:ext cx="525266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B29051">
                    <a:alpha val="8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CAROUSEL · 1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2217450" y="7129463"/>
            <a:ext cx="52526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18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وثّق ساعتك في دقائق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508849" y="6096000"/>
            <a:ext cx="5270450" cy="2190750"/>
          </a:xfrm>
          <a:prstGeom prst="roundRect">
            <a:avLst>
              <a:gd name="adj" fmla="val 6087"/>
            </a:avLst>
          </a:prstGeom>
          <a:gradFill rotWithShape="1">
            <a:gsLst>
              <a:gs pos="0">
                <a:srgbClr val="16233C">
                  <a:alpha val="100000"/>
                </a:srgbClr>
              </a:gs>
              <a:gs pos="100000">
                <a:srgbClr val="0A111F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285750" dist="76200" dir="5400000">
              <a:srgbClr val="0A111F">
                <a:alpha val="16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756499" y="6324600"/>
            <a:ext cx="525266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D8BF8D">
                    <a:alpha val="8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CAROUSEL · 2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756499" y="7129463"/>
            <a:ext cx="52526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1800" b="1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تابع تاريخها الموثّق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047899" y="6096000"/>
            <a:ext cx="5270450" cy="2190750"/>
          </a:xfrm>
          <a:prstGeom prst="roundRect">
            <a:avLst>
              <a:gd name="adj" fmla="val 6087"/>
            </a:avLst>
          </a:prstGeom>
          <a:gradFill rotWithShape="1">
            <a:gsLst>
              <a:gs pos="0">
                <a:srgbClr val="12B5B0">
                  <a:alpha val="100000"/>
                </a:srgbClr>
              </a:gs>
              <a:gs pos="100000">
                <a:srgbClr val="0B7C79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285750" dist="76200" dir="5400000">
              <a:srgbClr val="0A111F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1295549" y="6324600"/>
            <a:ext cx="525266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063F3D">
                    <a:alpha val="8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CAROUSEL ·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295549" y="7129463"/>
            <a:ext cx="52526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1800" b="1" dirty="0">
                <a:solidFill>
                  <a:srgbClr val="04252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انقل السجلّ بثقة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238125" y="8401050"/>
            <a:ext cx="178117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كاروسيل ميزات التطبيق · ثلاث بطاقات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44 / 84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STORE &amp; GOOGLE PLAY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حضور المتاجر الرقمية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6097250" y="4048125"/>
            <a:ext cx="1143000" cy="1143000"/>
          </a:xfrm>
          <a:prstGeom prst="roundRect">
            <a:avLst>
              <a:gd name="adj" fmla="val 22500"/>
            </a:avLst>
          </a:prstGeom>
          <a:ln/>
          <a:effectLst>
            <a:outerShdw sx="100000" sy="100000" kx="0" ky="0" algn="bl" rotWithShape="0" blurRad="285750" dist="76200" dir="5400000">
              <a:srgbClr val="0A111F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7250" y="4048125"/>
            <a:ext cx="1143000" cy="1143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20204" y="4176712"/>
            <a:ext cx="337424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بروفاتو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2820204" y="4662488"/>
            <a:ext cx="315952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رقمي موثّق للساعات الفاخرة</a:t>
            </a:r>
            <a:endParaRPr lang="en-US" sz="1894" dirty="0"/>
          </a:p>
        </p:txBody>
      </p:sp>
      <p:sp>
        <p:nvSpPr>
          <p:cNvPr id="9" name="Shape 6"/>
          <p:cNvSpPr/>
          <p:nvPr/>
        </p:nvSpPr>
        <p:spPr>
          <a:xfrm>
            <a:off x="15064978" y="5476875"/>
            <a:ext cx="2175272" cy="847725"/>
          </a:xfrm>
          <a:prstGeom prst="roundRect">
            <a:avLst>
              <a:gd name="adj" fmla="val 15730"/>
            </a:avLst>
          </a:prstGeom>
          <a:solidFill>
            <a:srgbClr val="0A111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4950" y="5776913"/>
            <a:ext cx="247650" cy="2476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312628" y="5629275"/>
            <a:ext cx="142886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Download on the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5312628" y="5848350"/>
            <a:ext cx="142886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Store</a:t>
            </a:r>
            <a:endParaRPr lang="en-US" sz="1950" dirty="0"/>
          </a:p>
        </p:txBody>
      </p:sp>
      <p:sp>
        <p:nvSpPr>
          <p:cNvPr id="13" name="Shape 9"/>
          <p:cNvSpPr/>
          <p:nvPr/>
        </p:nvSpPr>
        <p:spPr>
          <a:xfrm>
            <a:off x="12659767" y="5476875"/>
            <a:ext cx="2233761" cy="847725"/>
          </a:xfrm>
          <a:prstGeom prst="roundRect">
            <a:avLst>
              <a:gd name="adj" fmla="val 15730"/>
            </a:avLst>
          </a:prstGeom>
          <a:solidFill>
            <a:srgbClr val="0A111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8228" y="5776913"/>
            <a:ext cx="247650" cy="2476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907417" y="5629275"/>
            <a:ext cx="149320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 IT ON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2907417" y="5848350"/>
            <a:ext cx="149320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Google Play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10738218" y="6610350"/>
            <a:ext cx="6578232" cy="1162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الأيقونة موحّدة على المتجرين بالحوافّ الرسمية لكلٍّ منهما.</a:t>
            </a:r>
            <a:endParaRPr lang="en-US" sz="2197" dirty="0"/>
          </a:p>
          <a:p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لقطات الشاشة ثنائية اللغة — العربية تقود.</a:t>
            </a:r>
            <a:endParaRPr lang="en-US" sz="2197" dirty="0"/>
          </a:p>
        </p:txBody>
      </p:sp>
      <p:sp>
        <p:nvSpPr>
          <p:cNvPr id="18" name="Shape 13"/>
          <p:cNvSpPr/>
          <p:nvPr/>
        </p:nvSpPr>
        <p:spPr>
          <a:xfrm>
            <a:off x="6795790" y="4693295"/>
            <a:ext cx="1752600" cy="1024235"/>
          </a:xfrm>
          <a:prstGeom prst="roundRect">
            <a:avLst>
              <a:gd name="adj" fmla="val 18599"/>
            </a:avLst>
          </a:prstGeom>
          <a:solidFill>
            <a:srgbClr val="EEEBE4"/>
          </a:solidFill>
          <a:ln/>
          <a:effectLst>
            <a:outerShdw sx="100000" sy="100000" kx="0" ky="0" algn="bl" rotWithShape="0" blurRad="285750" dist="76200" dir="5400000">
              <a:srgbClr val="0A111F">
                <a:alpha val="16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790" y="4693295"/>
            <a:ext cx="1752600" cy="102423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69929" y="5831830"/>
            <a:ext cx="3022477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مقتنياتك موثّقة </a:t>
            </a:r>
            <a:pPr algn="ctr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Your collection, documented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3651796" y="4693295"/>
            <a:ext cx="1752600" cy="1024235"/>
          </a:xfrm>
          <a:prstGeom prst="roundRect">
            <a:avLst>
              <a:gd name="adj" fmla="val 18599"/>
            </a:avLst>
          </a:prstGeom>
          <a:solidFill>
            <a:srgbClr val="EEEBE4"/>
          </a:solidFill>
          <a:ln/>
          <a:effectLst>
            <a:outerShdw sx="100000" sy="100000" kx="0" ky="0" algn="bl" rotWithShape="0" blurRad="285750" dist="76200" dir="5400000">
              <a:srgbClr val="0A111F">
                <a:alpha val="16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1796" y="4693295"/>
            <a:ext cx="1752600" cy="102423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431084" y="5831830"/>
            <a:ext cx="2011412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سجلٌّ لكل ساعة </a:t>
            </a:r>
            <a:pPr algn="ctr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 record per watch</a:t>
            </a:r>
            <a:endParaRPr lang="en-US" sz="1800" dirty="0"/>
          </a:p>
        </p:txBody>
      </p:sp>
      <p:sp>
        <p:nvSpPr>
          <p:cNvPr id="24" name="Shape 17"/>
          <p:cNvSpPr/>
          <p:nvPr/>
        </p:nvSpPr>
        <p:spPr>
          <a:xfrm>
            <a:off x="1507034" y="4693295"/>
            <a:ext cx="1752600" cy="1024235"/>
          </a:xfrm>
          <a:prstGeom prst="roundRect">
            <a:avLst>
              <a:gd name="adj" fmla="val 18599"/>
            </a:avLst>
          </a:prstGeom>
          <a:solidFill>
            <a:srgbClr val="EEEBE4"/>
          </a:solidFill>
          <a:ln/>
          <a:effectLst>
            <a:outerShdw sx="100000" sy="100000" kx="0" ky="0" algn="bl" rotWithShape="0" blurRad="285750" dist="76200" dir="5400000">
              <a:srgbClr val="0A111F">
                <a:alpha val="16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7034" y="4693295"/>
            <a:ext cx="1752600" cy="102423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338709" y="5831830"/>
            <a:ext cx="195902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انقل السجلّ بثقة </a:t>
            </a:r>
            <a:pPr algn="ctr" indent="0" marL="0">
              <a:buNone/>
            </a:pPr>
            <a:r>
              <a:rPr lang="en-US" sz="18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Transfer with trust</a:t>
            </a:r>
            <a:endParaRPr lang="en-US" sz="1800" dirty="0"/>
          </a:p>
        </p:txBody>
      </p:sp>
      <p:sp>
        <p:nvSpPr>
          <p:cNvPr id="27" name="Text 19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45 / 84</a:t>
            </a:r>
            <a:endParaRPr lang="en-US" sz="1800" dirty="0"/>
          </a:p>
        </p:txBody>
      </p:sp>
      <p:sp>
        <p:nvSpPr>
          <p:cNvPr id="28" name="Text 20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MARKETING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صيغ التسويق الرقمي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61412" y="2752725"/>
            <a:ext cx="9278838" cy="6276975"/>
          </a:xfrm>
          <a:prstGeom prst="roundRect">
            <a:avLst>
              <a:gd name="adj" fmla="val 24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61412" y="2752725"/>
            <a:ext cx="9278838" cy="5572125"/>
          </a:xfrm>
          <a:prstGeom prst="rect">
            <a:avLst/>
          </a:prstGeom>
          <a:solidFill>
            <a:srgbClr val="0A111F"/>
          </a:solidFill>
          <a:ln/>
        </p:spPr>
      </p:sp>
      <p:sp>
        <p:nvSpPr>
          <p:cNvPr id="7" name="Text 5"/>
          <p:cNvSpPr/>
          <p:nvPr/>
        </p:nvSpPr>
        <p:spPr>
          <a:xfrm>
            <a:off x="14215765" y="4395788"/>
            <a:ext cx="28030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D8BF8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Launch Campaign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215765" y="4805363"/>
            <a:ext cx="2624682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3000" b="1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سجلٌّ رقمي موثّق لكل ساعة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5075545" y="6100763"/>
            <a:ext cx="1688455" cy="581025"/>
          </a:xfrm>
          <a:prstGeom prst="roundRect">
            <a:avLst>
              <a:gd name="adj" fmla="val 19672"/>
            </a:avLst>
          </a:prstGeom>
          <a:solidFill>
            <a:srgbClr val="12B5B0"/>
          </a:solidFill>
          <a:ln/>
        </p:spPr>
      </p:sp>
      <p:sp>
        <p:nvSpPr>
          <p:cNvPr id="10" name="Text 8"/>
          <p:cNvSpPr/>
          <p:nvPr/>
        </p:nvSpPr>
        <p:spPr>
          <a:xfrm>
            <a:off x="15380345" y="6234113"/>
            <a:ext cx="115505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82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حمّل التطبيق</a:t>
            </a:r>
            <a:endParaRPr lang="en-US" sz="16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7662" y="4824413"/>
            <a:ext cx="1428750" cy="142875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961412" y="8324850"/>
            <a:ext cx="9278838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13" name="Text 10"/>
          <p:cNvSpPr/>
          <p:nvPr/>
        </p:nvSpPr>
        <p:spPr>
          <a:xfrm>
            <a:off x="8209062" y="8505825"/>
            <a:ext cx="966189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لافتة الويب — حملة الإطلاق</a:t>
            </a:r>
            <a:endParaRPr lang="en-US" sz="1875" dirty="0"/>
          </a:p>
        </p:txBody>
      </p:sp>
      <p:sp>
        <p:nvSpPr>
          <p:cNvPr id="14" name="Shape 11"/>
          <p:cNvSpPr/>
          <p:nvPr/>
        </p:nvSpPr>
        <p:spPr>
          <a:xfrm>
            <a:off x="1047750" y="2752725"/>
            <a:ext cx="6627912" cy="2995613"/>
          </a:xfrm>
          <a:prstGeom prst="roundRect">
            <a:avLst>
              <a:gd name="adj" fmla="val 5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047750" y="2752725"/>
            <a:ext cx="6627912" cy="2290763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16" name="Shape 13"/>
          <p:cNvSpPr/>
          <p:nvPr/>
        </p:nvSpPr>
        <p:spPr>
          <a:xfrm>
            <a:off x="1276350" y="3331369"/>
            <a:ext cx="6170712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9525">
            <a:solidFill>
              <a:srgbClr val="EFECE4"/>
            </a:solidFill>
            <a:prstDash val="solid"/>
          </a:ln>
          <a:effectLst>
            <a:outerShdw sx="100000" sy="100000" kx="0" ky="0" algn="bl" rotWithShape="0" blurRad="152400" dist="38100" dir="5400000">
              <a:srgbClr val="0A111F">
                <a:alpha val="6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8887" y="3707606"/>
            <a:ext cx="381000" cy="3810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618387" y="3550444"/>
            <a:ext cx="19050" cy="695325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4556820" y="3550444"/>
            <a:ext cx="207912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وثّق ساعتك اليوم</a:t>
            </a:r>
            <a:endParaRPr lang="en-US" sz="1650" dirty="0"/>
          </a:p>
        </p:txBody>
      </p:sp>
      <p:sp>
        <p:nvSpPr>
          <p:cNvPr id="20" name="Text 16"/>
          <p:cNvSpPr/>
          <p:nvPr/>
        </p:nvSpPr>
        <p:spPr>
          <a:xfrm>
            <a:off x="4556820" y="3940969"/>
            <a:ext cx="196631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9"/>
              </a:lnSpc>
              <a:buNone/>
            </a:pPr>
            <a:r>
              <a:rPr lang="en-US" sz="142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ابدأ سجلّك الرقمي في دقائق.</a:t>
            </a:r>
            <a:endParaRPr lang="en-US" sz="1425" dirty="0"/>
          </a:p>
        </p:txBody>
      </p:sp>
      <p:sp>
        <p:nvSpPr>
          <p:cNvPr id="21" name="Shape 17"/>
          <p:cNvSpPr/>
          <p:nvPr/>
        </p:nvSpPr>
        <p:spPr>
          <a:xfrm>
            <a:off x="1047750" y="5043488"/>
            <a:ext cx="6627912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2" name="Text 18"/>
          <p:cNvSpPr/>
          <p:nvPr/>
        </p:nvSpPr>
        <p:spPr>
          <a:xfrm>
            <a:off x="1295400" y="5224463"/>
            <a:ext cx="674587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لافتة البريد الإلكتروني</a:t>
            </a:r>
            <a:endParaRPr lang="en-US" sz="1875" dirty="0"/>
          </a:p>
        </p:txBody>
      </p:sp>
      <p:sp>
        <p:nvSpPr>
          <p:cNvPr id="23" name="Shape 19"/>
          <p:cNvSpPr/>
          <p:nvPr/>
        </p:nvSpPr>
        <p:spPr>
          <a:xfrm>
            <a:off x="1047750" y="6034088"/>
            <a:ext cx="6627912" cy="2995613"/>
          </a:xfrm>
          <a:prstGeom prst="roundRect">
            <a:avLst>
              <a:gd name="adj" fmla="val 5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1047750" y="6034088"/>
            <a:ext cx="6627912" cy="22907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1"/>
          <p:cNvSpPr/>
          <p:nvPr/>
        </p:nvSpPr>
        <p:spPr>
          <a:xfrm>
            <a:off x="2932956" y="6655594"/>
            <a:ext cx="2857500" cy="1047750"/>
          </a:xfrm>
          <a:prstGeom prst="roundRect">
            <a:avLst>
              <a:gd name="adj" fmla="val 10909"/>
            </a:avLst>
          </a:prstGeom>
          <a:gradFill rotWithShape="1">
            <a:gsLst>
              <a:gs pos="0">
                <a:srgbClr val="16233C">
                  <a:alpha val="100000"/>
                </a:srgbClr>
              </a:gs>
              <a:gs pos="100000">
                <a:srgbClr val="0A111F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26" name="Text 22"/>
          <p:cNvSpPr/>
          <p:nvPr/>
        </p:nvSpPr>
        <p:spPr>
          <a:xfrm>
            <a:off x="4444008" y="6860381"/>
            <a:ext cx="117499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بروفاتو</a:t>
            </a:r>
            <a:endParaRPr lang="en-US" sz="1650" dirty="0"/>
          </a:p>
        </p:txBody>
      </p:sp>
      <p:sp>
        <p:nvSpPr>
          <p:cNvPr id="27" name="Text 23"/>
          <p:cNvSpPr/>
          <p:nvPr/>
        </p:nvSpPr>
        <p:spPr>
          <a:xfrm>
            <a:off x="4444008" y="7212806"/>
            <a:ext cx="11749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1350" dirty="0">
                <a:solidFill>
                  <a:srgbClr val="AEB6C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رقمي موثّق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3180606" y="6965156"/>
            <a:ext cx="784324" cy="428625"/>
          </a:xfrm>
          <a:prstGeom prst="roundRect">
            <a:avLst>
              <a:gd name="adj" fmla="val 26667"/>
            </a:avLst>
          </a:prstGeom>
          <a:solidFill>
            <a:srgbClr val="12B5B0"/>
          </a:solidFill>
          <a:ln/>
        </p:spPr>
      </p:sp>
      <p:sp>
        <p:nvSpPr>
          <p:cNvPr id="29" name="Text 25"/>
          <p:cNvSpPr/>
          <p:nvPr/>
        </p:nvSpPr>
        <p:spPr>
          <a:xfrm>
            <a:off x="3352056" y="7050881"/>
            <a:ext cx="5176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82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تحميل</a:t>
            </a:r>
            <a:endParaRPr lang="en-US" sz="1350" dirty="0"/>
          </a:p>
        </p:txBody>
      </p:sp>
      <p:sp>
        <p:nvSpPr>
          <p:cNvPr id="30" name="Shape 26"/>
          <p:cNvSpPr/>
          <p:nvPr/>
        </p:nvSpPr>
        <p:spPr>
          <a:xfrm>
            <a:off x="1047750" y="8324850"/>
            <a:ext cx="6627912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31" name="Text 27"/>
          <p:cNvSpPr/>
          <p:nvPr/>
        </p:nvSpPr>
        <p:spPr>
          <a:xfrm>
            <a:off x="1295400" y="8505825"/>
            <a:ext cx="674587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إعلان الجوّال</a:t>
            </a:r>
            <a:endParaRPr lang="en-US" sz="1875" dirty="0"/>
          </a:p>
        </p:txBody>
      </p:sp>
      <p:sp>
        <p:nvSpPr>
          <p:cNvPr id="32" name="Text 28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46 / 84</a:t>
            </a:r>
            <a:endParaRPr lang="en-US" sz="1800" dirty="0"/>
          </a:p>
        </p:txBody>
      </p:sp>
      <p:sp>
        <p:nvSpPr>
          <p:cNvPr id="33" name="Text 29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LANDING PAGE · DESKTOP · RTL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الموقع الإلكتروني — سطح المكتب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752725"/>
            <a:ext cx="16192500" cy="5667375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7E2D9"/>
            </a:solidFill>
            <a:prstDash val="solid"/>
          </a:ln>
          <a:effectLst>
            <a:outerShdw sx="100000" sy="100000" kx="0" ky="0" algn="bl" rotWithShape="0" blurRad="419100" dist="114300" dir="5400000">
              <a:srgbClr val="0A111F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7275" y="2762250"/>
            <a:ext cx="16173450" cy="438150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7" name="Shape 5"/>
          <p:cNvSpPr/>
          <p:nvPr/>
        </p:nvSpPr>
        <p:spPr>
          <a:xfrm>
            <a:off x="1057275" y="3190875"/>
            <a:ext cx="16173450" cy="9525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8" name="Shape 6"/>
          <p:cNvSpPr/>
          <p:nvPr/>
        </p:nvSpPr>
        <p:spPr>
          <a:xfrm>
            <a:off x="16925925" y="2919413"/>
            <a:ext cx="114300" cy="114300"/>
          </a:xfrm>
          <a:prstGeom prst="ellipse">
            <a:avLst/>
          </a:prstGeom>
          <a:solidFill>
            <a:srgbClr val="CFC8BA"/>
          </a:solidFill>
          <a:ln/>
        </p:spPr>
      </p:sp>
      <p:sp>
        <p:nvSpPr>
          <p:cNvPr id="9" name="Shape 7"/>
          <p:cNvSpPr/>
          <p:nvPr/>
        </p:nvSpPr>
        <p:spPr>
          <a:xfrm>
            <a:off x="16725900" y="2919413"/>
            <a:ext cx="114300" cy="114300"/>
          </a:xfrm>
          <a:prstGeom prst="ellipse">
            <a:avLst/>
          </a:prstGeom>
          <a:solidFill>
            <a:srgbClr val="CFC8BA"/>
          </a:solidFill>
          <a:ln/>
        </p:spPr>
      </p:sp>
      <p:sp>
        <p:nvSpPr>
          <p:cNvPr id="10" name="Shape 8"/>
          <p:cNvSpPr/>
          <p:nvPr/>
        </p:nvSpPr>
        <p:spPr>
          <a:xfrm>
            <a:off x="16525875" y="2919413"/>
            <a:ext cx="114300" cy="114300"/>
          </a:xfrm>
          <a:prstGeom prst="ellipse">
            <a:avLst/>
          </a:prstGeom>
          <a:solidFill>
            <a:srgbClr val="CFC8BA"/>
          </a:solidFill>
          <a:ln/>
        </p:spPr>
      </p:sp>
      <p:sp>
        <p:nvSpPr>
          <p:cNvPr id="11" name="Shape 9"/>
          <p:cNvSpPr/>
          <p:nvPr/>
        </p:nvSpPr>
        <p:spPr>
          <a:xfrm>
            <a:off x="12439650" y="2852738"/>
            <a:ext cx="4000500" cy="24765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592050" y="2852738"/>
            <a:ext cx="4095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provatto.sa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57275" y="4333875"/>
            <a:ext cx="16173450" cy="9525"/>
          </a:xfrm>
          <a:prstGeom prst="rect">
            <a:avLst/>
          </a:prstGeom>
          <a:solidFill>
            <a:srgbClr val="EFECE4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20975" y="3409950"/>
            <a:ext cx="1428750" cy="71437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259467" y="3614738"/>
            <a:ext cx="6738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الرئيسية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9175403" y="3614738"/>
            <a:ext cx="83641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كيف يعمل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8320385" y="3614738"/>
            <a:ext cx="6073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الميزات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7478167" y="3614738"/>
            <a:ext cx="5945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الأسئلة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438275" y="3519488"/>
            <a:ext cx="1476077" cy="495300"/>
          </a:xfrm>
          <a:prstGeom prst="roundRect">
            <a:avLst>
              <a:gd name="adj" fmla="val 23077"/>
            </a:avLst>
          </a:prstGeom>
          <a:solidFill>
            <a:srgbClr val="12B5B0"/>
          </a:solidFill>
          <a:ln/>
        </p:spPr>
      </p:sp>
      <p:sp>
        <p:nvSpPr>
          <p:cNvPr id="20" name="Text 17"/>
          <p:cNvSpPr/>
          <p:nvPr/>
        </p:nvSpPr>
        <p:spPr>
          <a:xfrm>
            <a:off x="1685925" y="3624263"/>
            <a:ext cx="105697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82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حمّل التطبيق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189416" y="4800600"/>
            <a:ext cx="866030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OWNERSHIP RECORDS</a:t>
            </a:r>
            <a:endParaRPr lang="en-US" sz="1818" dirty="0"/>
          </a:p>
        </p:txBody>
      </p:sp>
      <p:sp>
        <p:nvSpPr>
          <p:cNvPr id="22" name="Text 19"/>
          <p:cNvSpPr/>
          <p:nvPr/>
        </p:nvSpPr>
        <p:spPr>
          <a:xfrm>
            <a:off x="8976717" y="5600700"/>
            <a:ext cx="8109198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9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السجلّ الموثوق خلف الساعة</a:t>
            </a:r>
            <a:endParaRPr lang="en-US" sz="3900" dirty="0"/>
          </a:p>
        </p:txBody>
      </p:sp>
      <p:sp>
        <p:nvSpPr>
          <p:cNvPr id="23" name="Text 20"/>
          <p:cNvSpPr/>
          <p:nvPr/>
        </p:nvSpPr>
        <p:spPr>
          <a:xfrm>
            <a:off x="8976717" y="7429500"/>
            <a:ext cx="810919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14"/>
              </a:lnSpc>
              <a:buNone/>
            </a:pPr>
            <a:r>
              <a:rPr lang="en-US" sz="172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وثّق مصدر ساعتك وتاريخها في سجلٍّ رقمي موثّق — يرافقها من مالكٍ إلى مالك، بهدوءٍ وخصوصية.</a:t>
            </a:r>
            <a:endParaRPr lang="en-US" sz="1725" dirty="0"/>
          </a:p>
        </p:txBody>
      </p:sp>
      <p:sp>
        <p:nvSpPr>
          <p:cNvPr id="24" name="Shape 21"/>
          <p:cNvSpPr/>
          <p:nvPr/>
        </p:nvSpPr>
        <p:spPr>
          <a:xfrm>
            <a:off x="15606415" y="8048625"/>
            <a:ext cx="1243310" cy="600075"/>
          </a:xfrm>
          <a:prstGeom prst="roundRect">
            <a:avLst>
              <a:gd name="adj" fmla="val 19048"/>
            </a:avLst>
          </a:prstGeom>
          <a:solidFill>
            <a:srgbClr val="12B5B0"/>
          </a:solidFill>
          <a:ln/>
        </p:spPr>
      </p:sp>
      <p:sp>
        <p:nvSpPr>
          <p:cNvPr id="25" name="Text 22"/>
          <p:cNvSpPr/>
          <p:nvPr/>
        </p:nvSpPr>
        <p:spPr>
          <a:xfrm>
            <a:off x="15911215" y="8181975"/>
            <a:ext cx="7099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82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ابدأ الآن</a:t>
            </a:r>
            <a:endParaRPr lang="en-US" sz="1650" dirty="0"/>
          </a:p>
        </p:txBody>
      </p:sp>
      <p:sp>
        <p:nvSpPr>
          <p:cNvPr id="26" name="Shape 23"/>
          <p:cNvSpPr/>
          <p:nvPr/>
        </p:nvSpPr>
        <p:spPr>
          <a:xfrm>
            <a:off x="13981361" y="8048625"/>
            <a:ext cx="1472654" cy="600075"/>
          </a:xfrm>
          <a:prstGeom prst="roundRect">
            <a:avLst>
              <a:gd name="adj" fmla="val 19048"/>
            </a:avLst>
          </a:prstGeom>
          <a:ln w="9525">
            <a:solidFill>
              <a:srgbClr val="D8D2C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4295686" y="8191500"/>
            <a:ext cx="92020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كيف يعمل</a:t>
            </a:r>
            <a:endParaRPr lang="en-US" sz="1650" dirty="0"/>
          </a:p>
        </p:txBody>
      </p:sp>
      <p:sp>
        <p:nvSpPr>
          <p:cNvPr id="28" name="Shape 25"/>
          <p:cNvSpPr/>
          <p:nvPr/>
        </p:nvSpPr>
        <p:spPr>
          <a:xfrm>
            <a:off x="1438275" y="5105400"/>
            <a:ext cx="7157442" cy="3238500"/>
          </a:xfrm>
          <a:prstGeom prst="roundRect">
            <a:avLst>
              <a:gd name="adj" fmla="val 5294"/>
            </a:avLst>
          </a:prstGeom>
          <a:solidFill>
            <a:srgbClr val="F5F3EF"/>
          </a:solidFill>
          <a:ln w="9525">
            <a:solidFill>
              <a:srgbClr val="E7E2D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99684" y="5405438"/>
            <a:ext cx="143083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تفاصيل السجلّ</a:t>
            </a:r>
            <a:endParaRPr lang="en-US" sz="1725" dirty="0"/>
          </a:p>
        </p:txBody>
      </p:sp>
      <p:sp>
        <p:nvSpPr>
          <p:cNvPr id="30" name="Shape 27"/>
          <p:cNvSpPr/>
          <p:nvPr/>
        </p:nvSpPr>
        <p:spPr>
          <a:xfrm>
            <a:off x="1733550" y="5400675"/>
            <a:ext cx="554682" cy="342900"/>
          </a:xfrm>
          <a:prstGeom prst="roundRect">
            <a:avLst>
              <a:gd name="adj" fmla="val 50000"/>
            </a:avLst>
          </a:prstGeom>
          <a:solidFill>
            <a:srgbClr val="C9A86A">
              <a:alpha val="7000"/>
            </a:srgbClr>
          </a:solidFill>
          <a:ln w="9525">
            <a:solidFill>
              <a:srgbClr val="C9A86A">
                <a:alpha val="5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857375" y="5457825"/>
            <a:ext cx="3832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موثّق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733550" y="6276975"/>
            <a:ext cx="6566892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33" name="Text 30"/>
          <p:cNvSpPr/>
          <p:nvPr/>
        </p:nvSpPr>
        <p:spPr>
          <a:xfrm>
            <a:off x="7302698" y="5895975"/>
            <a:ext cx="10739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الرقم المرجعي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1733550" y="5915025"/>
            <a:ext cx="86439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AB-2104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1733550" y="6819900"/>
            <a:ext cx="6566892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36" name="Text 33"/>
          <p:cNvSpPr/>
          <p:nvPr/>
        </p:nvSpPr>
        <p:spPr>
          <a:xfrm>
            <a:off x="7536805" y="6438900"/>
            <a:ext cx="83983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سنة الصنع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1733550" y="6457950"/>
            <a:ext cx="5334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2021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1733550" y="7362825"/>
            <a:ext cx="6566892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39" name="Text 36"/>
          <p:cNvSpPr/>
          <p:nvPr/>
        </p:nvSpPr>
        <p:spPr>
          <a:xfrm>
            <a:off x="7187059" y="6981825"/>
            <a:ext cx="11895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الأحداث الموثّقة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1733550" y="7000875"/>
            <a:ext cx="1905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1733550" y="7562850"/>
            <a:ext cx="6566892" cy="485775"/>
          </a:xfrm>
          <a:prstGeom prst="roundRect">
            <a:avLst>
              <a:gd name="adj" fmla="val 23529"/>
            </a:avLst>
          </a:prstGeom>
          <a:solidFill>
            <a:srgbClr val="12B5B0"/>
          </a:solidFill>
          <a:ln/>
        </p:spPr>
      </p:sp>
      <p:sp>
        <p:nvSpPr>
          <p:cNvPr id="42" name="Text 39"/>
          <p:cNvSpPr/>
          <p:nvPr/>
        </p:nvSpPr>
        <p:spPr>
          <a:xfrm>
            <a:off x="1739822" y="7667625"/>
            <a:ext cx="655434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082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عرض السجلّ</a:t>
            </a:r>
            <a:endParaRPr lang="en-US" sz="1425" dirty="0"/>
          </a:p>
        </p:txBody>
      </p:sp>
      <p:sp>
        <p:nvSpPr>
          <p:cNvPr id="43" name="Text 40"/>
          <p:cNvSpPr/>
          <p:nvPr/>
        </p:nvSpPr>
        <p:spPr>
          <a:xfrm>
            <a:off x="1047750" y="8629650"/>
            <a:ext cx="166782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النسق الفاتح هو التوجّه الرسمي للموقع؛ العربية RTL أساس، والإنجليزية LTR نسخةٌ مطابقة.</a:t>
            </a:r>
            <a:endParaRPr lang="en-US" sz="1894" dirty="0"/>
          </a:p>
        </p:txBody>
      </p:sp>
      <p:sp>
        <p:nvSpPr>
          <p:cNvPr id="44" name="Text 41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47 / 84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LANDING PAGE · MOBILE · SECTIONS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الموقع الإلكتروني — الجوّال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382500" y="2752725"/>
            <a:ext cx="2381250" cy="5667375"/>
          </a:xfrm>
          <a:prstGeom prst="roundRect">
            <a:avLst>
              <a:gd name="adj" fmla="val 12000"/>
            </a:avLst>
          </a:prstGeom>
          <a:solidFill>
            <a:srgbClr val="F5F3EF"/>
          </a:solidFill>
          <a:ln w="9525">
            <a:solidFill>
              <a:srgbClr val="E7E2D9"/>
            </a:solidFill>
            <a:prstDash val="solid"/>
          </a:ln>
          <a:effectLst>
            <a:outerShdw sx="100000" sy="100000" kx="0" ky="0" algn="bl" rotWithShape="0" blurRad="285750" dist="95250" dir="5400000">
              <a:srgbClr val="0A111F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601575" y="3686175"/>
            <a:ext cx="1943100" cy="9525"/>
          </a:xfrm>
          <a:prstGeom prst="rect">
            <a:avLst/>
          </a:prstGeom>
          <a:solidFill>
            <a:srgbClr val="EFECE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96925" y="3009900"/>
            <a:ext cx="1047750" cy="5238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01575" y="3114675"/>
            <a:ext cx="26059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☰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2407265" y="4705350"/>
            <a:ext cx="21374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spc="216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RECORDS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601575" y="5029200"/>
            <a:ext cx="20193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السجلّ الموثوق خلف الساعة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2601575" y="5924550"/>
            <a:ext cx="20193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9"/>
              </a:lnSpc>
              <a:buNone/>
            </a:pPr>
            <a:r>
              <a:rPr lang="en-US" sz="142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وثّق ساعتك في سجلٍّ رقمي موثّق.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3501985" y="6667500"/>
            <a:ext cx="1042690" cy="485775"/>
          </a:xfrm>
          <a:prstGeom prst="roundRect">
            <a:avLst>
              <a:gd name="adj" fmla="val 19608"/>
            </a:avLst>
          </a:prstGeom>
          <a:solidFill>
            <a:srgbClr val="12B5B0"/>
          </a:solidFill>
          <a:ln/>
        </p:spPr>
      </p:sp>
      <p:sp>
        <p:nvSpPr>
          <p:cNvPr id="13" name="Text 10"/>
          <p:cNvSpPr/>
          <p:nvPr/>
        </p:nvSpPr>
        <p:spPr>
          <a:xfrm>
            <a:off x="13749635" y="6772275"/>
            <a:ext cx="6235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82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ابدأ الآن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7915275" y="3824288"/>
            <a:ext cx="4181475" cy="1657350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1673371" y="4071938"/>
            <a:ext cx="21382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✦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201025" y="4510088"/>
            <a:ext cx="39709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كيف يعمل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201025" y="4910138"/>
            <a:ext cx="371827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15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ثلاث خطوات: وثّق، تابع، انقل.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524250" y="3824288"/>
            <a:ext cx="4181475" cy="1657350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282346" y="4071938"/>
            <a:ext cx="21382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✦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3810000" y="4510088"/>
            <a:ext cx="39709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الميزات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810000" y="4910138"/>
            <a:ext cx="371827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15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سجلّ، تاريخ موثّق، ونقلٌ آمن.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915275" y="5691188"/>
            <a:ext cx="4181475" cy="1657350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1673371" y="5938838"/>
            <a:ext cx="21382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✦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201025" y="6376988"/>
            <a:ext cx="39709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السجلّ الزمني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201025" y="6777038"/>
            <a:ext cx="371827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15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كل حدثٍ موثّق بتاريخه وكلفته.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3524250" y="5691188"/>
            <a:ext cx="4181475" cy="1657350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282346" y="5938838"/>
            <a:ext cx="21382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✦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3810000" y="6376988"/>
            <a:ext cx="39709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الأسئلة الشائعة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810000" y="6777038"/>
            <a:ext cx="371827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15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إجاباتٌ واضحة حول التوثيق والخصوصية.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047750" y="8629650"/>
            <a:ext cx="166782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أقسام الصفحة: البطل · كيف يعمل · الميزات · معاينة السجلّ · السجلّ الزمني · النقل · الأسئلة · الحثّ · التذييل.</a:t>
            </a:r>
            <a:endParaRPr lang="en-US" sz="1894" dirty="0"/>
          </a:p>
        </p:txBody>
      </p:sp>
      <p:sp>
        <p:nvSpPr>
          <p:cNvPr id="31" name="Text 28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48 / 84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524000" y="5905500"/>
            <a:ext cx="5905500" cy="5905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571500" y="3733800"/>
            <a:ext cx="178117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spc="675" kern="0" dirty="0">
                <a:solidFill>
                  <a:srgbClr val="D8BF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 — Physical Touchpoints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047750" y="4295775"/>
            <a:ext cx="17811750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6300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اللمسات المادية</a:t>
            </a:r>
            <a:endParaRPr lang="en-US" sz="6300" dirty="0"/>
          </a:p>
        </p:txBody>
      </p:sp>
      <p:sp>
        <p:nvSpPr>
          <p:cNvPr id="5" name="Text 2"/>
          <p:cNvSpPr/>
          <p:nvPr/>
        </p:nvSpPr>
        <p:spPr>
          <a:xfrm>
            <a:off x="1047750" y="5657850"/>
            <a:ext cx="1667827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467"/>
              </a:lnSpc>
              <a:buNone/>
            </a:pPr>
            <a:r>
              <a:rPr lang="en-US" sz="2424" dirty="0">
                <a:solidFill>
                  <a:srgbClr val="8E97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القرطاسية · الملابس · التغليف · الفعاليات والبيئة</a:t>
            </a:r>
            <a:endParaRPr lang="en-US" sz="2424" dirty="0"/>
          </a:p>
        </p:txBody>
      </p:sp>
      <p:sp>
        <p:nvSpPr>
          <p:cNvPr id="6" name="Text 3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C66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49 / 84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8E97A8">
                    <a:alpha val="6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CARDS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بطاقات العمل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658600" y="4081463"/>
            <a:ext cx="4191000" cy="2381250"/>
          </a:xfrm>
          <a:prstGeom prst="roundRect">
            <a:avLst>
              <a:gd name="adj" fmla="val 5600"/>
            </a:avLst>
          </a:prstGeom>
          <a:gradFill rotWithShape="1">
            <a:gsLst>
              <a:gs pos="0">
                <a:srgbClr val="16233C">
                  <a:alpha val="100000"/>
                </a:srgbClr>
              </a:gs>
              <a:gs pos="100000">
                <a:srgbClr val="0A111F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285750" dist="76200" dir="5400000">
              <a:srgbClr val="0A111F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8450" y="4405313"/>
            <a:ext cx="1238250" cy="61912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2001500" y="4405313"/>
            <a:ext cx="285750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01500" y="5414963"/>
            <a:ext cx="38557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زياد ناصر الوشمي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12001500" y="5834063"/>
            <a:ext cx="38557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AEB6C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المؤسّس · Founder</a:t>
            </a:r>
            <a:endParaRPr lang="en-US" sz="1575" dirty="0"/>
          </a:p>
        </p:txBody>
      </p:sp>
      <p:sp>
        <p:nvSpPr>
          <p:cNvPr id="10" name="Text 6"/>
          <p:cNvSpPr/>
          <p:nvPr/>
        </p:nvSpPr>
        <p:spPr>
          <a:xfrm>
            <a:off x="12907707" y="6729413"/>
            <a:ext cx="16929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المؤسّس — الوجه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7048500" y="4081463"/>
            <a:ext cx="4191000" cy="2381250"/>
          </a:xfrm>
          <a:prstGeom prst="roundRect">
            <a:avLst>
              <a:gd name="adj" fmla="val 5600"/>
            </a:avLst>
          </a:prstGeom>
          <a:gradFill rotWithShape="1">
            <a:gsLst>
              <a:gs pos="0">
                <a:srgbClr val="16233C">
                  <a:alpha val="100000"/>
                </a:srgbClr>
              </a:gs>
              <a:gs pos="100000">
                <a:srgbClr val="0A111F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285750" dist="76200" dir="5400000">
              <a:srgbClr val="0A111F">
                <a:alpha val="14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675" y="4738688"/>
            <a:ext cx="628650" cy="6286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88213" y="5500688"/>
            <a:ext cx="211172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4583"/>
              </a:lnSpc>
              <a:buNone/>
            </a:pPr>
            <a:r>
              <a:rPr lang="en-US" sz="1425" dirty="0">
                <a:solidFill>
                  <a:srgbClr val="8E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provatto.sa · Riyadh, KSA</a:t>
            </a:r>
            <a:endParaRPr lang="en-US" sz="1425" dirty="0"/>
          </a:p>
        </p:txBody>
      </p:sp>
      <p:sp>
        <p:nvSpPr>
          <p:cNvPr id="14" name="Text 9"/>
          <p:cNvSpPr/>
          <p:nvPr/>
        </p:nvSpPr>
        <p:spPr>
          <a:xfrm>
            <a:off x="8553301" y="6729413"/>
            <a:ext cx="118154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الظهر — الرمز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2438400" y="4081463"/>
            <a:ext cx="4191000" cy="238125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EFECE4"/>
            </a:solidFill>
            <a:prstDash val="solid"/>
          </a:ln>
          <a:effectLst>
            <a:outerShdw sx="100000" sy="100000" kx="0" ky="0" algn="bl" rotWithShape="0" blurRad="285750" dist="76200" dir="5400000">
              <a:srgbClr val="0A111F">
                <a:alpha val="14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725" y="4414838"/>
            <a:ext cx="1238250" cy="6191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115395" y="5100638"/>
            <a:ext cx="237773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نورة العتيبي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4115395" y="5519738"/>
            <a:ext cx="223778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تصميم المنتج · Product Design</a:t>
            </a:r>
            <a:endParaRPr lang="en-US" sz="1575" dirty="0"/>
          </a:p>
        </p:txBody>
      </p:sp>
      <p:sp>
        <p:nvSpPr>
          <p:cNvPr id="19" name="Text 13"/>
          <p:cNvSpPr/>
          <p:nvPr/>
        </p:nvSpPr>
        <p:spPr>
          <a:xfrm>
            <a:off x="2790825" y="5214938"/>
            <a:ext cx="140077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583"/>
              </a:lnSpc>
              <a:buNone/>
            </a:pPr>
            <a:r>
              <a:rPr lang="en-US" sz="1425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n@provatto.sa +966 5X XXX XXXX</a:t>
            </a:r>
            <a:endParaRPr lang="en-US" sz="1425" dirty="0"/>
          </a:p>
        </p:txBody>
      </p:sp>
      <p:sp>
        <p:nvSpPr>
          <p:cNvPr id="20" name="Text 14"/>
          <p:cNvSpPr/>
          <p:nvPr/>
        </p:nvSpPr>
        <p:spPr>
          <a:xfrm>
            <a:off x="3793927" y="6729413"/>
            <a:ext cx="147994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موظّف — الوجه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3067771" y="8629650"/>
            <a:ext cx="1215260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مؤسسة زياد ناصر الوشمي للتجارة · الرياض، المملكة العربية السعودية — الاسم بالعربية يقود، والبيانات اللاتينية بخط IBM Plex Sans.</a:t>
            </a:r>
            <a:endParaRPr lang="en-US" sz="1894" dirty="0"/>
          </a:p>
        </p:txBody>
      </p:sp>
      <p:sp>
        <p:nvSpPr>
          <p:cNvPr id="22" name="Text 16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 / 84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STATIONERY SYSTEM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القرطاسية الرسمية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420600" y="3171676"/>
            <a:ext cx="3429000" cy="4848523"/>
          </a:xfrm>
          <a:prstGeom prst="rect">
            <a:avLst/>
          </a:prstGeom>
          <a:solidFill>
            <a:srgbClr val="FFFFFF"/>
          </a:solidFill>
          <a:ln w="9525">
            <a:solidFill>
              <a:srgbClr val="EFECE4"/>
            </a:solidFill>
            <a:prstDash val="solid"/>
          </a:ln>
          <a:effectLst>
            <a:outerShdw sx="100000" sy="100000" kx="0" ky="0" algn="bl" rotWithShape="0" blurRad="285750" dist="76200" dir="5400000">
              <a:srgbClr val="0A111F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773025" y="4267051"/>
            <a:ext cx="2724150" cy="9525"/>
          </a:xfrm>
          <a:prstGeom prst="rect">
            <a:avLst/>
          </a:prstGeom>
          <a:solidFill>
            <a:srgbClr val="C9A86A">
              <a:alpha val="32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4175" y="3524101"/>
            <a:ext cx="1143000" cy="571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73025" y="3524101"/>
            <a:ext cx="79846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22"/>
              </a:lnSpc>
              <a:buNone/>
            </a:pPr>
            <a:r>
              <a:rPr lang="en-US" sz="105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Riyadh, KSA provatto.sa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4407604" y="4524226"/>
            <a:ext cx="1089571" cy="85725"/>
          </a:xfrm>
          <a:prstGeom prst="roundRect">
            <a:avLst>
              <a:gd name="adj" fmla="val 44444"/>
            </a:avLst>
          </a:prstGeom>
          <a:solidFill>
            <a:srgbClr val="EDE9E1"/>
          </a:solidFill>
          <a:ln/>
        </p:spPr>
      </p:sp>
      <p:sp>
        <p:nvSpPr>
          <p:cNvPr id="10" name="Shape 7"/>
          <p:cNvSpPr/>
          <p:nvPr/>
        </p:nvSpPr>
        <p:spPr>
          <a:xfrm>
            <a:off x="12882116" y="4714726"/>
            <a:ext cx="2615059" cy="85725"/>
          </a:xfrm>
          <a:prstGeom prst="roundRect">
            <a:avLst>
              <a:gd name="adj" fmla="val 44444"/>
            </a:avLst>
          </a:prstGeom>
          <a:solidFill>
            <a:srgbClr val="EDE9E1"/>
          </a:solidFill>
          <a:ln/>
        </p:spPr>
      </p:sp>
      <p:sp>
        <p:nvSpPr>
          <p:cNvPr id="11" name="Shape 8"/>
          <p:cNvSpPr/>
          <p:nvPr/>
        </p:nvSpPr>
        <p:spPr>
          <a:xfrm>
            <a:off x="13045529" y="4905226"/>
            <a:ext cx="2451646" cy="85725"/>
          </a:xfrm>
          <a:prstGeom prst="roundRect">
            <a:avLst>
              <a:gd name="adj" fmla="val 44444"/>
            </a:avLst>
          </a:prstGeom>
          <a:solidFill>
            <a:srgbClr val="EDE9E1"/>
          </a:solidFill>
          <a:ln/>
        </p:spPr>
      </p:sp>
      <p:sp>
        <p:nvSpPr>
          <p:cNvPr id="12" name="Shape 9"/>
          <p:cNvSpPr/>
          <p:nvPr/>
        </p:nvSpPr>
        <p:spPr>
          <a:xfrm>
            <a:off x="12936587" y="5095726"/>
            <a:ext cx="2560588" cy="85725"/>
          </a:xfrm>
          <a:prstGeom prst="roundRect">
            <a:avLst>
              <a:gd name="adj" fmla="val 44444"/>
            </a:avLst>
          </a:prstGeom>
          <a:solidFill>
            <a:srgbClr val="EDE9E1"/>
          </a:solidFill>
          <a:ln/>
        </p:spPr>
      </p:sp>
      <p:sp>
        <p:nvSpPr>
          <p:cNvPr id="13" name="Shape 10"/>
          <p:cNvSpPr/>
          <p:nvPr/>
        </p:nvSpPr>
        <p:spPr>
          <a:xfrm>
            <a:off x="13590389" y="5286226"/>
            <a:ext cx="1906786" cy="85725"/>
          </a:xfrm>
          <a:prstGeom prst="roundRect">
            <a:avLst>
              <a:gd name="adj" fmla="val 44444"/>
            </a:avLst>
          </a:prstGeom>
          <a:solidFill>
            <a:srgbClr val="EDE9E1"/>
          </a:solidFill>
          <a:ln/>
        </p:spPr>
      </p:sp>
      <p:sp>
        <p:nvSpPr>
          <p:cNvPr id="14" name="Shape 11"/>
          <p:cNvSpPr/>
          <p:nvPr/>
        </p:nvSpPr>
        <p:spPr>
          <a:xfrm>
            <a:off x="13100000" y="5476726"/>
            <a:ext cx="2397175" cy="85725"/>
          </a:xfrm>
          <a:prstGeom prst="roundRect">
            <a:avLst>
              <a:gd name="adj" fmla="val 44444"/>
            </a:avLst>
          </a:prstGeom>
          <a:solidFill>
            <a:srgbClr val="EDE9E1"/>
          </a:solidFill>
          <a:ln/>
        </p:spPr>
      </p:sp>
      <p:sp>
        <p:nvSpPr>
          <p:cNvPr id="15" name="Shape 12"/>
          <p:cNvSpPr/>
          <p:nvPr/>
        </p:nvSpPr>
        <p:spPr>
          <a:xfrm>
            <a:off x="14135100" y="5667226"/>
            <a:ext cx="1362075" cy="85725"/>
          </a:xfrm>
          <a:prstGeom prst="roundRect">
            <a:avLst>
              <a:gd name="adj" fmla="val 44444"/>
            </a:avLst>
          </a:prstGeom>
          <a:solidFill>
            <a:srgbClr val="EDE9E1"/>
          </a:solidFill>
          <a:ln/>
        </p:spPr>
      </p:sp>
      <p:sp>
        <p:nvSpPr>
          <p:cNvPr id="16" name="Shape 13"/>
          <p:cNvSpPr/>
          <p:nvPr/>
        </p:nvSpPr>
        <p:spPr>
          <a:xfrm>
            <a:off x="12773025" y="7362974"/>
            <a:ext cx="2724150" cy="9525"/>
          </a:xfrm>
          <a:prstGeom prst="rect">
            <a:avLst/>
          </a:prstGeom>
          <a:solidFill>
            <a:srgbClr val="EFECE4"/>
          </a:solidFill>
          <a:ln/>
        </p:spPr>
      </p:sp>
      <p:sp>
        <p:nvSpPr>
          <p:cNvPr id="17" name="Text 14"/>
          <p:cNvSpPr/>
          <p:nvPr/>
        </p:nvSpPr>
        <p:spPr>
          <a:xfrm>
            <a:off x="12773025" y="7486799"/>
            <a:ext cx="28058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مؤسسة زياد ناصر الوشمي للتجارة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13651855" y="8267849"/>
            <a:ext cx="9664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ورق رسمي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810500" y="3357563"/>
            <a:ext cx="4191000" cy="21907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FECE4"/>
            </a:solidFill>
            <a:prstDash val="solid"/>
          </a:ln>
          <a:effectLst>
            <a:outerShdw sx="100000" sy="100000" kx="0" ky="0" algn="bl" rotWithShape="0" blurRad="285750" dist="76200" dir="5400000">
              <a:srgbClr val="0A111F">
                <a:alpha val="14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5125" y="3671888"/>
            <a:ext cx="1143000" cy="571500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143875" y="3671888"/>
            <a:ext cx="247650" cy="24765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43875" y="4995863"/>
            <a:ext cx="387667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مؤسسة زياد ناصر الوشمي للتجارة · الرياض</a:t>
            </a:r>
            <a:endParaRPr lang="en-US" sz="1275" dirty="0"/>
          </a:p>
        </p:txBody>
      </p:sp>
      <p:sp>
        <p:nvSpPr>
          <p:cNvPr id="23" name="Text 18"/>
          <p:cNvSpPr/>
          <p:nvPr/>
        </p:nvSpPr>
        <p:spPr>
          <a:xfrm>
            <a:off x="11312575" y="5776913"/>
            <a:ext cx="7270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مظروف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6286500" y="6367463"/>
            <a:ext cx="5715000" cy="1485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FECE4"/>
            </a:solidFill>
            <a:prstDash val="solid"/>
          </a:ln>
          <a:effectLst>
            <a:outerShdw sx="100000" sy="100000" kx="0" ky="0" algn="bl" rotWithShape="0" blurRad="152400" dist="38100" dir="5400000">
              <a:srgbClr val="0A111F">
                <a:alpha val="6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8075" y="6900863"/>
            <a:ext cx="419100" cy="41910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11001375" y="6643688"/>
            <a:ext cx="19050" cy="9334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8758238" y="6643688"/>
            <a:ext cx="219503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نورة العتيبي</a:t>
            </a:r>
            <a:endParaRPr lang="en-US" sz="1650" dirty="0"/>
          </a:p>
        </p:txBody>
      </p:sp>
      <p:sp>
        <p:nvSpPr>
          <p:cNvPr id="28" name="Text 22"/>
          <p:cNvSpPr/>
          <p:nvPr/>
        </p:nvSpPr>
        <p:spPr>
          <a:xfrm>
            <a:off x="8758238" y="7005638"/>
            <a:ext cx="20716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135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تصميم المنتج · بروفاتو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8758238" y="7339012"/>
            <a:ext cx="219503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n@provatto.sa · provatto.sa</a:t>
            </a:r>
            <a:endParaRPr lang="en-US" sz="1275" dirty="0"/>
          </a:p>
        </p:txBody>
      </p:sp>
      <p:sp>
        <p:nvSpPr>
          <p:cNvPr id="30" name="Text 24"/>
          <p:cNvSpPr/>
          <p:nvPr/>
        </p:nvSpPr>
        <p:spPr>
          <a:xfrm>
            <a:off x="10160645" y="8081962"/>
            <a:ext cx="19285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توقيع البريد الإلكتروني</a:t>
            </a:r>
            <a:endParaRPr lang="en-US" sz="1800" dirty="0"/>
          </a:p>
        </p:txBody>
      </p:sp>
      <p:sp>
        <p:nvSpPr>
          <p:cNvPr id="31" name="Shape 25"/>
          <p:cNvSpPr/>
          <p:nvPr/>
        </p:nvSpPr>
        <p:spPr>
          <a:xfrm>
            <a:off x="2438400" y="3171676"/>
            <a:ext cx="3429000" cy="4848523"/>
          </a:xfrm>
          <a:prstGeom prst="rect">
            <a:avLst/>
          </a:prstGeom>
          <a:solidFill>
            <a:srgbClr val="FFFFFF"/>
          </a:solidFill>
          <a:ln w="9525">
            <a:solidFill>
              <a:srgbClr val="EFECE4"/>
            </a:solidFill>
            <a:prstDash val="solid"/>
          </a:ln>
          <a:effectLst>
            <a:outerShdw sx="100000" sy="100000" kx="0" ky="0" algn="bl" rotWithShape="0" blurRad="285750" dist="76200" dir="5400000">
              <a:srgbClr val="0A111F">
                <a:alpha val="14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2790825" y="3924151"/>
            <a:ext cx="2724150" cy="9525"/>
          </a:xfrm>
          <a:prstGeom prst="rect">
            <a:avLst/>
          </a:prstGeom>
          <a:solidFill>
            <a:srgbClr val="C9A86A">
              <a:alpha val="32000"/>
            </a:srgbClr>
          </a:solidFill>
          <a:ln/>
        </p:spPr>
      </p:sp>
      <p:sp>
        <p:nvSpPr>
          <p:cNvPr id="33" name="Text 27"/>
          <p:cNvSpPr/>
          <p:nvPr/>
        </p:nvSpPr>
        <p:spPr>
          <a:xfrm>
            <a:off x="5083225" y="3524101"/>
            <a:ext cx="507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فاتورة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2790825" y="3524101"/>
            <a:ext cx="81959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#INV-1042</a:t>
            </a:r>
            <a:endParaRPr lang="en-US" sz="1125" dirty="0"/>
          </a:p>
        </p:txBody>
      </p:sp>
      <p:sp>
        <p:nvSpPr>
          <p:cNvPr id="35" name="Shape 29"/>
          <p:cNvSpPr/>
          <p:nvPr/>
        </p:nvSpPr>
        <p:spPr>
          <a:xfrm>
            <a:off x="2790825" y="4352776"/>
            <a:ext cx="2724150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36" name="Text 30"/>
          <p:cNvSpPr/>
          <p:nvPr/>
        </p:nvSpPr>
        <p:spPr>
          <a:xfrm>
            <a:off x="4753868" y="4047976"/>
            <a:ext cx="83730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اشتراك سنوي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2790825" y="4057501"/>
            <a:ext cx="6832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SAR 480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2790825" y="4752826"/>
            <a:ext cx="2724150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39" name="Text 33"/>
          <p:cNvSpPr/>
          <p:nvPr/>
        </p:nvSpPr>
        <p:spPr>
          <a:xfrm>
            <a:off x="4293245" y="4448026"/>
            <a:ext cx="13439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ضريبة القيمة المضافة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2790825" y="4457551"/>
            <a:ext cx="59188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SAR 72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5073551" y="4848076"/>
            <a:ext cx="5176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الإجمالي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2790825" y="4857601"/>
            <a:ext cx="6832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SAR 552</a:t>
            </a:r>
            <a:endParaRPr lang="en-US" sz="1200" dirty="0"/>
          </a:p>
        </p:txBody>
      </p:sp>
      <p:sp>
        <p:nvSpPr>
          <p:cNvPr id="43" name="Shape 37"/>
          <p:cNvSpPr/>
          <p:nvPr/>
        </p:nvSpPr>
        <p:spPr>
          <a:xfrm>
            <a:off x="2790825" y="7382024"/>
            <a:ext cx="2724150" cy="9525"/>
          </a:xfrm>
          <a:prstGeom prst="rect">
            <a:avLst/>
          </a:prstGeom>
          <a:solidFill>
            <a:srgbClr val="C9A86A">
              <a:alpha val="32000"/>
            </a:srgbClr>
          </a:solidFill>
          <a:ln/>
        </p:spPr>
      </p:sp>
      <p:sp>
        <p:nvSpPr>
          <p:cNvPr id="44" name="Text 38"/>
          <p:cNvSpPr/>
          <p:nvPr/>
        </p:nvSpPr>
        <p:spPr>
          <a:xfrm>
            <a:off x="2790825" y="7486799"/>
            <a:ext cx="28058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مؤسسة زياد ناصر الوشمي للتجارة</a:t>
            </a:r>
            <a:endParaRPr lang="en-US" sz="975" dirty="0"/>
          </a:p>
        </p:txBody>
      </p:sp>
      <p:sp>
        <p:nvSpPr>
          <p:cNvPr id="45" name="Text 39"/>
          <p:cNvSpPr/>
          <p:nvPr/>
        </p:nvSpPr>
        <p:spPr>
          <a:xfrm>
            <a:off x="3295382" y="8267849"/>
            <a:ext cx="17150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فاتورة / عرض سعر</a:t>
            </a:r>
            <a:endParaRPr lang="en-US" sz="1800" dirty="0"/>
          </a:p>
        </p:txBody>
      </p:sp>
      <p:sp>
        <p:nvSpPr>
          <p:cNvPr id="46" name="Text 40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51 / 84</a:t>
            </a:r>
            <a:endParaRPr lang="en-US" sz="1800" dirty="0"/>
          </a:p>
        </p:txBody>
      </p:sp>
      <p:sp>
        <p:nvSpPr>
          <p:cNvPr id="47" name="Text 41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APPAREL &amp; MERCHANDISE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الملابس والهدايا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435013" y="2752725"/>
            <a:ext cx="3805237" cy="5362575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35013" y="2752725"/>
            <a:ext cx="3805237" cy="4657725"/>
          </a:xfrm>
          <a:prstGeom prst="rect">
            <a:avLst/>
          </a:prstGeom>
          <a:solidFill>
            <a:srgbClr val="EEEBE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099381" y="3843338"/>
            <a:ext cx="2476500" cy="24765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213806" y="4809083"/>
            <a:ext cx="247650" cy="24765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9" name="Shape 6"/>
          <p:cNvSpPr/>
          <p:nvPr/>
        </p:nvSpPr>
        <p:spPr>
          <a:xfrm>
            <a:off x="13435013" y="7410450"/>
            <a:ext cx="3805237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10" name="Text 7"/>
          <p:cNvSpPr/>
          <p:nvPr/>
        </p:nvSpPr>
        <p:spPr>
          <a:xfrm>
            <a:off x="13682663" y="7591425"/>
            <a:ext cx="36409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تيشيرت — رمز صدر صغير</a:t>
            </a:r>
            <a:endParaRPr lang="en-US" sz="1875" dirty="0"/>
          </a:p>
        </p:txBody>
      </p:sp>
      <p:sp>
        <p:nvSpPr>
          <p:cNvPr id="11" name="Shape 8"/>
          <p:cNvSpPr/>
          <p:nvPr/>
        </p:nvSpPr>
        <p:spPr>
          <a:xfrm>
            <a:off x="9305925" y="2752725"/>
            <a:ext cx="3805237" cy="5362575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305925" y="2752725"/>
            <a:ext cx="3805237" cy="4657725"/>
          </a:xfrm>
          <a:prstGeom prst="rect">
            <a:avLst/>
          </a:prstGeom>
          <a:solidFill>
            <a:srgbClr val="EEEBE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70294" y="3843338"/>
            <a:ext cx="2476500" cy="24765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1094244" y="4868168"/>
            <a:ext cx="228600" cy="228600"/>
          </a:xfrm>
          <a:prstGeom prst="rect">
            <a:avLst/>
          </a:prstGeom>
          <a:solidFill>
            <a:srgbClr val="B29051">
              <a:alpha val="70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9305925" y="7410450"/>
            <a:ext cx="3805237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16" name="Text 12"/>
          <p:cNvSpPr/>
          <p:nvPr/>
        </p:nvSpPr>
        <p:spPr>
          <a:xfrm>
            <a:off x="9553575" y="7591425"/>
            <a:ext cx="36409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بولو — تطريز نغمي</a:t>
            </a:r>
            <a:endParaRPr lang="en-US" sz="1875" dirty="0"/>
          </a:p>
        </p:txBody>
      </p:sp>
      <p:sp>
        <p:nvSpPr>
          <p:cNvPr id="17" name="Shape 13"/>
          <p:cNvSpPr/>
          <p:nvPr/>
        </p:nvSpPr>
        <p:spPr>
          <a:xfrm>
            <a:off x="5176838" y="2752725"/>
            <a:ext cx="3805237" cy="5362575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176838" y="2752725"/>
            <a:ext cx="3805237" cy="4657725"/>
          </a:xfrm>
          <a:prstGeom prst="rect">
            <a:avLst/>
          </a:prstGeom>
          <a:solidFill>
            <a:srgbClr val="EEEBE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2206" y="4481513"/>
            <a:ext cx="1714500" cy="1200001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176838" y="7410450"/>
            <a:ext cx="3805237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1" name="Text 16"/>
          <p:cNvSpPr/>
          <p:nvPr/>
        </p:nvSpPr>
        <p:spPr>
          <a:xfrm>
            <a:off x="5424488" y="7591425"/>
            <a:ext cx="36409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قبّعة — رمز مطرّز</a:t>
            </a:r>
            <a:endParaRPr lang="en-US" sz="1875" dirty="0"/>
          </a:p>
        </p:txBody>
      </p:sp>
      <p:sp>
        <p:nvSpPr>
          <p:cNvPr id="22" name="Shape 17"/>
          <p:cNvSpPr/>
          <p:nvPr/>
        </p:nvSpPr>
        <p:spPr>
          <a:xfrm>
            <a:off x="1047750" y="2752725"/>
            <a:ext cx="3805237" cy="5362575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47750" y="2752725"/>
            <a:ext cx="3805237" cy="4657725"/>
          </a:xfrm>
          <a:prstGeom prst="rect">
            <a:avLst/>
          </a:prstGeom>
          <a:solidFill>
            <a:srgbClr val="EEEBE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35994" y="4277916"/>
            <a:ext cx="1428750" cy="1607344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1047750" y="7410450"/>
            <a:ext cx="3805237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6" name="Text 20"/>
          <p:cNvSpPr/>
          <p:nvPr/>
        </p:nvSpPr>
        <p:spPr>
          <a:xfrm>
            <a:off x="1295400" y="7591425"/>
            <a:ext cx="36409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حقيبة قماش — رمز خفيف</a:t>
            </a:r>
            <a:endParaRPr lang="en-US" sz="1875" dirty="0"/>
          </a:p>
        </p:txBody>
      </p:sp>
      <p:sp>
        <p:nvSpPr>
          <p:cNvPr id="27" name="Shape 21"/>
          <p:cNvSpPr/>
          <p:nvPr/>
        </p:nvSpPr>
        <p:spPr>
          <a:xfrm>
            <a:off x="16611600" y="8401050"/>
            <a:ext cx="628650" cy="628650"/>
          </a:xfrm>
          <a:prstGeom prst="ellipse">
            <a:avLst/>
          </a:prstGeom>
          <a:solidFill>
            <a:srgbClr val="0A111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15849600" y="8401050"/>
            <a:ext cx="628650" cy="628650"/>
          </a:xfrm>
          <a:prstGeom prst="ellipse">
            <a:avLst/>
          </a:prstGeom>
          <a:solidFill>
            <a:srgbClr val="EDE9E1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5087600" y="8401050"/>
            <a:ext cx="628650" cy="628650"/>
          </a:xfrm>
          <a:prstGeom prst="ellipse">
            <a:avLst/>
          </a:prstGeom>
          <a:solidFill>
            <a:srgbClr val="C9A86A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1047750" y="8515350"/>
            <a:ext cx="1402937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تطبيقاتٌ متحفّظة: رمزٌ صغير على الصدر، تطريزٌ نغمي، وخطٌّ ذهبي رفيع — بلا شعاراتٍ ضخمة أو طباعةٍ صاخبة أو صور ساعات.</a:t>
            </a:r>
            <a:endParaRPr lang="en-US" sz="1894" dirty="0"/>
          </a:p>
        </p:txBody>
      </p:sp>
      <p:sp>
        <p:nvSpPr>
          <p:cNvPr id="31" name="Text 25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52 / 84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PACKAGING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التغليف واللمسات المرافقة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058650" y="2752725"/>
            <a:ext cx="5181600" cy="5629275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058650" y="2752725"/>
            <a:ext cx="5181600" cy="4171950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7" name="Shape 5"/>
          <p:cNvSpPr/>
          <p:nvPr/>
        </p:nvSpPr>
        <p:spPr>
          <a:xfrm>
            <a:off x="13601700" y="4124325"/>
            <a:ext cx="2095500" cy="1428750"/>
          </a:xfrm>
          <a:prstGeom prst="roundRect">
            <a:avLst>
              <a:gd name="adj" fmla="val 6667"/>
            </a:avLst>
          </a:prstGeom>
          <a:gradFill rotWithShape="1">
            <a:gsLst>
              <a:gs pos="0">
                <a:srgbClr val="16233C">
                  <a:alpha val="100000"/>
                </a:srgbClr>
              </a:gs>
              <a:gs pos="100000">
                <a:srgbClr val="0A111F">
                  <a:alpha val="100000"/>
                </a:srgbClr>
              </a:gs>
            </a:gsLst>
            <a:lin ang="4200000" scaled="0"/>
          </a:gradFill>
          <a:ln w="9525">
            <a:solidFill>
              <a:srgbClr val="C9A86A">
                <a:alpha val="3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0325" y="4376738"/>
            <a:ext cx="1238250" cy="619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040594" y="5129213"/>
            <a:ext cx="133948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52" kern="0" dirty="0">
                <a:solidFill>
                  <a:srgbClr val="D8BF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WELCOME KIT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2058650" y="6924675"/>
            <a:ext cx="5181600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11" name="Text 8"/>
          <p:cNvSpPr/>
          <p:nvPr/>
        </p:nvSpPr>
        <p:spPr>
          <a:xfrm>
            <a:off x="12306300" y="7105650"/>
            <a:ext cx="51549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حقيبة الترحيب</a:t>
            </a:r>
            <a:endParaRPr lang="en-US" sz="1875" dirty="0"/>
          </a:p>
        </p:txBody>
      </p:sp>
      <p:sp>
        <p:nvSpPr>
          <p:cNvPr id="12" name="Text 9"/>
          <p:cNvSpPr/>
          <p:nvPr/>
        </p:nvSpPr>
        <p:spPr>
          <a:xfrm>
            <a:off x="12306300" y="7505700"/>
            <a:ext cx="4826889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333"/>
              </a:lnSpc>
              <a:buNone/>
            </a:pPr>
            <a:r>
              <a:rPr lang="en-US" sz="18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صندوقٌ بأسلوب العضوية يضمّ بطاقة السجلّ ورسالة الترحيب.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553200" y="2752725"/>
            <a:ext cx="5181600" cy="5629275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53200" y="2752725"/>
            <a:ext cx="5181600" cy="4171950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15" name="Shape 12"/>
          <p:cNvSpPr/>
          <p:nvPr/>
        </p:nvSpPr>
        <p:spPr>
          <a:xfrm>
            <a:off x="8286750" y="3838575"/>
            <a:ext cx="1714500" cy="20002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7E2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0575" y="3962400"/>
            <a:ext cx="1466850" cy="1752600"/>
          </a:xfrm>
          <a:prstGeom prst="rect">
            <a:avLst/>
          </a:prstGeom>
          <a:ln w="9525">
            <a:solidFill>
              <a:srgbClr val="C9A86A">
                <a:alpha val="32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6350" y="4391025"/>
            <a:ext cx="495300" cy="4953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698706" y="5000625"/>
            <a:ext cx="9667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ملفّ الوثائق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6553200" y="6924675"/>
            <a:ext cx="5181600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0" name="Text 16"/>
          <p:cNvSpPr/>
          <p:nvPr/>
        </p:nvSpPr>
        <p:spPr>
          <a:xfrm>
            <a:off x="6800850" y="7105650"/>
            <a:ext cx="51549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ملفّ المستندات الفاخر</a:t>
            </a:r>
            <a:endParaRPr lang="en-US" sz="1875" dirty="0"/>
          </a:p>
        </p:txBody>
      </p:sp>
      <p:sp>
        <p:nvSpPr>
          <p:cNvPr id="21" name="Text 17"/>
          <p:cNvSpPr/>
          <p:nvPr/>
        </p:nvSpPr>
        <p:spPr>
          <a:xfrm>
            <a:off x="6800850" y="7505700"/>
            <a:ext cx="4826889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333"/>
              </a:lnSpc>
              <a:buNone/>
            </a:pPr>
            <a:r>
              <a:rPr lang="en-US" sz="18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غلافٌ ذو إطارٍ شعري ذهبي لحفظ ملخّص السجلّ المطبوع.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1047750" y="2752725"/>
            <a:ext cx="5181600" cy="5629275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1047750" y="2752725"/>
            <a:ext cx="5181600" cy="452437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4" name="Shape 20"/>
          <p:cNvSpPr/>
          <p:nvPr/>
        </p:nvSpPr>
        <p:spPr>
          <a:xfrm>
            <a:off x="2590800" y="3986213"/>
            <a:ext cx="209550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FECE4"/>
            </a:solidFill>
            <a:prstDash val="solid"/>
          </a:ln>
          <a:effectLst>
            <a:outerShdw sx="100000" sy="100000" kx="0" ky="0" algn="bl" rotWithShape="0" blurRad="285750" dist="76200" dir="5400000">
              <a:srgbClr val="0A111F">
                <a:alpha val="14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425" y="4205288"/>
            <a:ext cx="1047750" cy="52387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828925" y="4795838"/>
            <a:ext cx="178117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بطاقة تفعيل السجلّ · QR</a:t>
            </a:r>
            <a:endParaRPr lang="en-US" sz="1125" dirty="0"/>
          </a:p>
        </p:txBody>
      </p:sp>
      <p:sp>
        <p:nvSpPr>
          <p:cNvPr id="27" name="Shape 22"/>
          <p:cNvSpPr/>
          <p:nvPr/>
        </p:nvSpPr>
        <p:spPr>
          <a:xfrm>
            <a:off x="3305175" y="5376863"/>
            <a:ext cx="66675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E2D9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840063" y="5462588"/>
            <a:ext cx="46137" cy="46137"/>
          </a:xfrm>
          <a:prstGeom prst="roundRect">
            <a:avLst>
              <a:gd name="adj" fmla="val 41290"/>
            </a:avLst>
          </a:prstGeom>
          <a:solidFill>
            <a:srgbClr val="0A111F"/>
          </a:solidFill>
          <a:ln/>
        </p:spPr>
      </p:sp>
      <p:sp>
        <p:nvSpPr>
          <p:cNvPr id="29" name="Shape 24"/>
          <p:cNvSpPr/>
          <p:nvPr/>
        </p:nvSpPr>
        <p:spPr>
          <a:xfrm>
            <a:off x="3765203" y="5462588"/>
            <a:ext cx="46286" cy="46137"/>
          </a:xfrm>
          <a:prstGeom prst="roundRect">
            <a:avLst>
              <a:gd name="adj" fmla="val 41290"/>
            </a:avLst>
          </a:prstGeom>
          <a:solidFill>
            <a:srgbClr val="0A111F"/>
          </a:solidFill>
          <a:ln/>
        </p:spPr>
      </p:sp>
      <p:sp>
        <p:nvSpPr>
          <p:cNvPr id="30" name="Shape 25"/>
          <p:cNvSpPr/>
          <p:nvPr/>
        </p:nvSpPr>
        <p:spPr>
          <a:xfrm>
            <a:off x="3615482" y="5462588"/>
            <a:ext cx="46286" cy="46137"/>
          </a:xfrm>
          <a:prstGeom prst="roundRect">
            <a:avLst>
              <a:gd name="adj" fmla="val 41290"/>
            </a:avLst>
          </a:prstGeom>
          <a:solidFill>
            <a:srgbClr val="0A111F"/>
          </a:solidFill>
          <a:ln/>
        </p:spPr>
      </p:sp>
      <p:sp>
        <p:nvSpPr>
          <p:cNvPr id="31" name="Shape 26"/>
          <p:cNvSpPr/>
          <p:nvPr/>
        </p:nvSpPr>
        <p:spPr>
          <a:xfrm>
            <a:off x="3465761" y="5462588"/>
            <a:ext cx="46286" cy="46137"/>
          </a:xfrm>
          <a:prstGeom prst="roundRect">
            <a:avLst>
              <a:gd name="adj" fmla="val 41290"/>
            </a:avLst>
          </a:prstGeom>
          <a:solidFill>
            <a:srgbClr val="0A111F"/>
          </a:solidFill>
          <a:ln/>
        </p:spPr>
      </p:sp>
      <p:sp>
        <p:nvSpPr>
          <p:cNvPr id="32" name="Shape 27"/>
          <p:cNvSpPr/>
          <p:nvPr/>
        </p:nvSpPr>
        <p:spPr>
          <a:xfrm>
            <a:off x="3391049" y="5462588"/>
            <a:ext cx="46137" cy="46137"/>
          </a:xfrm>
          <a:prstGeom prst="roundRect">
            <a:avLst>
              <a:gd name="adj" fmla="val 41290"/>
            </a:avLst>
          </a:prstGeom>
          <a:solidFill>
            <a:srgbClr val="0A111F"/>
          </a:solidFill>
          <a:ln/>
        </p:spPr>
      </p:sp>
      <p:sp>
        <p:nvSpPr>
          <p:cNvPr id="33" name="Shape 28"/>
          <p:cNvSpPr/>
          <p:nvPr/>
        </p:nvSpPr>
        <p:spPr>
          <a:xfrm>
            <a:off x="3840063" y="5537299"/>
            <a:ext cx="46137" cy="46286"/>
          </a:xfrm>
          <a:prstGeom prst="roundRect">
            <a:avLst>
              <a:gd name="adj" fmla="val 41290"/>
            </a:avLst>
          </a:prstGeom>
          <a:solidFill>
            <a:srgbClr val="0A111F"/>
          </a:solidFill>
          <a:ln/>
        </p:spPr>
      </p:sp>
      <p:sp>
        <p:nvSpPr>
          <p:cNvPr id="34" name="Shape 29"/>
          <p:cNvSpPr/>
          <p:nvPr/>
        </p:nvSpPr>
        <p:spPr>
          <a:xfrm>
            <a:off x="3690342" y="5537299"/>
            <a:ext cx="46286" cy="46286"/>
          </a:xfrm>
          <a:prstGeom prst="roundRect">
            <a:avLst>
              <a:gd name="adj" fmla="val 41157"/>
            </a:avLst>
          </a:prstGeom>
          <a:solidFill>
            <a:srgbClr val="0A111F"/>
          </a:solidFill>
          <a:ln/>
        </p:spPr>
      </p:sp>
      <p:sp>
        <p:nvSpPr>
          <p:cNvPr id="35" name="Shape 30"/>
          <p:cNvSpPr/>
          <p:nvPr/>
        </p:nvSpPr>
        <p:spPr>
          <a:xfrm>
            <a:off x="3540621" y="5537299"/>
            <a:ext cx="46286" cy="46286"/>
          </a:xfrm>
          <a:prstGeom prst="roundRect">
            <a:avLst>
              <a:gd name="adj" fmla="val 41157"/>
            </a:avLst>
          </a:prstGeom>
          <a:solidFill>
            <a:srgbClr val="0A111F"/>
          </a:solidFill>
          <a:ln/>
        </p:spPr>
      </p:sp>
      <p:sp>
        <p:nvSpPr>
          <p:cNvPr id="36" name="Shape 31"/>
          <p:cNvSpPr/>
          <p:nvPr/>
        </p:nvSpPr>
        <p:spPr>
          <a:xfrm>
            <a:off x="3391049" y="5537299"/>
            <a:ext cx="46137" cy="46286"/>
          </a:xfrm>
          <a:prstGeom prst="roundRect">
            <a:avLst>
              <a:gd name="adj" fmla="val 41290"/>
            </a:avLst>
          </a:prstGeom>
          <a:solidFill>
            <a:srgbClr val="0A111F"/>
          </a:solidFill>
          <a:ln/>
        </p:spPr>
      </p:sp>
      <p:sp>
        <p:nvSpPr>
          <p:cNvPr id="37" name="Shape 32"/>
          <p:cNvSpPr/>
          <p:nvPr/>
        </p:nvSpPr>
        <p:spPr>
          <a:xfrm>
            <a:off x="3765203" y="5612160"/>
            <a:ext cx="46286" cy="46286"/>
          </a:xfrm>
          <a:prstGeom prst="roundRect">
            <a:avLst>
              <a:gd name="adj" fmla="val 41157"/>
            </a:avLst>
          </a:prstGeom>
          <a:solidFill>
            <a:srgbClr val="0A111F"/>
          </a:solidFill>
          <a:ln/>
        </p:spPr>
      </p:sp>
      <p:sp>
        <p:nvSpPr>
          <p:cNvPr id="38" name="Shape 33"/>
          <p:cNvSpPr/>
          <p:nvPr/>
        </p:nvSpPr>
        <p:spPr>
          <a:xfrm>
            <a:off x="3690342" y="5612160"/>
            <a:ext cx="46286" cy="46286"/>
          </a:xfrm>
          <a:prstGeom prst="roundRect">
            <a:avLst>
              <a:gd name="adj" fmla="val 41157"/>
            </a:avLst>
          </a:prstGeom>
          <a:solidFill>
            <a:srgbClr val="0A111F"/>
          </a:solidFill>
          <a:ln/>
        </p:spPr>
      </p:sp>
      <p:sp>
        <p:nvSpPr>
          <p:cNvPr id="39" name="Shape 34"/>
          <p:cNvSpPr/>
          <p:nvPr/>
        </p:nvSpPr>
        <p:spPr>
          <a:xfrm>
            <a:off x="3615482" y="5612160"/>
            <a:ext cx="46286" cy="46286"/>
          </a:xfrm>
          <a:prstGeom prst="roundRect">
            <a:avLst>
              <a:gd name="adj" fmla="val 41157"/>
            </a:avLst>
          </a:prstGeom>
          <a:solidFill>
            <a:srgbClr val="0A111F"/>
          </a:solidFill>
          <a:ln/>
        </p:spPr>
      </p:sp>
      <p:sp>
        <p:nvSpPr>
          <p:cNvPr id="40" name="Shape 35"/>
          <p:cNvSpPr/>
          <p:nvPr/>
        </p:nvSpPr>
        <p:spPr>
          <a:xfrm>
            <a:off x="3391049" y="5612160"/>
            <a:ext cx="46137" cy="46286"/>
          </a:xfrm>
          <a:prstGeom prst="roundRect">
            <a:avLst>
              <a:gd name="adj" fmla="val 41290"/>
            </a:avLst>
          </a:prstGeom>
          <a:solidFill>
            <a:srgbClr val="0A111F"/>
          </a:solidFill>
          <a:ln/>
        </p:spPr>
      </p:sp>
      <p:sp>
        <p:nvSpPr>
          <p:cNvPr id="41" name="Shape 36"/>
          <p:cNvSpPr/>
          <p:nvPr/>
        </p:nvSpPr>
        <p:spPr>
          <a:xfrm>
            <a:off x="3840063" y="5687020"/>
            <a:ext cx="46137" cy="46286"/>
          </a:xfrm>
          <a:prstGeom prst="roundRect">
            <a:avLst>
              <a:gd name="adj" fmla="val 41290"/>
            </a:avLst>
          </a:prstGeom>
          <a:solidFill>
            <a:srgbClr val="0A111F"/>
          </a:solidFill>
          <a:ln/>
        </p:spPr>
      </p:sp>
      <p:sp>
        <p:nvSpPr>
          <p:cNvPr id="42" name="Shape 37"/>
          <p:cNvSpPr/>
          <p:nvPr/>
        </p:nvSpPr>
        <p:spPr>
          <a:xfrm>
            <a:off x="3690342" y="5687020"/>
            <a:ext cx="46286" cy="46286"/>
          </a:xfrm>
          <a:prstGeom prst="roundRect">
            <a:avLst>
              <a:gd name="adj" fmla="val 41157"/>
            </a:avLst>
          </a:prstGeom>
          <a:solidFill>
            <a:srgbClr val="0A111F"/>
          </a:solidFill>
          <a:ln/>
        </p:spPr>
      </p:sp>
      <p:sp>
        <p:nvSpPr>
          <p:cNvPr id="43" name="Shape 38"/>
          <p:cNvSpPr/>
          <p:nvPr/>
        </p:nvSpPr>
        <p:spPr>
          <a:xfrm>
            <a:off x="3540621" y="5687020"/>
            <a:ext cx="46286" cy="46286"/>
          </a:xfrm>
          <a:prstGeom prst="roundRect">
            <a:avLst>
              <a:gd name="adj" fmla="val 41157"/>
            </a:avLst>
          </a:prstGeom>
          <a:solidFill>
            <a:srgbClr val="0A111F"/>
          </a:solidFill>
          <a:ln/>
        </p:spPr>
      </p:sp>
      <p:sp>
        <p:nvSpPr>
          <p:cNvPr id="44" name="Shape 39"/>
          <p:cNvSpPr/>
          <p:nvPr/>
        </p:nvSpPr>
        <p:spPr>
          <a:xfrm>
            <a:off x="3465761" y="5687020"/>
            <a:ext cx="46286" cy="46286"/>
          </a:xfrm>
          <a:prstGeom prst="roundRect">
            <a:avLst>
              <a:gd name="adj" fmla="val 41157"/>
            </a:avLst>
          </a:prstGeom>
          <a:solidFill>
            <a:srgbClr val="0A111F"/>
          </a:solidFill>
          <a:ln/>
        </p:spPr>
      </p:sp>
      <p:sp>
        <p:nvSpPr>
          <p:cNvPr id="45" name="Shape 40"/>
          <p:cNvSpPr/>
          <p:nvPr/>
        </p:nvSpPr>
        <p:spPr>
          <a:xfrm>
            <a:off x="3765203" y="5761881"/>
            <a:ext cx="46286" cy="46286"/>
          </a:xfrm>
          <a:prstGeom prst="roundRect">
            <a:avLst>
              <a:gd name="adj" fmla="val 41157"/>
            </a:avLst>
          </a:prstGeom>
          <a:solidFill>
            <a:srgbClr val="0A111F"/>
          </a:solidFill>
          <a:ln/>
        </p:spPr>
      </p:sp>
      <p:sp>
        <p:nvSpPr>
          <p:cNvPr id="46" name="Shape 41"/>
          <p:cNvSpPr/>
          <p:nvPr/>
        </p:nvSpPr>
        <p:spPr>
          <a:xfrm>
            <a:off x="3615482" y="5761881"/>
            <a:ext cx="46286" cy="46286"/>
          </a:xfrm>
          <a:prstGeom prst="roundRect">
            <a:avLst>
              <a:gd name="adj" fmla="val 41157"/>
            </a:avLst>
          </a:prstGeom>
          <a:solidFill>
            <a:srgbClr val="0A111F"/>
          </a:solidFill>
          <a:ln/>
        </p:spPr>
      </p:sp>
      <p:sp>
        <p:nvSpPr>
          <p:cNvPr id="47" name="Shape 42"/>
          <p:cNvSpPr/>
          <p:nvPr/>
        </p:nvSpPr>
        <p:spPr>
          <a:xfrm>
            <a:off x="3465761" y="5761881"/>
            <a:ext cx="46286" cy="46286"/>
          </a:xfrm>
          <a:prstGeom prst="roundRect">
            <a:avLst>
              <a:gd name="adj" fmla="val 41157"/>
            </a:avLst>
          </a:prstGeom>
          <a:solidFill>
            <a:srgbClr val="0A111F"/>
          </a:solidFill>
          <a:ln/>
        </p:spPr>
      </p:sp>
      <p:sp>
        <p:nvSpPr>
          <p:cNvPr id="48" name="Shape 43"/>
          <p:cNvSpPr/>
          <p:nvPr/>
        </p:nvSpPr>
        <p:spPr>
          <a:xfrm>
            <a:off x="3391049" y="5761881"/>
            <a:ext cx="46137" cy="46286"/>
          </a:xfrm>
          <a:prstGeom prst="roundRect">
            <a:avLst>
              <a:gd name="adj" fmla="val 41290"/>
            </a:avLst>
          </a:prstGeom>
          <a:solidFill>
            <a:srgbClr val="0A111F"/>
          </a:solidFill>
          <a:ln/>
        </p:spPr>
      </p:sp>
      <p:sp>
        <p:nvSpPr>
          <p:cNvPr id="49" name="Shape 44"/>
          <p:cNvSpPr/>
          <p:nvPr/>
        </p:nvSpPr>
        <p:spPr>
          <a:xfrm>
            <a:off x="3840063" y="5836741"/>
            <a:ext cx="46137" cy="46286"/>
          </a:xfrm>
          <a:prstGeom prst="roundRect">
            <a:avLst>
              <a:gd name="adj" fmla="val 41290"/>
            </a:avLst>
          </a:prstGeom>
          <a:solidFill>
            <a:srgbClr val="0A111F"/>
          </a:solidFill>
          <a:ln/>
        </p:spPr>
      </p:sp>
      <p:sp>
        <p:nvSpPr>
          <p:cNvPr id="50" name="Shape 45"/>
          <p:cNvSpPr/>
          <p:nvPr/>
        </p:nvSpPr>
        <p:spPr>
          <a:xfrm>
            <a:off x="3765203" y="5836741"/>
            <a:ext cx="46286" cy="46286"/>
          </a:xfrm>
          <a:prstGeom prst="roundRect">
            <a:avLst>
              <a:gd name="adj" fmla="val 41157"/>
            </a:avLst>
          </a:prstGeom>
          <a:solidFill>
            <a:srgbClr val="0A111F"/>
          </a:solidFill>
          <a:ln/>
        </p:spPr>
      </p:sp>
      <p:sp>
        <p:nvSpPr>
          <p:cNvPr id="51" name="Shape 46"/>
          <p:cNvSpPr/>
          <p:nvPr/>
        </p:nvSpPr>
        <p:spPr>
          <a:xfrm>
            <a:off x="3540621" y="5836741"/>
            <a:ext cx="46286" cy="46286"/>
          </a:xfrm>
          <a:prstGeom prst="roundRect">
            <a:avLst>
              <a:gd name="adj" fmla="val 41157"/>
            </a:avLst>
          </a:prstGeom>
          <a:solidFill>
            <a:srgbClr val="0A111F"/>
          </a:solidFill>
          <a:ln/>
        </p:spPr>
      </p:sp>
      <p:sp>
        <p:nvSpPr>
          <p:cNvPr id="52" name="Shape 47"/>
          <p:cNvSpPr/>
          <p:nvPr/>
        </p:nvSpPr>
        <p:spPr>
          <a:xfrm>
            <a:off x="3391049" y="5836741"/>
            <a:ext cx="46137" cy="46286"/>
          </a:xfrm>
          <a:prstGeom prst="roundRect">
            <a:avLst>
              <a:gd name="adj" fmla="val 41290"/>
            </a:avLst>
          </a:prstGeom>
          <a:solidFill>
            <a:srgbClr val="0A111F"/>
          </a:solidFill>
          <a:ln/>
        </p:spPr>
      </p:sp>
      <p:sp>
        <p:nvSpPr>
          <p:cNvPr id="53" name="Shape 48"/>
          <p:cNvSpPr/>
          <p:nvPr/>
        </p:nvSpPr>
        <p:spPr>
          <a:xfrm>
            <a:off x="3840063" y="5911602"/>
            <a:ext cx="46137" cy="46137"/>
          </a:xfrm>
          <a:prstGeom prst="roundRect">
            <a:avLst>
              <a:gd name="adj" fmla="val 41290"/>
            </a:avLst>
          </a:prstGeom>
          <a:solidFill>
            <a:srgbClr val="0A111F"/>
          </a:solidFill>
          <a:ln/>
        </p:spPr>
      </p:sp>
      <p:sp>
        <p:nvSpPr>
          <p:cNvPr id="54" name="Shape 49"/>
          <p:cNvSpPr/>
          <p:nvPr/>
        </p:nvSpPr>
        <p:spPr>
          <a:xfrm>
            <a:off x="3690342" y="5911602"/>
            <a:ext cx="46286" cy="46137"/>
          </a:xfrm>
          <a:prstGeom prst="roundRect">
            <a:avLst>
              <a:gd name="adj" fmla="val 41290"/>
            </a:avLst>
          </a:prstGeom>
          <a:solidFill>
            <a:srgbClr val="0A111F"/>
          </a:solidFill>
          <a:ln/>
        </p:spPr>
      </p:sp>
      <p:sp>
        <p:nvSpPr>
          <p:cNvPr id="55" name="Shape 50"/>
          <p:cNvSpPr/>
          <p:nvPr/>
        </p:nvSpPr>
        <p:spPr>
          <a:xfrm>
            <a:off x="3615482" y="5911602"/>
            <a:ext cx="46286" cy="46137"/>
          </a:xfrm>
          <a:prstGeom prst="roundRect">
            <a:avLst>
              <a:gd name="adj" fmla="val 41290"/>
            </a:avLst>
          </a:prstGeom>
          <a:solidFill>
            <a:srgbClr val="0A111F"/>
          </a:solidFill>
          <a:ln/>
        </p:spPr>
      </p:sp>
      <p:sp>
        <p:nvSpPr>
          <p:cNvPr id="56" name="Shape 51"/>
          <p:cNvSpPr/>
          <p:nvPr/>
        </p:nvSpPr>
        <p:spPr>
          <a:xfrm>
            <a:off x="3465761" y="5911602"/>
            <a:ext cx="46286" cy="46137"/>
          </a:xfrm>
          <a:prstGeom prst="roundRect">
            <a:avLst>
              <a:gd name="adj" fmla="val 41290"/>
            </a:avLst>
          </a:prstGeom>
          <a:solidFill>
            <a:srgbClr val="0A111F"/>
          </a:solidFill>
          <a:ln/>
        </p:spPr>
      </p:sp>
      <p:sp>
        <p:nvSpPr>
          <p:cNvPr id="57" name="Shape 52"/>
          <p:cNvSpPr/>
          <p:nvPr/>
        </p:nvSpPr>
        <p:spPr>
          <a:xfrm>
            <a:off x="3391049" y="5911602"/>
            <a:ext cx="46137" cy="46137"/>
          </a:xfrm>
          <a:prstGeom prst="roundRect">
            <a:avLst>
              <a:gd name="adj" fmla="val 41290"/>
            </a:avLst>
          </a:prstGeom>
          <a:solidFill>
            <a:srgbClr val="0A111F"/>
          </a:solidFill>
          <a:ln/>
        </p:spPr>
      </p:sp>
      <p:sp>
        <p:nvSpPr>
          <p:cNvPr id="58" name="Shape 53"/>
          <p:cNvSpPr/>
          <p:nvPr/>
        </p:nvSpPr>
        <p:spPr>
          <a:xfrm>
            <a:off x="1047750" y="7277100"/>
            <a:ext cx="5181600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59" name="Text 54"/>
          <p:cNvSpPr/>
          <p:nvPr/>
        </p:nvSpPr>
        <p:spPr>
          <a:xfrm>
            <a:off x="1295400" y="7458075"/>
            <a:ext cx="51549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مظروف البطاقة وبطاقة التفعيل</a:t>
            </a:r>
            <a:endParaRPr lang="en-US" sz="1875" dirty="0"/>
          </a:p>
        </p:txBody>
      </p:sp>
      <p:sp>
        <p:nvSpPr>
          <p:cNvPr id="60" name="Text 55"/>
          <p:cNvSpPr/>
          <p:nvPr/>
        </p:nvSpPr>
        <p:spPr>
          <a:xfrm>
            <a:off x="1295400" y="7858125"/>
            <a:ext cx="51549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333"/>
              </a:lnSpc>
              <a:buNone/>
            </a:pPr>
            <a:r>
              <a:rPr lang="en-US" sz="18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رمز QR يبدأ رحلة توثيق السجلّ.</a:t>
            </a:r>
            <a:endParaRPr lang="en-US" sz="1800" dirty="0"/>
          </a:p>
        </p:txBody>
      </p:sp>
      <p:sp>
        <p:nvSpPr>
          <p:cNvPr id="61" name="Text 56"/>
          <p:cNvSpPr/>
          <p:nvPr/>
        </p:nvSpPr>
        <p:spPr>
          <a:xfrm>
            <a:off x="1047750" y="8629650"/>
            <a:ext cx="166782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تغليفٌ لخدمة توثيقٍ رقمي فاخرة — لا يوحي بأن بروفاتو تصنع الساعات أو تبيعها.</a:t>
            </a:r>
            <a:endParaRPr lang="en-US" sz="1894" dirty="0"/>
          </a:p>
        </p:txBody>
      </p:sp>
      <p:sp>
        <p:nvSpPr>
          <p:cNvPr id="62" name="Text 57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53 / 84</a:t>
            </a:r>
            <a:endParaRPr lang="en-US" sz="1800" dirty="0"/>
          </a:p>
        </p:txBody>
      </p:sp>
      <p:sp>
        <p:nvSpPr>
          <p:cNvPr id="63" name="Text 58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EVENTS &amp; ENVIRONMENT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الفعاليات والبيئة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545663" y="2752725"/>
            <a:ext cx="6694587" cy="6276975"/>
          </a:xfrm>
          <a:prstGeom prst="roundRect">
            <a:avLst>
              <a:gd name="adj" fmla="val 24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45663" y="2752725"/>
            <a:ext cx="6694587" cy="5572125"/>
          </a:xfrm>
          <a:prstGeom prst="rect">
            <a:avLst/>
          </a:prstGeom>
          <a:gradFill rotWithShape="1">
            <a:gsLst>
              <a:gs pos="0">
                <a:srgbClr val="16233C">
                  <a:alpha val="100000"/>
                </a:srgbClr>
              </a:gs>
              <a:gs pos="100000">
                <a:srgbClr val="0A111F">
                  <a:alpha val="100000"/>
                </a:srgbClr>
              </a:gs>
            </a:gsLst>
            <a:lin ang="4200000" scaled="0"/>
          </a:gra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02663" y="5467350"/>
            <a:ext cx="4000500" cy="40005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2332" y="4381500"/>
            <a:ext cx="2381250" cy="11906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536314" y="5819775"/>
            <a:ext cx="2713286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50" dirty="0">
                <a:solidFill>
                  <a:srgbClr val="C7CDD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السجلّ الموثوق خلف الساعة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12295138" y="6505575"/>
            <a:ext cx="35152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312" kern="0" dirty="0">
                <a:solidFill>
                  <a:srgbClr val="D8BF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PROOF · PROVENANCE · TRUST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0545663" y="8324850"/>
            <a:ext cx="6694587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12" name="Text 8"/>
          <p:cNvSpPr/>
          <p:nvPr/>
        </p:nvSpPr>
        <p:spPr>
          <a:xfrm>
            <a:off x="10793313" y="8505825"/>
            <a:ext cx="68192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خلفية الاستقبال · جدار المعرض</a:t>
            </a:r>
            <a:endParaRPr lang="en-US" sz="1875" dirty="0"/>
          </a:p>
        </p:txBody>
      </p:sp>
      <p:sp>
        <p:nvSpPr>
          <p:cNvPr id="13" name="Shape 9"/>
          <p:cNvSpPr/>
          <p:nvPr/>
        </p:nvSpPr>
        <p:spPr>
          <a:xfrm>
            <a:off x="5796707" y="2752725"/>
            <a:ext cx="4463207" cy="6276975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796707" y="2752725"/>
            <a:ext cx="4463207" cy="55721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4009" y="3538538"/>
            <a:ext cx="1428750" cy="4000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23850" dist="114300" dir="5400000">
              <a:srgbClr val="0A111F">
                <a:alpha val="2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3919537"/>
            <a:ext cx="1143000" cy="5715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65814" y="4986338"/>
            <a:ext cx="1125141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3333"/>
              </a:lnSpc>
              <a:buNone/>
            </a:pPr>
            <a:r>
              <a:rPr lang="en-US" sz="19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وثّق ساعتك بثقةٍ وخصوصية</a:t>
            </a:r>
            <a:endParaRPr lang="en-US" sz="1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7818834" y="6738938"/>
            <a:ext cx="419100" cy="4191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796707" y="8324850"/>
            <a:ext cx="4463207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0" name="Text 14"/>
          <p:cNvSpPr/>
          <p:nvPr/>
        </p:nvSpPr>
        <p:spPr>
          <a:xfrm>
            <a:off x="6044357" y="8505825"/>
            <a:ext cx="436469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رول-أب · مكتب التسجيل</a:t>
            </a:r>
            <a:endParaRPr lang="en-US" sz="1875" dirty="0"/>
          </a:p>
        </p:txBody>
      </p:sp>
      <p:sp>
        <p:nvSpPr>
          <p:cNvPr id="21" name="Shape 15"/>
          <p:cNvSpPr/>
          <p:nvPr/>
        </p:nvSpPr>
        <p:spPr>
          <a:xfrm>
            <a:off x="1047750" y="2752725"/>
            <a:ext cx="4463207" cy="6276975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047750" y="2752725"/>
            <a:ext cx="4463207" cy="55721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3" name="Shape 17"/>
          <p:cNvSpPr/>
          <p:nvPr/>
        </p:nvSpPr>
        <p:spPr>
          <a:xfrm>
            <a:off x="2374553" y="4167188"/>
            <a:ext cx="1809750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7503" y="4376738"/>
            <a:ext cx="323850" cy="32385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794992" y="4776788"/>
            <a:ext cx="9690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لقاء المقتنين</a:t>
            </a:r>
            <a:endParaRPr lang="en-US" sz="1425" dirty="0"/>
          </a:p>
        </p:txBody>
      </p:sp>
      <p:sp>
        <p:nvSpPr>
          <p:cNvPr id="26" name="Text 19"/>
          <p:cNvSpPr/>
          <p:nvPr/>
        </p:nvSpPr>
        <p:spPr>
          <a:xfrm>
            <a:off x="2647950" y="5129213"/>
            <a:ext cx="126295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3333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دعوة خاصة · الرياض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2374553" y="5767388"/>
            <a:ext cx="180975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FECE4"/>
            </a:solidFill>
            <a:prstDash val="solid"/>
          </a:ln>
          <a:effectLst>
            <a:outerShdw sx="100000" sy="100000" kx="0" ky="0" algn="bl" rotWithShape="0" blurRad="285750" dist="76200" dir="5400000">
              <a:srgbClr val="0A111F">
                <a:alpha val="14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6628" y="5948363"/>
            <a:ext cx="247650" cy="24765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574578" y="5948363"/>
            <a:ext cx="48116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909"/>
              </a:lnSpc>
              <a:buNone/>
            </a:pPr>
            <a:r>
              <a:rPr lang="en-US" sz="112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STAFF</a:t>
            </a:r>
            <a:endParaRPr lang="en-US" sz="1125" dirty="0"/>
          </a:p>
        </p:txBody>
      </p:sp>
      <p:sp>
        <p:nvSpPr>
          <p:cNvPr id="30" name="Text 22"/>
          <p:cNvSpPr/>
          <p:nvPr/>
        </p:nvSpPr>
        <p:spPr>
          <a:xfrm>
            <a:off x="2574578" y="6253163"/>
            <a:ext cx="15506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زياد الوشمي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2574578" y="6510338"/>
            <a:ext cx="14859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22"/>
              </a:lnSpc>
              <a:buNone/>
            </a:pPr>
            <a:r>
              <a:rPr lang="en-US" sz="105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Team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1047750" y="8324850"/>
            <a:ext cx="4463207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33" name="Text 25"/>
          <p:cNvSpPr/>
          <p:nvPr/>
        </p:nvSpPr>
        <p:spPr>
          <a:xfrm>
            <a:off x="1295400" y="8505825"/>
            <a:ext cx="436469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دعوة · بطاقة تعريف الطاقم</a:t>
            </a:r>
            <a:endParaRPr lang="en-US" sz="1875" dirty="0"/>
          </a:p>
        </p:txBody>
      </p:sp>
      <p:sp>
        <p:nvSpPr>
          <p:cNvPr id="34" name="Text 26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54 / 84</a:t>
            </a:r>
            <a:endParaRPr lang="en-US" sz="1800" dirty="0"/>
          </a:p>
        </p:txBody>
      </p:sp>
      <p:sp>
        <p:nvSpPr>
          <p:cNvPr id="35" name="Text 27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524000" y="5905500"/>
            <a:ext cx="5905500" cy="5905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571500" y="3733800"/>
            <a:ext cx="178117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spc="675" kern="0" dirty="0">
                <a:solidFill>
                  <a:srgbClr val="D8BF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 — Product &amp; Governance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047750" y="4295775"/>
            <a:ext cx="17811750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6300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المنتج والحوكمة</a:t>
            </a:r>
            <a:endParaRPr lang="en-US" sz="6300" dirty="0"/>
          </a:p>
        </p:txBody>
      </p:sp>
      <p:sp>
        <p:nvSpPr>
          <p:cNvPr id="5" name="Text 2"/>
          <p:cNvSpPr/>
          <p:nvPr/>
        </p:nvSpPr>
        <p:spPr>
          <a:xfrm>
            <a:off x="1047750" y="5657850"/>
            <a:ext cx="1667827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467"/>
              </a:lnSpc>
              <a:buNone/>
            </a:pPr>
            <a:r>
              <a:rPr lang="en-US" sz="2424" dirty="0">
                <a:solidFill>
                  <a:srgbClr val="8E97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حالات التطبيق · التصوير والرسم · الصوت والمحتوى · الحوكمة والتسليم</a:t>
            </a:r>
            <a:endParaRPr lang="en-US" sz="2424" dirty="0"/>
          </a:p>
        </p:txBody>
      </p:sp>
      <p:sp>
        <p:nvSpPr>
          <p:cNvPr id="6" name="Text 3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C66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55 / 84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8E97A8">
                    <a:alpha val="6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STATES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حالات الواجهة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011025" y="2752725"/>
            <a:ext cx="2381250" cy="4953000"/>
          </a:xfrm>
          <a:prstGeom prst="roundRect">
            <a:avLst>
              <a:gd name="adj" fmla="val 12000"/>
            </a:avLst>
          </a:prstGeom>
          <a:solidFill>
            <a:srgbClr val="F5F3EF"/>
          </a:solidFill>
          <a:ln w="9525">
            <a:solidFill>
              <a:srgbClr val="E7E2D9"/>
            </a:solidFill>
            <a:prstDash val="solid"/>
          </a:ln>
          <a:effectLst>
            <a:outerShdw sx="100000" sy="100000" kx="0" ky="0" algn="bl" rotWithShape="0" blurRad="285750" dist="95250" dir="5400000">
              <a:srgbClr val="0A111F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230100" y="3009900"/>
            <a:ext cx="3951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9:41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896975" y="3009900"/>
            <a:ext cx="3524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●●●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915900" y="4205288"/>
            <a:ext cx="571500" cy="5715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515210" y="4929188"/>
            <a:ext cx="13728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لا مقتنيات بعد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211050" y="5424488"/>
            <a:ext cx="19812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828"/>
              </a:lnSpc>
              <a:buNone/>
            </a:pPr>
            <a:r>
              <a:rPr lang="en-US" sz="142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ابدأ بتوثيق ساعتك الأولى في سجلٍّ رقمي.</a:t>
            </a:r>
            <a:endParaRPr lang="en-US" sz="1425" dirty="0"/>
          </a:p>
        </p:txBody>
      </p:sp>
      <p:sp>
        <p:nvSpPr>
          <p:cNvPr id="11" name="Shape 8"/>
          <p:cNvSpPr/>
          <p:nvPr/>
        </p:nvSpPr>
        <p:spPr>
          <a:xfrm>
            <a:off x="12549039" y="6148388"/>
            <a:ext cx="1305223" cy="485775"/>
          </a:xfrm>
          <a:prstGeom prst="roundRect">
            <a:avLst>
              <a:gd name="adj" fmla="val 19608"/>
            </a:avLst>
          </a:prstGeom>
          <a:solidFill>
            <a:srgbClr val="12B5B0"/>
          </a:solidFill>
          <a:ln/>
        </p:spPr>
      </p:sp>
      <p:sp>
        <p:nvSpPr>
          <p:cNvPr id="12" name="Text 9"/>
          <p:cNvSpPr/>
          <p:nvPr/>
        </p:nvSpPr>
        <p:spPr>
          <a:xfrm>
            <a:off x="12758589" y="6253162"/>
            <a:ext cx="8861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082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أضف ساعة</a:t>
            </a:r>
            <a:endParaRPr lang="en-US" sz="1425" dirty="0"/>
          </a:p>
        </p:txBody>
      </p:sp>
      <p:sp>
        <p:nvSpPr>
          <p:cNvPr id="13" name="Text 10"/>
          <p:cNvSpPr/>
          <p:nvPr/>
        </p:nvSpPr>
        <p:spPr>
          <a:xfrm>
            <a:off x="11891962" y="7820025"/>
            <a:ext cx="26193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حالة فارغة</a:t>
            </a:r>
            <a:endParaRPr lang="en-US" sz="1575" dirty="0"/>
          </a:p>
        </p:txBody>
      </p:sp>
      <p:sp>
        <p:nvSpPr>
          <p:cNvPr id="14" name="Shape 11"/>
          <p:cNvSpPr/>
          <p:nvPr/>
        </p:nvSpPr>
        <p:spPr>
          <a:xfrm>
            <a:off x="9305925" y="2752725"/>
            <a:ext cx="2381250" cy="4953000"/>
          </a:xfrm>
          <a:prstGeom prst="roundRect">
            <a:avLst>
              <a:gd name="adj" fmla="val 12000"/>
            </a:avLst>
          </a:prstGeom>
          <a:solidFill>
            <a:srgbClr val="F5F3EF"/>
          </a:solidFill>
          <a:ln w="9525">
            <a:solidFill>
              <a:srgbClr val="E7E2D9"/>
            </a:solidFill>
            <a:prstDash val="solid"/>
          </a:ln>
          <a:effectLst>
            <a:outerShdw sx="100000" sy="100000" kx="0" ky="0" algn="bl" rotWithShape="0" blurRad="285750" dist="95250" dir="5400000">
              <a:srgbClr val="0A111F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525000" y="3009900"/>
            <a:ext cx="3951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9:41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191875" y="3009900"/>
            <a:ext cx="3524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●●●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525000" y="3448050"/>
            <a:ext cx="1943100" cy="1143000"/>
          </a:xfrm>
          <a:prstGeom prst="roundRect">
            <a:avLst>
              <a:gd name="adj" fmla="val 6667"/>
            </a:avLst>
          </a:prstGeom>
          <a:gradFill rotWithShape="1">
            <a:gsLst>
              <a:gs pos="0">
                <a:srgbClr val="EDE9E1">
                  <a:alpha val="100000"/>
                </a:srgbClr>
              </a:gs>
              <a:gs pos="50000">
                <a:srgbClr val="F5F3EF">
                  <a:alpha val="100000"/>
                </a:srgbClr>
              </a:gs>
              <a:gs pos="100000">
                <a:srgbClr val="EDE9E1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8" name="Shape 15"/>
          <p:cNvSpPr/>
          <p:nvPr/>
        </p:nvSpPr>
        <p:spPr>
          <a:xfrm>
            <a:off x="10107960" y="4743450"/>
            <a:ext cx="1360140" cy="171450"/>
          </a:xfrm>
          <a:prstGeom prst="roundRect">
            <a:avLst>
              <a:gd name="adj" fmla="val 44444"/>
            </a:avLst>
          </a:prstGeom>
          <a:gradFill rotWithShape="1">
            <a:gsLst>
              <a:gs pos="0">
                <a:srgbClr val="EDE9E1">
                  <a:alpha val="100000"/>
                </a:srgbClr>
              </a:gs>
              <a:gs pos="50000">
                <a:srgbClr val="F5F3EF">
                  <a:alpha val="100000"/>
                </a:srgbClr>
              </a:gs>
              <a:gs pos="100000">
                <a:srgbClr val="EDE9E1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9" name="Shape 16"/>
          <p:cNvSpPr/>
          <p:nvPr/>
        </p:nvSpPr>
        <p:spPr>
          <a:xfrm>
            <a:off x="9719370" y="5067300"/>
            <a:ext cx="1748730" cy="171450"/>
          </a:xfrm>
          <a:prstGeom prst="roundRect">
            <a:avLst>
              <a:gd name="adj" fmla="val 44444"/>
            </a:avLst>
          </a:prstGeom>
          <a:gradFill rotWithShape="1">
            <a:gsLst>
              <a:gs pos="0">
                <a:srgbClr val="EDE9E1">
                  <a:alpha val="100000"/>
                </a:srgbClr>
              </a:gs>
              <a:gs pos="50000">
                <a:srgbClr val="F5F3EF">
                  <a:alpha val="100000"/>
                </a:srgbClr>
              </a:gs>
              <a:gs pos="100000">
                <a:srgbClr val="EDE9E1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0" name="Shape 17"/>
          <p:cNvSpPr/>
          <p:nvPr/>
        </p:nvSpPr>
        <p:spPr>
          <a:xfrm>
            <a:off x="10399514" y="5391150"/>
            <a:ext cx="1068586" cy="171450"/>
          </a:xfrm>
          <a:prstGeom prst="roundRect">
            <a:avLst>
              <a:gd name="adj" fmla="val 44444"/>
            </a:avLst>
          </a:prstGeom>
          <a:gradFill rotWithShape="1">
            <a:gsLst>
              <a:gs pos="0">
                <a:srgbClr val="EDE9E1">
                  <a:alpha val="100000"/>
                </a:srgbClr>
              </a:gs>
              <a:gs pos="50000">
                <a:srgbClr val="F5F3EF">
                  <a:alpha val="100000"/>
                </a:srgbClr>
              </a:gs>
              <a:gs pos="100000">
                <a:srgbClr val="EDE9E1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1" name="Shape 18"/>
          <p:cNvSpPr/>
          <p:nvPr/>
        </p:nvSpPr>
        <p:spPr>
          <a:xfrm>
            <a:off x="9525000" y="5791200"/>
            <a:ext cx="1943100" cy="571500"/>
          </a:xfrm>
          <a:prstGeom prst="roundRect">
            <a:avLst>
              <a:gd name="adj" fmla="val 13333"/>
            </a:avLst>
          </a:prstGeom>
          <a:gradFill rotWithShape="1">
            <a:gsLst>
              <a:gs pos="0">
                <a:srgbClr val="EDE9E1">
                  <a:alpha val="100000"/>
                </a:srgbClr>
              </a:gs>
              <a:gs pos="50000">
                <a:srgbClr val="F5F3EF">
                  <a:alpha val="100000"/>
                </a:srgbClr>
              </a:gs>
              <a:gs pos="100000">
                <a:srgbClr val="EDE9E1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2" name="Text 19"/>
          <p:cNvSpPr/>
          <p:nvPr/>
        </p:nvSpPr>
        <p:spPr>
          <a:xfrm>
            <a:off x="9186863" y="7820025"/>
            <a:ext cx="26193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حالة تحميل</a:t>
            </a:r>
            <a:endParaRPr lang="en-US" sz="1575" dirty="0"/>
          </a:p>
        </p:txBody>
      </p:sp>
      <p:sp>
        <p:nvSpPr>
          <p:cNvPr id="23" name="Shape 20"/>
          <p:cNvSpPr/>
          <p:nvPr/>
        </p:nvSpPr>
        <p:spPr>
          <a:xfrm>
            <a:off x="6600825" y="2752725"/>
            <a:ext cx="2381250" cy="4953000"/>
          </a:xfrm>
          <a:prstGeom prst="roundRect">
            <a:avLst>
              <a:gd name="adj" fmla="val 12000"/>
            </a:avLst>
          </a:prstGeom>
          <a:solidFill>
            <a:srgbClr val="F5F3EF"/>
          </a:solidFill>
          <a:ln w="9525">
            <a:solidFill>
              <a:srgbClr val="E7E2D9"/>
            </a:solidFill>
            <a:prstDash val="solid"/>
          </a:ln>
          <a:effectLst>
            <a:outerShdw sx="100000" sy="100000" kx="0" ky="0" algn="bl" rotWithShape="0" blurRad="285750" dist="95250" dir="5400000">
              <a:srgbClr val="0A111F">
                <a:alpha val="14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819900" y="3009900"/>
            <a:ext cx="3951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9:41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486775" y="3009900"/>
            <a:ext cx="3524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●●●</a:t>
            </a:r>
            <a:endParaRPr lang="en-US" sz="12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5700" y="4195763"/>
            <a:ext cx="571500" cy="5715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855187" y="4919663"/>
            <a:ext cx="187252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534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تعذّر تحميل السجلّ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6800850" y="5414963"/>
            <a:ext cx="19812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828"/>
              </a:lnSpc>
              <a:buNone/>
            </a:pPr>
            <a:r>
              <a:rPr lang="en-US" sz="142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تحقّق من اتصالك ثم أعد المحاولة.</a:t>
            </a:r>
            <a:endParaRPr lang="en-US" sz="1425" dirty="0"/>
          </a:p>
        </p:txBody>
      </p:sp>
      <p:sp>
        <p:nvSpPr>
          <p:cNvPr id="29" name="Shape 25"/>
          <p:cNvSpPr/>
          <p:nvPr/>
        </p:nvSpPr>
        <p:spPr>
          <a:xfrm>
            <a:off x="7029599" y="6138863"/>
            <a:ext cx="1523851" cy="504825"/>
          </a:xfrm>
          <a:prstGeom prst="roundRect">
            <a:avLst>
              <a:gd name="adj" fmla="val 18868"/>
            </a:avLst>
          </a:prstGeom>
          <a:ln w="9525">
            <a:solidFill>
              <a:srgbClr val="D8D2C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248674" y="6253163"/>
            <a:ext cx="108570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إعادة المحاولة</a:t>
            </a:r>
            <a:endParaRPr lang="en-US" sz="1425" dirty="0"/>
          </a:p>
        </p:txBody>
      </p:sp>
      <p:sp>
        <p:nvSpPr>
          <p:cNvPr id="31" name="Text 27"/>
          <p:cNvSpPr/>
          <p:nvPr/>
        </p:nvSpPr>
        <p:spPr>
          <a:xfrm>
            <a:off x="6481763" y="7820025"/>
            <a:ext cx="26193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حالة خطأ</a:t>
            </a:r>
            <a:endParaRPr lang="en-US" sz="1575" dirty="0"/>
          </a:p>
        </p:txBody>
      </p:sp>
      <p:sp>
        <p:nvSpPr>
          <p:cNvPr id="32" name="Shape 28"/>
          <p:cNvSpPr/>
          <p:nvPr/>
        </p:nvSpPr>
        <p:spPr>
          <a:xfrm>
            <a:off x="3895725" y="2752725"/>
            <a:ext cx="2381250" cy="4953000"/>
          </a:xfrm>
          <a:prstGeom prst="roundRect">
            <a:avLst>
              <a:gd name="adj" fmla="val 12000"/>
            </a:avLst>
          </a:prstGeom>
          <a:solidFill>
            <a:srgbClr val="F5F3EF"/>
          </a:solidFill>
          <a:ln w="9525">
            <a:solidFill>
              <a:srgbClr val="E7E2D9"/>
            </a:solidFill>
            <a:prstDash val="solid"/>
          </a:ln>
          <a:effectLst>
            <a:outerShdw sx="100000" sy="100000" kx="0" ky="0" algn="bl" rotWithShape="0" blurRad="285750" dist="95250" dir="5400000">
              <a:srgbClr val="0A111F">
                <a:alpha val="14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4114800" y="3009900"/>
            <a:ext cx="3951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9:41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5781675" y="3009900"/>
            <a:ext cx="3524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●●●</a:t>
            </a:r>
            <a:endParaRPr lang="en-US" sz="12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3950" y="4319588"/>
            <a:ext cx="628650" cy="628650"/>
          </a:xfrm>
          <a:prstGeom prst="rect">
            <a:avLst/>
          </a:prstGeom>
        </p:spPr>
      </p:pic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10100" y="4471988"/>
            <a:ext cx="323850" cy="32385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4298573" y="5262563"/>
            <a:ext cx="15755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706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تم إنشاء السجلّ</a:t>
            </a:r>
            <a:endParaRPr lang="en-US" sz="1800" dirty="0"/>
          </a:p>
        </p:txBody>
      </p:sp>
      <p:sp>
        <p:nvSpPr>
          <p:cNvPr id="38" name="Text 32"/>
          <p:cNvSpPr/>
          <p:nvPr/>
        </p:nvSpPr>
        <p:spPr>
          <a:xfrm>
            <a:off x="4217863" y="5757863"/>
            <a:ext cx="17369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6667"/>
              </a:lnSpc>
              <a:buNone/>
            </a:pPr>
            <a:r>
              <a:rPr lang="en-US" sz="1425" dirty="0">
                <a:solidFill>
                  <a:srgbClr val="565E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Record #PRV-0482</a:t>
            </a:r>
            <a:endParaRPr lang="en-US" sz="1425" dirty="0"/>
          </a:p>
        </p:txBody>
      </p:sp>
      <p:sp>
        <p:nvSpPr>
          <p:cNvPr id="39" name="Shape 33"/>
          <p:cNvSpPr/>
          <p:nvPr/>
        </p:nvSpPr>
        <p:spPr>
          <a:xfrm>
            <a:off x="4372273" y="6196013"/>
            <a:ext cx="1428304" cy="485775"/>
          </a:xfrm>
          <a:prstGeom prst="roundRect">
            <a:avLst>
              <a:gd name="adj" fmla="val 19608"/>
            </a:avLst>
          </a:prstGeom>
          <a:solidFill>
            <a:srgbClr val="12B5B0"/>
          </a:solidFill>
          <a:ln/>
        </p:spPr>
      </p:sp>
      <p:sp>
        <p:nvSpPr>
          <p:cNvPr id="40" name="Text 34"/>
          <p:cNvSpPr/>
          <p:nvPr/>
        </p:nvSpPr>
        <p:spPr>
          <a:xfrm>
            <a:off x="4581823" y="6300788"/>
            <a:ext cx="10092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082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عرض السجلّ</a:t>
            </a:r>
            <a:endParaRPr lang="en-US" sz="1425" dirty="0"/>
          </a:p>
        </p:txBody>
      </p:sp>
      <p:sp>
        <p:nvSpPr>
          <p:cNvPr id="41" name="Text 35"/>
          <p:cNvSpPr/>
          <p:nvPr/>
        </p:nvSpPr>
        <p:spPr>
          <a:xfrm>
            <a:off x="3776663" y="7820025"/>
            <a:ext cx="26193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حالة نجاح</a:t>
            </a:r>
            <a:endParaRPr lang="en-US" sz="1575" dirty="0"/>
          </a:p>
        </p:txBody>
      </p:sp>
      <p:sp>
        <p:nvSpPr>
          <p:cNvPr id="42" name="Text 36"/>
          <p:cNvSpPr/>
          <p:nvPr/>
        </p:nvSpPr>
        <p:spPr>
          <a:xfrm>
            <a:off x="3506649" y="8629650"/>
            <a:ext cx="1127485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تُطبَّق الحالات نفسها على: التنبيهات · الملف الشخصي · إعدادات الخصوصية · معاينة السجلّ العامة · استقبال النقل وتأكيده.</a:t>
            </a:r>
            <a:endParaRPr lang="en-US" sz="1894" dirty="0"/>
          </a:p>
        </p:txBody>
      </p:sp>
      <p:sp>
        <p:nvSpPr>
          <p:cNvPr id="43" name="Text 37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56 / 84</a:t>
            </a:r>
            <a:endParaRPr lang="en-US" sz="1800" dirty="0"/>
          </a:p>
        </p:txBody>
      </p:sp>
      <p:sp>
        <p:nvSpPr>
          <p:cNvPr id="44" name="Text 38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PHOTOGRAPHY &amp; ILLUSTRATION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اتجاه التصوير والرسم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363575" y="2752725"/>
            <a:ext cx="3876675" cy="4229100"/>
          </a:xfrm>
          <a:prstGeom prst="roundRect">
            <a:avLst>
              <a:gd name="adj" fmla="val 3440"/>
            </a:avLst>
          </a:prstGeom>
          <a:gradFill rotWithShape="1">
            <a:gsLst>
              <a:gs pos="0">
                <a:srgbClr val="3A4658">
                  <a:alpha val="100000"/>
                </a:srgbClr>
              </a:gs>
              <a:gs pos="100000">
                <a:srgbClr val="1B2434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6" name="Shape 4"/>
          <p:cNvSpPr/>
          <p:nvPr/>
        </p:nvSpPr>
        <p:spPr>
          <a:xfrm>
            <a:off x="13363575" y="2752725"/>
            <a:ext cx="3876675" cy="4229100"/>
          </a:xfrm>
          <a:prstGeom prst="rect">
            <a:avLst/>
          </a:prstGeom>
          <a:gradFill rotWithShape="1">
            <a:gsLst>
              <a:gs pos="0">
                <a:srgbClr val="0A111F">
                  <a:alpha val="55000"/>
                </a:srgbClr>
              </a:gs>
              <a:gs pos="60000">
                <a:srgbClr val="0A111F">
                  <a:alpha val="0"/>
                </a:srgbClr>
              </a:gs>
            </a:gsLst>
            <a:lin ang="16200000" scaled="0"/>
          </a:gradFill>
          <a:ln/>
        </p:spPr>
      </p:sp>
      <p:sp>
        <p:nvSpPr>
          <p:cNvPr id="7" name="Text 5"/>
          <p:cNvSpPr/>
          <p:nvPr/>
        </p:nvSpPr>
        <p:spPr>
          <a:xfrm>
            <a:off x="15113794" y="6543675"/>
            <a:ext cx="215050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2000"/>
                  </a:srgbClr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تفاصيل الخامة · لقطة قريبة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258300" y="2752725"/>
            <a:ext cx="3876675" cy="4229100"/>
          </a:xfrm>
          <a:prstGeom prst="roundRect">
            <a:avLst>
              <a:gd name="adj" fmla="val 3440"/>
            </a:avLst>
          </a:prstGeom>
          <a:gradFill rotWithShape="1">
            <a:gsLst>
              <a:gs pos="0">
                <a:srgbClr val="59627A">
                  <a:alpha val="100000"/>
                </a:srgbClr>
              </a:gs>
              <a:gs pos="100000">
                <a:srgbClr val="20293A">
                  <a:alpha val="100000"/>
                </a:srgbClr>
              </a:gs>
            </a:gsLst>
            <a:path path="circle">
              <a:fillToRect l="40000" t="35000" r="60000" b="65000"/>
            </a:path>
          </a:gradFill>
          <a:ln/>
        </p:spPr>
      </p:sp>
      <p:sp>
        <p:nvSpPr>
          <p:cNvPr id="9" name="Shape 7"/>
          <p:cNvSpPr/>
          <p:nvPr/>
        </p:nvSpPr>
        <p:spPr>
          <a:xfrm>
            <a:off x="9258300" y="2752725"/>
            <a:ext cx="3876675" cy="4229100"/>
          </a:xfrm>
          <a:prstGeom prst="rect">
            <a:avLst/>
          </a:prstGeom>
          <a:gradFill rotWithShape="1">
            <a:gsLst>
              <a:gs pos="0">
                <a:srgbClr val="0A111F">
                  <a:alpha val="55000"/>
                </a:srgbClr>
              </a:gs>
              <a:gs pos="60000">
                <a:srgbClr val="0A111F">
                  <a:alpha val="0"/>
                </a:srgbClr>
              </a:gs>
            </a:gsLst>
            <a:lin ang="16200000" scaled="0"/>
          </a:gradFill>
          <a:ln/>
        </p:spPr>
      </p:sp>
      <p:sp>
        <p:nvSpPr>
          <p:cNvPr id="10" name="Text 8"/>
          <p:cNvSpPr/>
          <p:nvPr/>
        </p:nvSpPr>
        <p:spPr>
          <a:xfrm>
            <a:off x="12154942" y="6543675"/>
            <a:ext cx="8847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2000"/>
                  </a:srgbClr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بيئة المقتني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153025" y="2752725"/>
            <a:ext cx="3876675" cy="4229100"/>
          </a:xfrm>
          <a:prstGeom prst="roundRect">
            <a:avLst>
              <a:gd name="adj" fmla="val 3440"/>
            </a:avLst>
          </a:prstGeom>
          <a:gradFill rotWithShape="1">
            <a:gsLst>
              <a:gs pos="0">
                <a:srgbClr val="2C3A3A">
                  <a:alpha val="100000"/>
                </a:srgbClr>
              </a:gs>
              <a:gs pos="100000">
                <a:srgbClr val="16211F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2" name="Shape 10"/>
          <p:cNvSpPr/>
          <p:nvPr/>
        </p:nvSpPr>
        <p:spPr>
          <a:xfrm>
            <a:off x="5153025" y="2752725"/>
            <a:ext cx="3876675" cy="4229100"/>
          </a:xfrm>
          <a:prstGeom prst="rect">
            <a:avLst/>
          </a:prstGeom>
          <a:gradFill rotWithShape="1">
            <a:gsLst>
              <a:gs pos="0">
                <a:srgbClr val="0A111F">
                  <a:alpha val="55000"/>
                </a:srgbClr>
              </a:gs>
              <a:gs pos="60000">
                <a:srgbClr val="0A111F">
                  <a:alpha val="0"/>
                </a:srgbClr>
              </a:gs>
            </a:gsLst>
            <a:lin ang="16200000" scaled="0"/>
          </a:gradFill>
          <a:ln/>
        </p:spPr>
      </p:sp>
      <p:sp>
        <p:nvSpPr>
          <p:cNvPr id="13" name="Text 11"/>
          <p:cNvSpPr/>
          <p:nvPr/>
        </p:nvSpPr>
        <p:spPr>
          <a:xfrm>
            <a:off x="7525941" y="6543675"/>
            <a:ext cx="14655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2000"/>
                  </a:srgbClr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لحظة التوثيق · اليد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47750" y="2752725"/>
            <a:ext cx="3876675" cy="4229100"/>
          </a:xfrm>
          <a:prstGeom prst="roundRect">
            <a:avLst>
              <a:gd name="adj" fmla="val 3440"/>
            </a:avLst>
          </a:prstGeom>
          <a:gradFill rotWithShape="1">
            <a:gsLst>
              <a:gs pos="0">
                <a:srgbClr val="4A4030">
                  <a:alpha val="100000"/>
                </a:srgbClr>
              </a:gs>
              <a:gs pos="100000">
                <a:srgbClr val="241D12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5" name="Shape 13"/>
          <p:cNvSpPr/>
          <p:nvPr/>
        </p:nvSpPr>
        <p:spPr>
          <a:xfrm>
            <a:off x="1047750" y="2752725"/>
            <a:ext cx="3876675" cy="4229100"/>
          </a:xfrm>
          <a:prstGeom prst="rect">
            <a:avLst/>
          </a:prstGeom>
          <a:gradFill rotWithShape="1">
            <a:gsLst>
              <a:gs pos="0">
                <a:srgbClr val="0A111F">
                  <a:alpha val="55000"/>
                </a:srgbClr>
              </a:gs>
              <a:gs pos="60000">
                <a:srgbClr val="0A111F">
                  <a:alpha val="0"/>
                </a:srgbClr>
              </a:gs>
            </a:gsLst>
            <a:lin ang="16200000" scaled="0"/>
          </a:gradFill>
          <a:ln/>
        </p:spPr>
      </p:sp>
      <p:sp>
        <p:nvSpPr>
          <p:cNvPr id="16" name="Text 14"/>
          <p:cNvSpPr/>
          <p:nvPr/>
        </p:nvSpPr>
        <p:spPr>
          <a:xfrm>
            <a:off x="3381524" y="6543675"/>
            <a:ext cx="150859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2000"/>
                  </a:srgbClr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صورٌ أرشيفية مجرّدة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75813" y="7267575"/>
            <a:ext cx="770248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إضاءةٌ هادئة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واتجاهية، وظلالٌ ناعمة — لا وميض صارخ.</a:t>
            </a:r>
            <a:endParaRPr lang="en-US" sz="2197" dirty="0"/>
          </a:p>
        </p:txBody>
      </p:sp>
      <p:sp>
        <p:nvSpPr>
          <p:cNvPr id="18" name="Text 16"/>
          <p:cNvSpPr/>
          <p:nvPr/>
        </p:nvSpPr>
        <p:spPr>
          <a:xfrm>
            <a:off x="9175813" y="7905750"/>
            <a:ext cx="770248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خلفياتٌ محايدة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دافئة أو كحلية، مع مساحةٍ للنص.</a:t>
            </a:r>
            <a:endParaRPr lang="en-US" sz="2197" dirty="0"/>
          </a:p>
        </p:txBody>
      </p:sp>
      <p:sp>
        <p:nvSpPr>
          <p:cNvPr id="19" name="Text 17"/>
          <p:cNvSpPr/>
          <p:nvPr/>
        </p:nvSpPr>
        <p:spPr>
          <a:xfrm>
            <a:off x="9175813" y="8543925"/>
            <a:ext cx="770248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قصٌّ مدروس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يركّز على الخامة واللحظة لا على المنتج كاملاً.</a:t>
            </a:r>
            <a:endParaRPr lang="en-US" sz="2197" dirty="0"/>
          </a:p>
        </p:txBody>
      </p:sp>
      <p:sp>
        <p:nvSpPr>
          <p:cNvPr id="20" name="Text 18"/>
          <p:cNvSpPr/>
          <p:nvPr/>
        </p:nvSpPr>
        <p:spPr>
          <a:xfrm>
            <a:off x="5683746" y="7267575"/>
            <a:ext cx="35129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706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يصحّ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683746" y="7820025"/>
            <a:ext cx="32893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خامات وأجواء ولحظات توثيق أصلية ومحايدة.</a:t>
            </a:r>
            <a:endParaRPr lang="en-US" sz="1894" dirty="0"/>
          </a:p>
        </p:txBody>
      </p:sp>
      <p:sp>
        <p:nvSpPr>
          <p:cNvPr id="22" name="Text 20"/>
          <p:cNvSpPr/>
          <p:nvPr/>
        </p:nvSpPr>
        <p:spPr>
          <a:xfrm>
            <a:off x="1047750" y="7267575"/>
            <a:ext cx="468049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تجنّب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47750" y="7820025"/>
            <a:ext cx="438264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ساعات لعلاماتٍ معروفة أو تصاميم محميّة؛ كل الرسوم أصلية.</a:t>
            </a:r>
            <a:endParaRPr lang="en-US" sz="1894" dirty="0"/>
          </a:p>
        </p:txBody>
      </p:sp>
      <p:sp>
        <p:nvSpPr>
          <p:cNvPr id="24" name="Text 22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57 / 84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BRAND VOICE &amp; CONTENT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الصوت والمحتوى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033349" y="2752725"/>
            <a:ext cx="5206901" cy="6276975"/>
          </a:xfrm>
          <a:prstGeom prst="roundRect">
            <a:avLst>
              <a:gd name="adj" fmla="val 2927"/>
            </a:avLst>
          </a:prstGeom>
          <a:solidFill>
            <a:srgbClr val="EBF6F0"/>
          </a:solidFill>
          <a:ln w="9525">
            <a:solidFill>
              <a:srgbClr val="BFE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66724" y="3086100"/>
            <a:ext cx="499416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E7A5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صياغة معتمدة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1912709" y="3638550"/>
            <a:ext cx="49941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«سجلّ رقمي موثّق لكل ساعة»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912709" y="4095750"/>
            <a:ext cx="49941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«نقل السجلّ الرقمي» </a:t>
            </a:r>
            <a:pPr algn="r" indent="0" marL="0">
              <a:lnSpc>
                <a:spcPct val="103333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إلى مالكٍ جديد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912709" y="4552950"/>
            <a:ext cx="49941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«وثّق ساعتك» </a:t>
            </a:r>
            <a:pPr algn="r" indent="0" marL="0">
              <a:lnSpc>
                <a:spcPct val="103333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· «تابع تاريخها»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912709" y="5010150"/>
            <a:ext cx="49941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«توثيق وجود سجلٍّ داخل بروفاتو»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2230520" y="5467350"/>
            <a:ext cx="467635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Digital Record · Record ID · Issued through Provatto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40550" y="2752725"/>
            <a:ext cx="5207050" cy="6276975"/>
          </a:xfrm>
          <a:prstGeom prst="roundRect">
            <a:avLst>
              <a:gd name="adj" fmla="val 2927"/>
            </a:avLst>
          </a:prstGeom>
          <a:solidFill>
            <a:srgbClr val="FBF4E2"/>
          </a:solidFill>
          <a:ln w="9525">
            <a:solidFill>
              <a:srgbClr val="EAD9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73925" y="3086100"/>
            <a:ext cx="499433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8A641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صياغة بحذر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6419895" y="3638550"/>
            <a:ext cx="49943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«موثّق» </a:t>
            </a:r>
            <a:pPr algn="r" indent="0" marL="0">
              <a:lnSpc>
                <a:spcPct val="103333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تُقرن دائماً بكلمة «سجلّ» لا بالساعة.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19895" y="4095750"/>
            <a:ext cx="49943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«تحقّق» </a:t>
            </a:r>
            <a:pPr algn="r" indent="0" marL="0">
              <a:lnSpc>
                <a:spcPct val="103333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بمعنى مطابقة بياناتٍ، لا إثبات أصالة.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419895" y="4552950"/>
            <a:ext cx="49943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«قيمة» — كبيانٍ يُدخله المالك، لا تقييمٍ رسمي.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419895" y="5010150"/>
            <a:ext cx="49943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ذكر الأسعار — بوصفها بيانات سجلّ لا تسعيراً.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047899" y="2752725"/>
            <a:ext cx="5206901" cy="6276975"/>
          </a:xfrm>
          <a:prstGeom prst="roundRect">
            <a:avLst>
              <a:gd name="adj" fmla="val 2927"/>
            </a:avLst>
          </a:prstGeom>
          <a:solidFill>
            <a:srgbClr val="F8ECEB"/>
          </a:solidFill>
          <a:ln w="9525">
            <a:solidFill>
              <a:srgbClr val="E7C4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81274" y="3086100"/>
            <a:ext cx="499416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A534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صياغة ممنوعة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927259" y="3638550"/>
            <a:ext cx="49941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«مضمون الأصالة» / Certified Authentic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27259" y="4095750"/>
            <a:ext cx="49941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«شهادة ملكية قانونية» / Title Deed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27259" y="4552950"/>
            <a:ext cx="49941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«اعتماد حكومي» / Government Approved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27259" y="5010150"/>
            <a:ext cx="49941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«نقل الملكية القانوني»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27259" y="5467350"/>
            <a:ext cx="49941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«فحص» أو «تقييم مالي» رسمي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58 / 84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GOVERNANCE &amp; LIBRARIES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الحوكمة ومكتبات الأصول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410700" y="2752725"/>
            <a:ext cx="7829550" cy="4352925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484601" y="3114675"/>
            <a:ext cx="14911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مكتبات وقوالب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810750" y="4229100"/>
            <a:ext cx="7029450" cy="9525"/>
          </a:xfrm>
          <a:prstGeom prst="rect">
            <a:avLst/>
          </a:prstGeom>
          <a:solidFill>
            <a:srgbClr val="E7E2D9"/>
          </a:solidFill>
          <a:ln/>
        </p:spPr>
      </p:sp>
      <p:sp>
        <p:nvSpPr>
          <p:cNvPr id="8" name="Text 6"/>
          <p:cNvSpPr/>
          <p:nvPr/>
        </p:nvSpPr>
        <p:spPr>
          <a:xfrm>
            <a:off x="14736663" y="3762375"/>
            <a:ext cx="22719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Figma Library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2668250" y="3771900"/>
            <a:ext cx="20657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UI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848850" y="3762375"/>
            <a:ext cx="289179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الرموز، المكوّنات، الشاشات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810750" y="4857750"/>
            <a:ext cx="7029450" cy="9525"/>
          </a:xfrm>
          <a:prstGeom prst="rect">
            <a:avLst/>
          </a:prstGeom>
          <a:solidFill>
            <a:srgbClr val="E7E2D9"/>
          </a:solidFill>
          <a:ln/>
        </p:spPr>
      </p:sp>
      <p:sp>
        <p:nvSpPr>
          <p:cNvPr id="12" name="Text 10"/>
          <p:cNvSpPr/>
          <p:nvPr/>
        </p:nvSpPr>
        <p:spPr>
          <a:xfrm>
            <a:off x="14736663" y="4391025"/>
            <a:ext cx="22719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PowerPoint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2668250" y="4400550"/>
            <a:ext cx="20657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.pptx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848850" y="4391025"/>
            <a:ext cx="289179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قوالب العروض والأغلفة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810750" y="5486400"/>
            <a:ext cx="7029450" cy="9525"/>
          </a:xfrm>
          <a:prstGeom prst="rect">
            <a:avLst/>
          </a:prstGeom>
          <a:solidFill>
            <a:srgbClr val="E7E2D9"/>
          </a:solidFill>
          <a:ln/>
        </p:spPr>
      </p:sp>
      <p:sp>
        <p:nvSpPr>
          <p:cNvPr id="16" name="Text 14"/>
          <p:cNvSpPr/>
          <p:nvPr/>
        </p:nvSpPr>
        <p:spPr>
          <a:xfrm>
            <a:off x="14736663" y="5019675"/>
            <a:ext cx="22719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Social Templates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12668250" y="5029200"/>
            <a:ext cx="20657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.fig/.png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48850" y="5019675"/>
            <a:ext cx="289179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قوالب المنشورات والقصص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810750" y="6115050"/>
            <a:ext cx="7029450" cy="9525"/>
          </a:xfrm>
          <a:prstGeom prst="rect">
            <a:avLst/>
          </a:prstGeom>
          <a:solidFill>
            <a:srgbClr val="E7E2D9"/>
          </a:solidFill>
          <a:ln/>
        </p:spPr>
      </p:sp>
      <p:sp>
        <p:nvSpPr>
          <p:cNvPr id="20" name="Text 18"/>
          <p:cNvSpPr/>
          <p:nvPr/>
        </p:nvSpPr>
        <p:spPr>
          <a:xfrm>
            <a:off x="14736663" y="5648325"/>
            <a:ext cx="22719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Seal / Card / Doc</a:t>
            </a:r>
            <a:endParaRPr lang="en-US" sz="1725" dirty="0"/>
          </a:p>
        </p:txBody>
      </p:sp>
      <p:sp>
        <p:nvSpPr>
          <p:cNvPr id="21" name="Text 19"/>
          <p:cNvSpPr/>
          <p:nvPr/>
        </p:nvSpPr>
        <p:spPr>
          <a:xfrm>
            <a:off x="12668250" y="5657850"/>
            <a:ext cx="20657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.svg/.pdf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848850" y="5648325"/>
            <a:ext cx="289179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الختم والبطاقة والوثيقة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4736663" y="6276975"/>
            <a:ext cx="22719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Brand Book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12668250" y="6286500"/>
            <a:ext cx="20657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.pdf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848850" y="6276975"/>
            <a:ext cx="289179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هذا الدليل — المرجع المعتمد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047750" y="2752725"/>
            <a:ext cx="861250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2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مسار اعتماد العلامة</a:t>
            </a:r>
            <a:endParaRPr lang="en-US" sz="2424" dirty="0"/>
          </a:p>
        </p:txBody>
      </p:sp>
      <p:sp>
        <p:nvSpPr>
          <p:cNvPr id="27" name="Shape 25"/>
          <p:cNvSpPr/>
          <p:nvPr/>
        </p:nvSpPr>
        <p:spPr>
          <a:xfrm>
            <a:off x="8305800" y="3457575"/>
            <a:ext cx="571500" cy="571500"/>
          </a:xfrm>
          <a:prstGeom prst="ellipse">
            <a:avLst/>
          </a:prstGeom>
          <a:ln w="14288">
            <a:solidFill>
              <a:srgbClr val="C9A86A">
                <a:alpha val="5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81988" y="3471863"/>
            <a:ext cx="61912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755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4182561" y="3419475"/>
            <a:ext cx="38565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الطلب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4427978" y="3848100"/>
            <a:ext cx="361112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يُرفع الأصل الجديد مع سياق استخدامه.</a:t>
            </a:r>
            <a:endParaRPr lang="en-US" sz="1894" dirty="0"/>
          </a:p>
        </p:txBody>
      </p:sp>
      <p:sp>
        <p:nvSpPr>
          <p:cNvPr id="31" name="Shape 29"/>
          <p:cNvSpPr/>
          <p:nvPr/>
        </p:nvSpPr>
        <p:spPr>
          <a:xfrm>
            <a:off x="8305800" y="4514850"/>
            <a:ext cx="571500" cy="571500"/>
          </a:xfrm>
          <a:prstGeom prst="ellipse">
            <a:avLst/>
          </a:prstGeom>
          <a:ln w="14288">
            <a:solidFill>
              <a:srgbClr val="C9A86A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81988" y="4529138"/>
            <a:ext cx="61912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755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4182070" y="4476750"/>
            <a:ext cx="38570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المراجعة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4427518" y="4905375"/>
            <a:ext cx="361158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فحص الالتزام البصري واللغوي والقانوني.</a:t>
            </a:r>
            <a:endParaRPr lang="en-US" sz="1894" dirty="0"/>
          </a:p>
        </p:txBody>
      </p:sp>
      <p:sp>
        <p:nvSpPr>
          <p:cNvPr id="35" name="Shape 33"/>
          <p:cNvSpPr/>
          <p:nvPr/>
        </p:nvSpPr>
        <p:spPr>
          <a:xfrm>
            <a:off x="8305800" y="5572125"/>
            <a:ext cx="571500" cy="571500"/>
          </a:xfrm>
          <a:prstGeom prst="ellipse">
            <a:avLst/>
          </a:prstGeom>
          <a:ln w="14288">
            <a:solidFill>
              <a:srgbClr val="C9A86A">
                <a:alpha val="5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81988" y="5586413"/>
            <a:ext cx="61912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755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4141797" y="5534025"/>
            <a:ext cx="389730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الاعتماد والنشر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4389808" y="5962650"/>
            <a:ext cx="364929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يُضاف إلى المكتبة بتسميةٍ ونسخةٍ موثّقة.</a:t>
            </a:r>
            <a:endParaRPr lang="en-US" sz="1894" dirty="0"/>
          </a:p>
        </p:txBody>
      </p:sp>
      <p:sp>
        <p:nvSpPr>
          <p:cNvPr id="39" name="Text 37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59 / 84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QA CHECKLISTS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قوائم ضبط الجودة والتسليم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006210" y="2752725"/>
            <a:ext cx="13102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جودة العلامة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706749" y="2819400"/>
            <a:ext cx="124226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BRAND QA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7011650" y="332422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12B5B0">
              <a:alpha val="12000"/>
            </a:srgbClr>
          </a:solidFill>
          <a:ln w="14288">
            <a:solidFill>
              <a:srgbClr val="12B5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410430" y="3295650"/>
            <a:ext cx="254407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ألوان ونِسب من النظام الرسمي.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7011650" y="376237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12B5B0">
              <a:alpha val="12000"/>
            </a:srgbClr>
          </a:solidFill>
          <a:ln w="14288">
            <a:solidFill>
              <a:srgbClr val="12B5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241323" y="3733800"/>
            <a:ext cx="271608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الشعار بمساحة أمانٍ وحجمٍ سليم.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7011650" y="420052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12B5B0">
              <a:alpha val="12000"/>
            </a:srgbClr>
          </a:solidFill>
          <a:ln w="14288">
            <a:solidFill>
              <a:srgbClr val="12B5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90597" y="4171950"/>
            <a:ext cx="22639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الذهبي في مقام التوثيق فقط.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7011650" y="463867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12B5B0">
              <a:alpha val="12000"/>
            </a:srgbClr>
          </a:solidFill>
          <a:ln w="14288">
            <a:solidFill>
              <a:srgbClr val="12B5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364329" y="4610100"/>
            <a:ext cx="259017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طباعةٌ بالتدرّج والوزن الصحيحين.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869117" y="2752725"/>
            <a:ext cx="108438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جودة RTL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940302" y="2819400"/>
            <a:ext cx="87153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RTL QA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48700" y="332422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12B5B0">
              <a:alpha val="12000"/>
            </a:srgbClr>
          </a:solidFill>
          <a:ln w="14288">
            <a:solidFill>
              <a:srgbClr val="12B5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55862" y="3295650"/>
            <a:ext cx="253568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العربية تقود والاتجاه RTL سليم.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8648700" y="376237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12B5B0">
              <a:alpha val="12000"/>
            </a:srgbClr>
          </a:solidFill>
          <a:ln w="14288">
            <a:solidFill>
              <a:srgbClr val="12B5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71338" y="3733800"/>
            <a:ext cx="292933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الأرقام لاتينية بخط IBM Plex Sans.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648700" y="420052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12B5B0">
              <a:alpha val="12000"/>
            </a:srgbClr>
          </a:solidFill>
          <a:ln w="14288">
            <a:solidFill>
              <a:srgbClr val="12B5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81788" y="4171950"/>
            <a:ext cx="190976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لا تباعد أحرفٍ في العربية.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8648700" y="463867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12B5B0">
              <a:alpha val="12000"/>
            </a:srgbClr>
          </a:solidFill>
          <a:ln w="14288">
            <a:solidFill>
              <a:srgbClr val="12B5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6600" y="4610100"/>
            <a:ext cx="288271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الأيقونات الاتجاهية منعكسة صحيحاً.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5378169" y="5248275"/>
            <a:ext cx="193828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جودة النصّ القانوني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3453616" y="5314950"/>
            <a:ext cx="197026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LEGAL-COPY QA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7011650" y="581977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12B5B0">
              <a:alpha val="12000"/>
            </a:srgbClr>
          </a:solidFill>
          <a:ln w="14288">
            <a:solidFill>
              <a:srgbClr val="12B5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05445" y="5791200"/>
            <a:ext cx="26500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«توثيق سجلّ» لا «ضمان أصالة».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7011650" y="625792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12B5B0">
              <a:alpha val="12000"/>
            </a:srgbClr>
          </a:solidFill>
          <a:ln w="14288">
            <a:solidFill>
              <a:srgbClr val="12B5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961966" y="6229350"/>
            <a:ext cx="199253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لا ادعاء نقل ملكيةٍ قانوني.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7011650" y="669607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12B5B0">
              <a:alpha val="12000"/>
            </a:srgbClr>
          </a:solidFill>
          <a:ln w="14288">
            <a:solidFill>
              <a:srgbClr val="12B5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337716" y="6667500"/>
            <a:ext cx="261680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لا اعتماد حكومي أو شهادة أصالة.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7011650" y="713422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12B5B0">
              <a:alpha val="12000"/>
            </a:srgbClr>
          </a:solidFill>
          <a:ln w="14288">
            <a:solidFill>
              <a:srgbClr val="12B5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185792" y="7105650"/>
            <a:ext cx="277328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لا أسماء أو تصاميم ساعاتٍ حقيقية.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7380504" y="5248275"/>
            <a:ext cx="15729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تسليم التصميم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6171605" y="5314950"/>
            <a:ext cx="115163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HANDOFF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648700" y="581977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12B5B0">
              <a:alpha val="12000"/>
            </a:srgbClr>
          </a:solidFill>
          <a:ln w="14288">
            <a:solidFill>
              <a:srgbClr val="12B5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17723" y="5791200"/>
            <a:ext cx="257382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الأصول مسمّاة ومصدّرة بصيغها.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8648700" y="625792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12B5B0">
              <a:alpha val="12000"/>
            </a:srgbClr>
          </a:solidFill>
          <a:ln w="14288">
            <a:solidFill>
              <a:srgbClr val="12B5B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62657" y="6229350"/>
            <a:ext cx="273227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الرموز والمكوّنات محدّثة في المكتبة.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8648700" y="669607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12B5B0">
              <a:alpha val="12000"/>
            </a:srgbClr>
          </a:solidFill>
          <a:ln w="14288">
            <a:solidFill>
              <a:srgbClr val="12B5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69139" y="6667500"/>
            <a:ext cx="222241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نسخة الدليل موثّقة (v1.0).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8648700" y="713422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12B5B0">
              <a:alpha val="12000"/>
            </a:srgbClr>
          </a:solidFill>
          <a:ln w="14288">
            <a:solidFill>
              <a:srgbClr val="12B5B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3419" y="7105650"/>
            <a:ext cx="24181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اعتماد العلامة موثّق قبل النشر.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60 / 84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524000" y="5905500"/>
            <a:ext cx="5905500" cy="5905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571500" y="3733800"/>
            <a:ext cx="178117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spc="675" kern="0" dirty="0">
                <a:solidFill>
                  <a:srgbClr val="D8BF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 — Brand Operating System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047750" y="4295775"/>
            <a:ext cx="17811750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6300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نظام تشغيل العلامة</a:t>
            </a:r>
            <a:endParaRPr lang="en-US" sz="6300" dirty="0"/>
          </a:p>
        </p:txBody>
      </p:sp>
      <p:sp>
        <p:nvSpPr>
          <p:cNvPr id="5" name="Text 2"/>
          <p:cNvSpPr/>
          <p:nvPr/>
        </p:nvSpPr>
        <p:spPr>
          <a:xfrm>
            <a:off x="1047750" y="5657850"/>
            <a:ext cx="1667827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467"/>
              </a:lnSpc>
              <a:buNone/>
            </a:pPr>
            <a:r>
              <a:rPr lang="en-US" sz="2424" dirty="0">
                <a:solidFill>
                  <a:srgbClr val="8E97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التميّز · الاستراتيجية الدلالية · الطباعة النهائية · الأيقونات · الرموز · الرحلات · الادعاءات · الحركة · الإطلاق · التسليم</a:t>
            </a:r>
            <a:endParaRPr lang="en-US" sz="2424" dirty="0"/>
          </a:p>
        </p:txBody>
      </p:sp>
      <p:sp>
        <p:nvSpPr>
          <p:cNvPr id="6" name="Text 3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C66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61 / 84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8E97A8">
                    <a:alpha val="6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DISTINCTIVENESS AUDIT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تدقيق تميّز الرمز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857750" y="2752725"/>
            <a:ext cx="12753975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823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الرمز الحالي مبنيّ على هندسة الميناء — وهي شفرةٌ مشتركة في فئة الوقت والساعات. مقارنته بالرموز الشائعة تكشف مواضع التشابه ومساحة التمايز:</a:t>
            </a:r>
            <a:endParaRPr lang="en-US" sz="2197" dirty="0"/>
          </a:p>
        </p:txBody>
      </p:sp>
      <p:sp>
        <p:nvSpPr>
          <p:cNvPr id="6" name="Shape 4"/>
          <p:cNvSpPr/>
          <p:nvPr/>
        </p:nvSpPr>
        <p:spPr>
          <a:xfrm>
            <a:off x="14716125" y="4029075"/>
            <a:ext cx="2524125" cy="1638300"/>
          </a:xfrm>
          <a:prstGeom prst="roundRect">
            <a:avLst>
              <a:gd name="adj" fmla="val 8140"/>
            </a:avLst>
          </a:prstGeom>
          <a:solidFill>
            <a:srgbClr val="0A111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730538" y="4257675"/>
            <a:ext cx="495300" cy="4953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06576" y="4867275"/>
            <a:ext cx="54322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8BF8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بروفاتو الحالي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1982450" y="4029075"/>
            <a:ext cx="2524125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96863" y="4257675"/>
            <a:ext cx="495300" cy="495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763054" y="4867275"/>
            <a:ext cx="9629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ساعة / وقت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248775" y="4029075"/>
            <a:ext cx="2524125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63188" y="4257675"/>
            <a:ext cx="495300" cy="495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955709" y="4867275"/>
            <a:ext cx="111025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منبّه / ساعة يد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515100" y="4029075"/>
            <a:ext cx="2524125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29513" y="4257675"/>
            <a:ext cx="495300" cy="495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52556" y="4867275"/>
            <a:ext cx="84936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ساعة رملية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3781425" y="4029075"/>
            <a:ext cx="2524125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95838" y="4257675"/>
            <a:ext cx="495300" cy="4953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580334" y="4867275"/>
            <a:ext cx="9264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/ دفتر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1047750" y="4029075"/>
            <a:ext cx="2524125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062163" y="4257675"/>
            <a:ext cx="495300" cy="4953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2032397" y="4867275"/>
            <a:ext cx="5549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أرشيف</a:t>
            </a:r>
            <a:endParaRPr lang="en-US" sz="1500" dirty="0"/>
          </a:p>
        </p:txBody>
      </p:sp>
      <p:sp>
        <p:nvSpPr>
          <p:cNvPr id="24" name="Text 16"/>
          <p:cNvSpPr/>
          <p:nvPr/>
        </p:nvSpPr>
        <p:spPr>
          <a:xfrm>
            <a:off x="9175813" y="5991225"/>
            <a:ext cx="770248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القوة: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الهندسة الدقيقة تنقل الدقة والفخامة الهادئة فوراً.</a:t>
            </a:r>
            <a:endParaRPr lang="en-US" sz="2197" dirty="0"/>
          </a:p>
        </p:txBody>
      </p:sp>
      <p:sp>
        <p:nvSpPr>
          <p:cNvPr id="25" name="Text 17"/>
          <p:cNvSpPr/>
          <p:nvPr/>
        </p:nvSpPr>
        <p:spPr>
          <a:xfrm>
            <a:off x="9175813" y="6629400"/>
            <a:ext cx="7702487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الخطر: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دوائر الميناء وعلامات الدقائق شفرةٌ فئوية مكرّرة — قد تُقرأ «ساعة» لا «سجلّ».</a:t>
            </a:r>
            <a:endParaRPr lang="en-US" sz="2197" dirty="0"/>
          </a:p>
        </p:txBody>
      </p:sp>
      <p:sp>
        <p:nvSpPr>
          <p:cNvPr id="26" name="Text 18"/>
          <p:cNvSpPr/>
          <p:nvPr/>
        </p:nvSpPr>
        <p:spPr>
          <a:xfrm>
            <a:off x="812864" y="5991225"/>
            <a:ext cx="770248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الحجم الصغير: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الحلقات الرفيعة تفقد وضوحها دون 32px.</a:t>
            </a:r>
            <a:endParaRPr lang="en-US" sz="2197" dirty="0"/>
          </a:p>
        </p:txBody>
      </p:sp>
      <p:sp>
        <p:nvSpPr>
          <p:cNvPr id="27" name="Text 19"/>
          <p:cNvSpPr/>
          <p:nvPr/>
        </p:nvSpPr>
        <p:spPr>
          <a:xfrm>
            <a:off x="812864" y="6629400"/>
            <a:ext cx="770248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التمايز: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فكرة «السجلّ» و«الأصل» غائبة عن الرمز اليوم.</a:t>
            </a:r>
            <a:endParaRPr lang="en-US" sz="2197" dirty="0"/>
          </a:p>
        </p:txBody>
      </p:sp>
      <p:sp>
        <p:nvSpPr>
          <p:cNvPr id="28" name="Text 20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62 / 84</a:t>
            </a:r>
            <a:endParaRPr lang="en-US" sz="1800" dirty="0"/>
          </a:p>
        </p:txBody>
      </p:sp>
      <p:sp>
        <p:nvSpPr>
          <p:cNvPr id="29" name="Text 21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ALTERNATIVE SYMBOL ROUTES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ثلاثة مسارات مفاهيمية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058650" y="2752725"/>
            <a:ext cx="5181600" cy="4848225"/>
          </a:xfrm>
          <a:prstGeom prst="roundRect">
            <a:avLst>
              <a:gd name="adj" fmla="val 35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058650" y="2752725"/>
            <a:ext cx="5181600" cy="2000250"/>
          </a:xfrm>
          <a:prstGeom prst="rect">
            <a:avLst/>
          </a:prstGeom>
          <a:solidFill>
            <a:srgbClr val="FCFBF8"/>
          </a:solidFill>
          <a:ln/>
        </p:spPr>
      </p:sp>
      <p:sp>
        <p:nvSpPr>
          <p:cNvPr id="7" name="Shape 5"/>
          <p:cNvSpPr/>
          <p:nvPr/>
        </p:nvSpPr>
        <p:spPr>
          <a:xfrm>
            <a:off x="12058650" y="4743450"/>
            <a:ext cx="5181600" cy="9525"/>
          </a:xfrm>
          <a:prstGeom prst="rect">
            <a:avLst/>
          </a:prstGeom>
          <a:solidFill>
            <a:srgbClr val="EFECE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25575" y="3224213"/>
            <a:ext cx="1047750" cy="10477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3390" y="5019675"/>
            <a:ext cx="507111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spc="210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ROUTE A · PROVENANCE LINE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344400" y="5372100"/>
            <a:ext cx="507111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خطّ الأصل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12344400" y="5867400"/>
            <a:ext cx="474840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خطٌّ متّصل تتوسّطه عقدة سجلّ — يجسّد التوثيق والاستمرارية عبر الملّاك.</a:t>
            </a:r>
            <a:endParaRPr lang="en-US" sz="16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706850" y="7072313"/>
            <a:ext cx="247650" cy="2476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47664" y="7058025"/>
            <a:ext cx="21393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قوي عند 16px · مميّز · مبتكر</a:t>
            </a:r>
            <a:endParaRPr lang="en-US" sz="1425" dirty="0"/>
          </a:p>
        </p:txBody>
      </p:sp>
      <p:sp>
        <p:nvSpPr>
          <p:cNvPr id="14" name="Shape 10"/>
          <p:cNvSpPr/>
          <p:nvPr/>
        </p:nvSpPr>
        <p:spPr>
          <a:xfrm>
            <a:off x="6553200" y="2752725"/>
            <a:ext cx="5181600" cy="4848225"/>
          </a:xfrm>
          <a:prstGeom prst="roundRect">
            <a:avLst>
              <a:gd name="adj" fmla="val 35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53200" y="2752725"/>
            <a:ext cx="5181600" cy="2000250"/>
          </a:xfrm>
          <a:prstGeom prst="rect">
            <a:avLst/>
          </a:prstGeom>
          <a:solidFill>
            <a:srgbClr val="FCFBF8"/>
          </a:solidFill>
          <a:ln/>
        </p:spPr>
      </p:sp>
      <p:sp>
        <p:nvSpPr>
          <p:cNvPr id="16" name="Shape 12"/>
          <p:cNvSpPr/>
          <p:nvPr/>
        </p:nvSpPr>
        <p:spPr>
          <a:xfrm>
            <a:off x="6553200" y="4743450"/>
            <a:ext cx="5181600" cy="9525"/>
          </a:xfrm>
          <a:prstGeom prst="rect">
            <a:avLst/>
          </a:prstGeom>
          <a:solidFill>
            <a:srgbClr val="EFECE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20125" y="3224213"/>
            <a:ext cx="1047750" cy="10477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77940" y="5019675"/>
            <a:ext cx="507111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spc="210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ROUTE B · CONTINUITY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838950" y="5372100"/>
            <a:ext cx="507111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حلقة الاستمرارية</a:t>
            </a:r>
            <a:endParaRPr lang="en-US" sz="2025" dirty="0"/>
          </a:p>
        </p:txBody>
      </p:sp>
      <p:sp>
        <p:nvSpPr>
          <p:cNvPr id="20" name="Text 15"/>
          <p:cNvSpPr/>
          <p:nvPr/>
        </p:nvSpPr>
        <p:spPr>
          <a:xfrm>
            <a:off x="6838950" y="5867400"/>
            <a:ext cx="474840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مسارٌ متّصل بلا نهاية يمرّر السجلّ من حلقةٍ إلى أخرى — انتقالٌ دون انقطاع.</a:t>
            </a:r>
            <a:endParaRPr lang="en-US" sz="16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01400" y="7072313"/>
            <a:ext cx="247650" cy="2476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41309" y="7058025"/>
            <a:ext cx="22503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لافت · قابل للحركة · يميّز النقل</a:t>
            </a:r>
            <a:endParaRPr lang="en-US" sz="1425" dirty="0"/>
          </a:p>
        </p:txBody>
      </p:sp>
      <p:sp>
        <p:nvSpPr>
          <p:cNvPr id="23" name="Shape 17"/>
          <p:cNvSpPr/>
          <p:nvPr/>
        </p:nvSpPr>
        <p:spPr>
          <a:xfrm>
            <a:off x="1047750" y="2752725"/>
            <a:ext cx="5181600" cy="4848225"/>
          </a:xfrm>
          <a:prstGeom prst="roundRect">
            <a:avLst>
              <a:gd name="adj" fmla="val 35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047750" y="2752725"/>
            <a:ext cx="5181600" cy="2000250"/>
          </a:xfrm>
          <a:prstGeom prst="rect">
            <a:avLst/>
          </a:prstGeom>
          <a:solidFill>
            <a:srgbClr val="FCFBF8"/>
          </a:solidFill>
          <a:ln/>
        </p:spPr>
      </p:sp>
      <p:sp>
        <p:nvSpPr>
          <p:cNvPr id="25" name="Shape 19"/>
          <p:cNvSpPr/>
          <p:nvPr/>
        </p:nvSpPr>
        <p:spPr>
          <a:xfrm>
            <a:off x="1047750" y="4743450"/>
            <a:ext cx="5181600" cy="9525"/>
          </a:xfrm>
          <a:prstGeom prst="rect">
            <a:avLst/>
          </a:prstGeom>
          <a:solidFill>
            <a:srgbClr val="EFECE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14675" y="3224213"/>
            <a:ext cx="1047750" cy="104775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72490" y="5019675"/>
            <a:ext cx="507111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spc="210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ROUTE C · RECORD APERTURE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333500" y="5372100"/>
            <a:ext cx="507111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فتحة السجلّ</a:t>
            </a:r>
            <a:endParaRPr lang="en-US" sz="2025" dirty="0"/>
          </a:p>
        </p:txBody>
      </p:sp>
      <p:sp>
        <p:nvSpPr>
          <p:cNvPr id="29" name="Text 22"/>
          <p:cNvSpPr/>
          <p:nvPr/>
        </p:nvSpPr>
        <p:spPr>
          <a:xfrm>
            <a:off x="1333500" y="5867400"/>
            <a:ext cx="474840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أطرٌ متداخلة تؤطّر نواةً — استعارة الوثيقة والختم والخصوصية المطبقة طبقةً فوق طبقة.</a:t>
            </a:r>
            <a:endParaRPr lang="en-US" sz="16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95950" y="7072313"/>
            <a:ext cx="247650" cy="24765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471416" y="7058025"/>
            <a:ext cx="23212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ثابت · واضح جداً صغيراً · محايد</a:t>
            </a:r>
            <a:endParaRPr lang="en-US" sz="1425" dirty="0"/>
          </a:p>
        </p:txBody>
      </p:sp>
      <p:sp>
        <p:nvSpPr>
          <p:cNvPr id="32" name="Shape 24"/>
          <p:cNvSpPr/>
          <p:nvPr/>
        </p:nvSpPr>
        <p:spPr>
          <a:xfrm>
            <a:off x="1047750" y="7867650"/>
            <a:ext cx="16192500" cy="1162050"/>
          </a:xfrm>
          <a:prstGeom prst="roundRect">
            <a:avLst>
              <a:gd name="adj" fmla="val 11475"/>
            </a:avLst>
          </a:prstGeom>
          <a:solidFill>
            <a:srgbClr val="EBF6F0"/>
          </a:solidFill>
          <a:ln w="9525">
            <a:solidFill>
              <a:srgbClr val="BFE3D0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14362509" y="8205788"/>
            <a:ext cx="2544366" cy="4857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E3D0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14581584" y="8291513"/>
            <a:ext cx="218254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7A5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التوصية · صقل لا استبدال</a:t>
            </a:r>
            <a:endParaRPr lang="en-US" sz="1650" dirty="0"/>
          </a:p>
        </p:txBody>
      </p:sp>
      <p:sp>
        <p:nvSpPr>
          <p:cNvPr id="35" name="Text 27"/>
          <p:cNvSpPr/>
          <p:nvPr/>
        </p:nvSpPr>
        <p:spPr>
          <a:xfrm>
            <a:off x="1381125" y="8105775"/>
            <a:ext cx="1313536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143"/>
              </a:lnSpc>
              <a:buNone/>
            </a:pPr>
            <a:r>
              <a:rPr lang="en-US" sz="172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يبقى الرمز الحالي </a:t>
            </a:r>
            <a:pPr algn="l" indent="0" marL="0">
              <a:lnSpc>
                <a:spcPct val="105143"/>
              </a:lnSpc>
              <a:buNone/>
            </a:pPr>
            <a:r>
              <a:rPr lang="en-US" sz="172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فقيمته البصرية معتمدة ومكتسِبة للتميّز. نوصي بـ </a:t>
            </a:r>
            <a:pPr algn="l" indent="0" marL="0">
              <a:lnSpc>
                <a:spcPct val="105143"/>
              </a:lnSpc>
              <a:buNone/>
            </a:pPr>
            <a:r>
              <a:rPr lang="en-US" sz="172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صقلٍ محدود </a:t>
            </a:r>
            <a:pPr algn="l" indent="0" marL="0">
              <a:lnSpc>
                <a:spcPct val="105143"/>
              </a:lnSpc>
              <a:buNone/>
            </a:pPr>
            <a:r>
              <a:rPr lang="en-US" sz="172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: تغليظ الحلقة قليلاً للأحجام الصغيرة، ودمج «عقدة السجلّ» من المسار (أ) كإشارةٍ خفيّة تربط الرمز بفكرة السجلّ دون تغيير هويته. المساران (ب) و(ج) يُحفظان كأصولٍ للحركة والأنماط الثانوية.</a:t>
            </a:r>
            <a:endParaRPr lang="en-US" sz="1725" dirty="0"/>
          </a:p>
        </p:txBody>
      </p:sp>
      <p:sp>
        <p:nvSpPr>
          <p:cNvPr id="36" name="Text 28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63 / 84</a:t>
            </a:r>
            <a:endParaRPr lang="en-US" sz="1800" dirty="0"/>
          </a:p>
        </p:txBody>
      </p:sp>
      <p:sp>
        <p:nvSpPr>
          <p:cNvPr id="37" name="Text 29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COMPETITIVE &amp; SEMIOTIC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المشهد التنافسي والحيّز الدلالي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410700" y="2752725"/>
            <a:ext cx="861250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24" b="1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شفرات فئوية مكرّرة — نتجنّبها</a:t>
            </a:r>
            <a:endParaRPr lang="en-US" sz="2424" dirty="0"/>
          </a:p>
        </p:txBody>
      </p:sp>
      <p:sp>
        <p:nvSpPr>
          <p:cNvPr id="6" name="Text 4"/>
          <p:cNvSpPr/>
          <p:nvPr/>
        </p:nvSpPr>
        <p:spPr>
          <a:xfrm>
            <a:off x="9215409" y="3362325"/>
            <a:ext cx="8101041" cy="2381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الأقفال والدروع والبصمات ورموز الأمان المباشرة.</a:t>
            </a:r>
            <a:endParaRPr lang="en-US" sz="2197" dirty="0"/>
          </a:p>
          <a:p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سداسيات البلوكتشين والتروس والدوائر التقنية.</a:t>
            </a:r>
            <a:endParaRPr lang="en-US" sz="2197" dirty="0"/>
          </a:p>
          <a:p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الذهب الفاقع والتدرّجات والبريق المفرط.</a:t>
            </a:r>
            <a:endParaRPr lang="en-US" sz="2197" dirty="0"/>
          </a:p>
          <a:p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وجوه الساعات والتيجان والموازين الحرفية.</a:t>
            </a:r>
            <a:endParaRPr lang="en-US" sz="2197" dirty="0"/>
          </a:p>
        </p:txBody>
      </p:sp>
      <p:sp>
        <p:nvSpPr>
          <p:cNvPr id="7" name="Text 5"/>
          <p:cNvSpPr/>
          <p:nvPr/>
        </p:nvSpPr>
        <p:spPr>
          <a:xfrm>
            <a:off x="9410700" y="5934075"/>
            <a:ext cx="861250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24" b="1" dirty="0">
                <a:solidFill>
                  <a:srgbClr val="0B706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حيّز بروفاتو — نملكه</a:t>
            </a:r>
            <a:endParaRPr lang="en-US" sz="2424" dirty="0"/>
          </a:p>
        </p:txBody>
      </p:sp>
      <p:sp>
        <p:nvSpPr>
          <p:cNvPr id="8" name="Text 6"/>
          <p:cNvSpPr/>
          <p:nvPr/>
        </p:nvSpPr>
        <p:spPr>
          <a:xfrm>
            <a:off x="9175813" y="6543675"/>
            <a:ext cx="770248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بصرياً: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فخامة هادئة، ورقٌ دافئ، وخطٌّ شعري ذهبي بدل الأمان الصارخ.</a:t>
            </a:r>
            <a:endParaRPr lang="en-US" sz="2197" dirty="0"/>
          </a:p>
        </p:txBody>
      </p:sp>
      <p:sp>
        <p:nvSpPr>
          <p:cNvPr id="9" name="Text 7"/>
          <p:cNvSpPr/>
          <p:nvPr/>
        </p:nvSpPr>
        <p:spPr>
          <a:xfrm>
            <a:off x="9175813" y="7162800"/>
            <a:ext cx="770248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لفظياً: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لغة «السجلّ والأصل» التوثيقية، لا «الضمان والأصالة».</a:t>
            </a:r>
            <a:endParaRPr lang="en-US" sz="2197" dirty="0"/>
          </a:p>
        </p:txBody>
      </p:sp>
      <p:sp>
        <p:nvSpPr>
          <p:cNvPr id="10" name="Text 8"/>
          <p:cNvSpPr/>
          <p:nvPr/>
        </p:nvSpPr>
        <p:spPr>
          <a:xfrm>
            <a:off x="1047750" y="2752725"/>
            <a:ext cx="86125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خريطة التموضع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1047750" y="3228975"/>
            <a:ext cx="7829550" cy="5800725"/>
          </a:xfrm>
          <a:prstGeom prst="roundRect">
            <a:avLst>
              <a:gd name="adj" fmla="val 2627"/>
            </a:avLst>
          </a:prstGeom>
          <a:solidFill>
            <a:srgbClr val="FCFBF8"/>
          </a:solidFill>
          <a:ln w="9525">
            <a:solidFill>
              <a:srgbClr val="E7E2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25786" y="6129338"/>
            <a:ext cx="6873478" cy="9525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13" name="Shape 11"/>
          <p:cNvSpPr/>
          <p:nvPr/>
        </p:nvSpPr>
        <p:spPr>
          <a:xfrm>
            <a:off x="4962525" y="3585270"/>
            <a:ext cx="9525" cy="5088136"/>
          </a:xfrm>
          <a:prstGeom prst="rect">
            <a:avLst/>
          </a:prstGeom>
          <a:solidFill>
            <a:srgbClr val="E0DACE"/>
          </a:solidFill>
          <a:ln/>
        </p:spPr>
      </p:sp>
      <p:sp>
        <p:nvSpPr>
          <p:cNvPr id="14" name="Text 12"/>
          <p:cNvSpPr/>
          <p:nvPr/>
        </p:nvSpPr>
        <p:spPr>
          <a:xfrm>
            <a:off x="4819650" y="3353991"/>
            <a:ext cx="3625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مميّز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4626769" y="8628459"/>
            <a:ext cx="7480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فئويّ مكرّر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8305056" y="5991225"/>
            <a:ext cx="5609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صاخب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135261" y="5991225"/>
            <a:ext cx="45452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هادئ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6449318" y="4845695"/>
            <a:ext cx="152400" cy="152400"/>
          </a:xfrm>
          <a:prstGeom prst="ellipse">
            <a:avLst/>
          </a:prstGeom>
          <a:solidFill>
            <a:srgbClr val="828A98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9525" dir="54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74569" y="5055245"/>
            <a:ext cx="978098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تطبيقات أمان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5667821" y="6927056"/>
            <a:ext cx="152400" cy="152400"/>
          </a:xfrm>
          <a:prstGeom prst="ellipse">
            <a:avLst/>
          </a:prstGeom>
          <a:solidFill>
            <a:srgbClr val="828A98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9525" dir="54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24488" y="7136606"/>
            <a:ext cx="715119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فنتك عام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3947964" y="6464498"/>
            <a:ext cx="152400" cy="152400"/>
          </a:xfrm>
          <a:prstGeom prst="ellipse">
            <a:avLst/>
          </a:prstGeom>
          <a:solidFill>
            <a:srgbClr val="828A98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9525" dir="54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501330" y="6674048"/>
            <a:ext cx="1121718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أسواق الساعات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2964656" y="4432102"/>
            <a:ext cx="247650" cy="247650"/>
          </a:xfrm>
          <a:prstGeom prst="ellipse">
            <a:avLst/>
          </a:prstGeom>
          <a:solidFill>
            <a:srgbClr val="12B5B0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9525" dir="54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811661" y="4736902"/>
            <a:ext cx="629692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بروفاتو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64 / 84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DISTINCTIVE ASSETS &amp; ARCHITECTURE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الأصول المميّزة وهندسة العلامة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410700" y="2752725"/>
            <a:ext cx="861250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2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أصولٌ يجب أن تثبت للتعرّف</a:t>
            </a:r>
            <a:endParaRPr lang="en-US" sz="2424" dirty="0"/>
          </a:p>
        </p:txBody>
      </p:sp>
      <p:sp>
        <p:nvSpPr>
          <p:cNvPr id="6" name="Shape 4"/>
          <p:cNvSpPr/>
          <p:nvPr/>
        </p:nvSpPr>
        <p:spPr>
          <a:xfrm>
            <a:off x="14795599" y="3419475"/>
            <a:ext cx="2444651" cy="9525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4551134" y="3619500"/>
            <a:ext cx="26891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24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WORDMARK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795599" y="4038600"/>
            <a:ext cx="268911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22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Prova</a:t>
            </a:r>
            <a:pPr algn="l" indent="0" marL="0">
              <a:lnSpc>
                <a:spcPct val="86667"/>
              </a:lnSpc>
              <a:buNone/>
            </a:pPr>
            <a:r>
              <a:rPr lang="en-US" sz="2250" b="1" dirty="0">
                <a:solidFill>
                  <a:srgbClr val="12B5B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tto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4795599" y="4524375"/>
            <a:ext cx="252085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تقسيم اللون الثابت في الكلمة.</a:t>
            </a:r>
            <a:endParaRPr lang="en-US" sz="1894" dirty="0"/>
          </a:p>
        </p:txBody>
      </p:sp>
      <p:sp>
        <p:nvSpPr>
          <p:cNvPr id="10" name="Shape 8"/>
          <p:cNvSpPr/>
          <p:nvPr/>
        </p:nvSpPr>
        <p:spPr>
          <a:xfrm>
            <a:off x="12103150" y="3419475"/>
            <a:ext cx="2444800" cy="9525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858670" y="3619500"/>
            <a:ext cx="26892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24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RECORD SEAL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03150" y="4038600"/>
            <a:ext cx="26892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22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الختم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103150" y="4524375"/>
            <a:ext cx="25210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الحلقة الذهبية ونصّها المقوّس.</a:t>
            </a:r>
            <a:endParaRPr lang="en-US" sz="1894" dirty="0"/>
          </a:p>
        </p:txBody>
      </p:sp>
      <p:sp>
        <p:nvSpPr>
          <p:cNvPr id="14" name="Shape 12"/>
          <p:cNvSpPr/>
          <p:nvPr/>
        </p:nvSpPr>
        <p:spPr>
          <a:xfrm>
            <a:off x="9410700" y="3419475"/>
            <a:ext cx="2444800" cy="9525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166220" y="3619500"/>
            <a:ext cx="26892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24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GOLD HAIRLINE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410700" y="4038600"/>
            <a:ext cx="26892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22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الخطّ الشعري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410700" y="4524375"/>
            <a:ext cx="25210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الإطار الوثائقي بسماكة 1px.</a:t>
            </a:r>
            <a:endParaRPr lang="en-US" sz="1894" dirty="0"/>
          </a:p>
        </p:txBody>
      </p:sp>
      <p:sp>
        <p:nvSpPr>
          <p:cNvPr id="18" name="Shape 16"/>
          <p:cNvSpPr/>
          <p:nvPr/>
        </p:nvSpPr>
        <p:spPr>
          <a:xfrm>
            <a:off x="14795599" y="5572125"/>
            <a:ext cx="2444651" cy="9525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4551134" y="5772150"/>
            <a:ext cx="26891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24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DIAL GEOMETRY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795599" y="6191250"/>
            <a:ext cx="268911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22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هندسة الميناء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4795599" y="6677025"/>
            <a:ext cx="252085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الدوائر وعلامات الدقائق.</a:t>
            </a:r>
            <a:endParaRPr lang="en-US" sz="1894" dirty="0"/>
          </a:p>
        </p:txBody>
      </p:sp>
      <p:sp>
        <p:nvSpPr>
          <p:cNvPr id="22" name="Shape 20"/>
          <p:cNvSpPr/>
          <p:nvPr/>
        </p:nvSpPr>
        <p:spPr>
          <a:xfrm>
            <a:off x="12103150" y="5572125"/>
            <a:ext cx="2444800" cy="9525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858670" y="5772150"/>
            <a:ext cx="26892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24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TEAL ACTION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103150" y="6191250"/>
            <a:ext cx="26892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22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التركوازي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2103150" y="6677025"/>
            <a:ext cx="25210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لون الفعل الوحيد في الواجهة.</a:t>
            </a:r>
            <a:endParaRPr lang="en-US" sz="1894" dirty="0"/>
          </a:p>
        </p:txBody>
      </p:sp>
      <p:sp>
        <p:nvSpPr>
          <p:cNvPr id="26" name="Shape 24"/>
          <p:cNvSpPr/>
          <p:nvPr/>
        </p:nvSpPr>
        <p:spPr>
          <a:xfrm>
            <a:off x="9410700" y="5572125"/>
            <a:ext cx="2444800" cy="9525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166220" y="5772150"/>
            <a:ext cx="26892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24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WARM PAPER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410700" y="6191250"/>
            <a:ext cx="26892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22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الورق الدافئ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9410700" y="6677025"/>
            <a:ext cx="25210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النسق الفاتح بيئةٌ رسمية.</a:t>
            </a:r>
            <a:endParaRPr lang="en-US" sz="1894" dirty="0"/>
          </a:p>
        </p:txBody>
      </p:sp>
      <p:sp>
        <p:nvSpPr>
          <p:cNvPr id="30" name="Text 28"/>
          <p:cNvSpPr/>
          <p:nvPr/>
        </p:nvSpPr>
        <p:spPr>
          <a:xfrm>
            <a:off x="1047750" y="2752725"/>
            <a:ext cx="861250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2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هندسة العلامة وتسمية الميزات</a:t>
            </a:r>
            <a:endParaRPr lang="en-US" sz="2424" dirty="0"/>
          </a:p>
        </p:txBody>
      </p:sp>
      <p:sp>
        <p:nvSpPr>
          <p:cNvPr id="31" name="Shape 29"/>
          <p:cNvSpPr/>
          <p:nvPr/>
        </p:nvSpPr>
        <p:spPr>
          <a:xfrm>
            <a:off x="1047750" y="4257675"/>
            <a:ext cx="7829550" cy="9525"/>
          </a:xfrm>
          <a:prstGeom prst="rect">
            <a:avLst/>
          </a:prstGeom>
          <a:solidFill>
            <a:srgbClr val="E7E2D9"/>
          </a:solidFill>
          <a:ln/>
        </p:spPr>
      </p:sp>
      <p:sp>
        <p:nvSpPr>
          <p:cNvPr id="32" name="Text 30"/>
          <p:cNvSpPr/>
          <p:nvPr/>
        </p:nvSpPr>
        <p:spPr>
          <a:xfrm>
            <a:off x="5551140" y="3514725"/>
            <a:ext cx="361686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المنصّة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85850" y="3533775"/>
            <a:ext cx="440303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اسمٌ واحد يقود كل شيء </a:t>
            </a:r>
            <a:pPr algn="l" indent="0" marL="0">
              <a:buNone/>
            </a:pPr>
            <a:r>
              <a:rPr lang="en-US" sz="150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بروفاتو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47750" y="5276850"/>
            <a:ext cx="7829550" cy="9525"/>
          </a:xfrm>
          <a:prstGeom prst="rect">
            <a:avLst/>
          </a:prstGeom>
          <a:solidFill>
            <a:srgbClr val="E7E2D9"/>
          </a:solidFill>
          <a:ln/>
        </p:spPr>
      </p:sp>
      <p:sp>
        <p:nvSpPr>
          <p:cNvPr id="35" name="Text 33"/>
          <p:cNvSpPr/>
          <p:nvPr/>
        </p:nvSpPr>
        <p:spPr>
          <a:xfrm>
            <a:off x="5551140" y="4533900"/>
            <a:ext cx="361686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الميزات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85850" y="4552950"/>
            <a:ext cx="440303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تُسمّى بأسماء «السجلّ» التوثيقية </a:t>
            </a:r>
            <a:pPr algn="l" indent="0" marL="0">
              <a:buNone/>
            </a:pPr>
            <a:r>
              <a:rPr lang="en-US" sz="150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السجلّ · الخطّ الزمني · نقل السجلّ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47750" y="6029325"/>
            <a:ext cx="7829550" cy="9525"/>
          </a:xfrm>
          <a:prstGeom prst="rect">
            <a:avLst/>
          </a:prstGeom>
          <a:solidFill>
            <a:srgbClr val="E7E2D9"/>
          </a:solidFill>
          <a:ln/>
        </p:spPr>
      </p:sp>
      <p:sp>
        <p:nvSpPr>
          <p:cNvPr id="38" name="Text 36"/>
          <p:cNvSpPr/>
          <p:nvPr/>
        </p:nvSpPr>
        <p:spPr>
          <a:xfrm>
            <a:off x="5551140" y="5553075"/>
            <a:ext cx="361686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المبدأ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85850" y="5572125"/>
            <a:ext cx="440303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اسمٌ وصفيٌّ هادئ، لا صياغة قانونية أو ادعائية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047750" y="7048500"/>
            <a:ext cx="7829550" cy="9525"/>
          </a:xfrm>
          <a:prstGeom prst="rect">
            <a:avLst/>
          </a:prstGeom>
          <a:solidFill>
            <a:srgbClr val="E7E2D9"/>
          </a:solidFill>
          <a:ln/>
        </p:spPr>
      </p:sp>
      <p:sp>
        <p:nvSpPr>
          <p:cNvPr id="41" name="Text 39"/>
          <p:cNvSpPr/>
          <p:nvPr/>
        </p:nvSpPr>
        <p:spPr>
          <a:xfrm>
            <a:off x="5551140" y="6305550"/>
            <a:ext cx="361686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التوسّع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085850" y="6324600"/>
            <a:ext cx="440303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أي ميزةٍ مستقبلية ترث الأسلوب نفسه </a:t>
            </a:r>
            <a:pPr algn="l" indent="0" marL="0">
              <a:buNone/>
            </a:pPr>
            <a:r>
              <a:rPr lang="en-US" sz="150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[Feature] — بروفاتو [الميزة]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047750" y="7286625"/>
            <a:ext cx="7829550" cy="1371600"/>
          </a:xfrm>
          <a:prstGeom prst="roundRect">
            <a:avLst>
              <a:gd name="adj" fmla="val 9722"/>
            </a:avLst>
          </a:prstGeom>
          <a:solidFill>
            <a:srgbClr val="EEEBE4"/>
          </a:solidFill>
          <a:ln w="9525">
            <a:solidFill>
              <a:srgbClr val="C9A86A">
                <a:alpha val="32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00175" y="7543800"/>
            <a:ext cx="735958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838"/>
              </a:lnSpc>
              <a:buNone/>
            </a:pPr>
            <a:r>
              <a:rPr lang="en-US" sz="1894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التسمية تبقى ضمن الحيّز الوثائقي: «سجلّ»، «توثيق»، «أصل» — لا «ضمان» ولا «أصالة» ولا «ملكية قانونية».</a:t>
            </a:r>
            <a:endParaRPr lang="en-US" sz="1894" dirty="0"/>
          </a:p>
        </p:txBody>
      </p:sp>
      <p:sp>
        <p:nvSpPr>
          <p:cNvPr id="45" name="Text 43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65 / 84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FINAL BILINGUAL TYPE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النظام الطباعي النهائي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3858429" y="4205288"/>
            <a:ext cx="372000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رقمي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1525548" y="4376738"/>
            <a:ext cx="231470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1334750" y="5329238"/>
            <a:ext cx="6082665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823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الاقتران البصري: ارتفاع العين العربي يوازن الحروف اللاتينية الكبيرة؛ الوزن Medium/SemiBold للعناوين في اللغتين، مع محاذاةٍ على خطّ الأساس المشترك.</a:t>
            </a:r>
            <a:endParaRPr lang="en-US" sz="2197" dirty="0"/>
          </a:p>
        </p:txBody>
      </p:sp>
      <p:sp>
        <p:nvSpPr>
          <p:cNvPr id="8" name="Shape 6"/>
          <p:cNvSpPr/>
          <p:nvPr/>
        </p:nvSpPr>
        <p:spPr>
          <a:xfrm>
            <a:off x="12644438" y="7024688"/>
            <a:ext cx="4595813" cy="552450"/>
          </a:xfrm>
          <a:prstGeom prst="roundRect">
            <a:avLst>
              <a:gd name="adj" fmla="val 50000"/>
            </a:avLst>
          </a:prstGeom>
          <a:solidFill>
            <a:srgbClr val="C9A86A">
              <a:alpha val="8000"/>
            </a:srgbClr>
          </a:solidFill>
          <a:ln w="9525">
            <a:solidFill>
              <a:srgbClr val="C9A86A">
                <a:alpha val="3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01613" y="7129463"/>
            <a:ext cx="421933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العربية: IBM Plex Sans Arabic (300–700)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724132" y="7024688"/>
            <a:ext cx="2786955" cy="552450"/>
          </a:xfrm>
          <a:prstGeom prst="roundRect">
            <a:avLst>
              <a:gd name="adj" fmla="val 50000"/>
            </a:avLst>
          </a:prstGeom>
          <a:solidFill>
            <a:srgbClr val="C9A86A">
              <a:alpha val="8000"/>
            </a:srgbClr>
          </a:solidFill>
          <a:ln w="9525">
            <a:solidFill>
              <a:srgbClr val="C9A86A">
                <a:alpha val="3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81307" y="7129463"/>
            <a:ext cx="23562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اللاتينية: IBM Plex Sans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3105150"/>
            <a:ext cx="7829550" cy="5572125"/>
          </a:xfrm>
          <a:prstGeom prst="roundRect">
            <a:avLst>
              <a:gd name="adj" fmla="val 27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66850" y="3486150"/>
            <a:ext cx="769048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الترخيص والحوكمة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57110" y="3952875"/>
            <a:ext cx="6839141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IBM Plex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رخصة SIL Open Font: حرّة للتطبيق والطباعة والتضمين.</a:t>
            </a:r>
            <a:endParaRPr lang="en-US" sz="2197" dirty="0"/>
          </a:p>
        </p:txBody>
      </p:sp>
      <p:sp>
        <p:nvSpPr>
          <p:cNvPr id="15" name="Text 13"/>
          <p:cNvSpPr/>
          <p:nvPr/>
        </p:nvSpPr>
        <p:spPr>
          <a:xfrm>
            <a:off x="1257110" y="5076825"/>
            <a:ext cx="6839141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خط DGA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مُوصى به حكومياً؛ يتطلّب مراجعة ترخيصٍ تجاري قبل الاعتماد.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[مراجعة قانونية]</a:t>
            </a:r>
            <a:endParaRPr lang="en-US" sz="2197" dirty="0"/>
          </a:p>
        </p:txBody>
      </p:sp>
      <p:sp>
        <p:nvSpPr>
          <p:cNvPr id="16" name="Text 14"/>
          <p:cNvSpPr/>
          <p:nvPr/>
        </p:nvSpPr>
        <p:spPr>
          <a:xfrm>
            <a:off x="1257110" y="6200775"/>
            <a:ext cx="6839141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القرار الحالي: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IBM Plex Sans Arabic هو الخط المعتمد إلى حين تأكيد ترخيص DGA.</a:t>
            </a:r>
            <a:endParaRPr lang="en-US" sz="2197" dirty="0"/>
          </a:p>
        </p:txBody>
      </p:sp>
      <p:sp>
        <p:nvSpPr>
          <p:cNvPr id="17" name="Text 15"/>
          <p:cNvSpPr/>
          <p:nvPr/>
        </p:nvSpPr>
        <p:spPr>
          <a:xfrm>
            <a:off x="1257110" y="7324725"/>
            <a:ext cx="6839141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الأرقام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بخط IBM Plex Sans اللاتيني دائماً — حتى داخل النص العربي.</a:t>
            </a:r>
            <a:endParaRPr lang="en-US" sz="2197" dirty="0"/>
          </a:p>
        </p:txBody>
      </p:sp>
      <p:sp>
        <p:nvSpPr>
          <p:cNvPr id="18" name="Text 16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66 / 84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 STRESS TEST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الطباعة عبر المنصّات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377863" y="2752725"/>
            <a:ext cx="3862387" cy="2043113"/>
          </a:xfrm>
          <a:prstGeom prst="roundRect">
            <a:avLst>
              <a:gd name="adj" fmla="val 7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377863" y="2752725"/>
            <a:ext cx="3862387" cy="13382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625513" y="2917031"/>
            <a:ext cx="370379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تفاصيل السجلّ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625513" y="3336131"/>
            <a:ext cx="37037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iOS · San-safe fallback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13625513" y="3688556"/>
            <a:ext cx="370379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#PRV-0482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377863" y="4090987"/>
            <a:ext cx="3862387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11" name="Text 9"/>
          <p:cNvSpPr/>
          <p:nvPr/>
        </p:nvSpPr>
        <p:spPr>
          <a:xfrm>
            <a:off x="13625513" y="4271963"/>
            <a:ext cx="370379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iOS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267825" y="2752725"/>
            <a:ext cx="3862387" cy="2043113"/>
          </a:xfrm>
          <a:prstGeom prst="roundRect">
            <a:avLst>
              <a:gd name="adj" fmla="val 7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267825" y="2752725"/>
            <a:ext cx="3862387" cy="13382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515475" y="2917031"/>
            <a:ext cx="370379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تفاصيل السجلّ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15475" y="3336131"/>
            <a:ext cx="37037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Android · Roboto fallback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9515475" y="3688556"/>
            <a:ext cx="370379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SR-88192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267825" y="4090987"/>
            <a:ext cx="3862387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18" name="Text 16"/>
          <p:cNvSpPr/>
          <p:nvPr/>
        </p:nvSpPr>
        <p:spPr>
          <a:xfrm>
            <a:off x="9515475" y="4271963"/>
            <a:ext cx="370379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Android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5157788" y="2752725"/>
            <a:ext cx="3862387" cy="2043113"/>
          </a:xfrm>
          <a:prstGeom prst="roundRect">
            <a:avLst>
              <a:gd name="adj" fmla="val 7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57788" y="2752725"/>
            <a:ext cx="3862387" cy="13382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05438" y="2917031"/>
            <a:ext cx="370379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تفاصيل السجلّ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05438" y="3336131"/>
            <a:ext cx="37037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Web · @font-face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5405438" y="3688556"/>
            <a:ext cx="370379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AB-2104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157788" y="4090987"/>
            <a:ext cx="3862387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5" name="Text 23"/>
          <p:cNvSpPr/>
          <p:nvPr/>
        </p:nvSpPr>
        <p:spPr>
          <a:xfrm>
            <a:off x="5405438" y="4271963"/>
            <a:ext cx="370379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Web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1047750" y="2752725"/>
            <a:ext cx="3862387" cy="2043113"/>
          </a:xfrm>
          <a:prstGeom prst="roundRect">
            <a:avLst>
              <a:gd name="adj" fmla="val 7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47750" y="2752725"/>
            <a:ext cx="3862387" cy="13382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295400" y="2917031"/>
            <a:ext cx="370379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ملخّص السجلّ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95400" y="3336131"/>
            <a:ext cx="37037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PDF · embedded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1295400" y="3688556"/>
            <a:ext cx="370379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v1.0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047750" y="4090987"/>
            <a:ext cx="3862387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32" name="Text 30"/>
          <p:cNvSpPr/>
          <p:nvPr/>
        </p:nvSpPr>
        <p:spPr>
          <a:xfrm>
            <a:off x="1295400" y="4271963"/>
            <a:ext cx="370379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PDF / شهادة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1047750" y="5310188"/>
            <a:ext cx="16192500" cy="3719512"/>
          </a:xfrm>
          <a:prstGeom prst="roundRect">
            <a:avLst>
              <a:gd name="adj" fmla="val 40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428750" y="6215063"/>
            <a:ext cx="15430500" cy="14288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2175197" y="5748338"/>
            <a:ext cx="464595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الحقل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8535457" y="5748338"/>
            <a:ext cx="38716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4825157" y="5748338"/>
            <a:ext cx="387176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المحاذاة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115035" y="5748338"/>
            <a:ext cx="38716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428750" y="6848475"/>
            <a:ext cx="15430500" cy="9525"/>
          </a:xfrm>
          <a:prstGeom prst="rect">
            <a:avLst/>
          </a:prstGeom>
          <a:solidFill>
            <a:srgbClr val="E7E2D9"/>
          </a:solidFill>
          <a:ln/>
        </p:spPr>
      </p:sp>
      <p:sp>
        <p:nvSpPr>
          <p:cNvPr id="40" name="Text 38"/>
          <p:cNvSpPr/>
          <p:nvPr/>
        </p:nvSpPr>
        <p:spPr>
          <a:xfrm>
            <a:off x="12597557" y="6381750"/>
            <a:ext cx="464595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أرقام تسلسلية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8535457" y="6381750"/>
            <a:ext cx="3871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725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SR-88192</a:t>
            </a:r>
            <a:endParaRPr lang="en-US" sz="1725" dirty="0"/>
          </a:p>
        </p:txBody>
      </p:sp>
      <p:sp>
        <p:nvSpPr>
          <p:cNvPr id="42" name="Text 40"/>
          <p:cNvSpPr/>
          <p:nvPr/>
        </p:nvSpPr>
        <p:spPr>
          <a:xfrm>
            <a:off x="4825157" y="6391275"/>
            <a:ext cx="387176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LTR داخل RTL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115035" y="6391275"/>
            <a:ext cx="38716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Numeric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428750" y="7477125"/>
            <a:ext cx="15430500" cy="9525"/>
          </a:xfrm>
          <a:prstGeom prst="rect">
            <a:avLst/>
          </a:prstGeom>
          <a:solidFill>
            <a:srgbClr val="E7E2D9"/>
          </a:solidFill>
          <a:ln/>
        </p:spPr>
      </p:sp>
      <p:sp>
        <p:nvSpPr>
          <p:cNvPr id="45" name="Text 43"/>
          <p:cNvSpPr/>
          <p:nvPr/>
        </p:nvSpPr>
        <p:spPr>
          <a:xfrm>
            <a:off x="12597557" y="7010400"/>
            <a:ext cx="464595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التواريخ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8535457" y="7010400"/>
            <a:ext cx="3871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725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Jan 2026</a:t>
            </a:r>
            <a:endParaRPr lang="en-US" sz="1725" dirty="0"/>
          </a:p>
        </p:txBody>
      </p:sp>
      <p:sp>
        <p:nvSpPr>
          <p:cNvPr id="47" name="Text 45"/>
          <p:cNvSpPr/>
          <p:nvPr/>
        </p:nvSpPr>
        <p:spPr>
          <a:xfrm>
            <a:off x="4825157" y="7019925"/>
            <a:ext cx="387176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LTR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115035" y="7019925"/>
            <a:ext cx="38716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Numeric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1428750" y="8105775"/>
            <a:ext cx="15430500" cy="9525"/>
          </a:xfrm>
          <a:prstGeom prst="rect">
            <a:avLst/>
          </a:prstGeom>
          <a:solidFill>
            <a:srgbClr val="E7E2D9"/>
          </a:solidFill>
          <a:ln/>
        </p:spPr>
      </p:sp>
      <p:sp>
        <p:nvSpPr>
          <p:cNvPr id="50" name="Text 48"/>
          <p:cNvSpPr/>
          <p:nvPr/>
        </p:nvSpPr>
        <p:spPr>
          <a:xfrm>
            <a:off x="12597557" y="7639050"/>
            <a:ext cx="464595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العملات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8535457" y="7639050"/>
            <a:ext cx="3871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725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SAR 145,000</a:t>
            </a:r>
            <a:endParaRPr lang="en-US" sz="1725" dirty="0"/>
          </a:p>
        </p:txBody>
      </p:sp>
      <p:sp>
        <p:nvSpPr>
          <p:cNvPr id="52" name="Text 50"/>
          <p:cNvSpPr/>
          <p:nvPr/>
        </p:nvSpPr>
        <p:spPr>
          <a:xfrm>
            <a:off x="4825157" y="7648575"/>
            <a:ext cx="387176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LTR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1115035" y="7648575"/>
            <a:ext cx="38716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Numeric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12597557" y="8267700"/>
            <a:ext cx="464595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الجداول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8535457" y="8267700"/>
            <a:ext cx="3871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725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أعمدة RTL</a:t>
            </a:r>
            <a:endParaRPr lang="en-US" sz="1725" dirty="0"/>
          </a:p>
        </p:txBody>
      </p:sp>
      <p:sp>
        <p:nvSpPr>
          <p:cNvPr id="56" name="Text 54"/>
          <p:cNvSpPr/>
          <p:nvPr/>
        </p:nvSpPr>
        <p:spPr>
          <a:xfrm>
            <a:off x="4825157" y="8277225"/>
            <a:ext cx="387176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أرقام LTR</a:t>
            </a:r>
            <a:endParaRPr lang="en-US" sz="1650" dirty="0"/>
          </a:p>
        </p:txBody>
      </p:sp>
      <p:sp>
        <p:nvSpPr>
          <p:cNvPr id="57" name="Text 55"/>
          <p:cNvSpPr/>
          <p:nvPr/>
        </p:nvSpPr>
        <p:spPr>
          <a:xfrm>
            <a:off x="1115035" y="8277225"/>
            <a:ext cx="38716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Arabic + Num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67 / 84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ICON SYSTEM · CONSTRUCTION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نظام الأيقونات الأصلي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963400" y="4557713"/>
            <a:ext cx="2667000" cy="2667000"/>
          </a:xfrm>
          <a:prstGeom prst="roundRect">
            <a:avLst>
              <a:gd name="adj" fmla="val 4286"/>
            </a:avLst>
          </a:prstGeom>
          <a:solidFill>
            <a:srgbClr val="FCFBF8"/>
          </a:solidFill>
          <a:ln w="9525">
            <a:solidFill>
              <a:srgbClr val="E7E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84707" y="4567238"/>
            <a:ext cx="9525" cy="2647950"/>
          </a:xfrm>
          <a:prstGeom prst="rect">
            <a:avLst/>
          </a:prstGeom>
          <a:solidFill>
            <a:srgbClr val="12B5B0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399568" y="4567238"/>
            <a:ext cx="9525" cy="2647950"/>
          </a:xfrm>
          <a:prstGeom prst="rect">
            <a:avLst/>
          </a:prstGeom>
          <a:solidFill>
            <a:srgbClr val="12B5B0">
              <a:alpha val="1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972925" y="4779020"/>
            <a:ext cx="2647950" cy="9525"/>
          </a:xfrm>
          <a:prstGeom prst="rect">
            <a:avLst/>
          </a:prstGeom>
          <a:solidFill>
            <a:srgbClr val="12B5B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972925" y="6993880"/>
            <a:ext cx="2647950" cy="9525"/>
          </a:xfrm>
          <a:prstGeom prst="rect">
            <a:avLst/>
          </a:prstGeom>
          <a:solidFill>
            <a:srgbClr val="12B5B0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2343507" y="4937820"/>
            <a:ext cx="1906786" cy="1906786"/>
          </a:xfrm>
          <a:prstGeom prst="ellipse">
            <a:avLst/>
          </a:prstGeom>
          <a:ln w="9525">
            <a:solidFill>
              <a:srgbClr val="C9A86A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3507" y="4937820"/>
            <a:ext cx="1906786" cy="1906786"/>
          </a:xfrm>
          <a:prstGeom prst="rect">
            <a:avLst/>
          </a:prstGeom>
          <a:ln w="9525">
            <a:solidFill>
              <a:srgbClr val="C9A86A">
                <a:alpha val="5000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43805" y="4937820"/>
            <a:ext cx="1906488" cy="19064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11149" y="4252913"/>
            <a:ext cx="7761351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شبكة 24×24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بهامش أمانٍ 2px وخطوط مفاتيح دائرية ومربّعة.</a:t>
            </a:r>
            <a:endParaRPr lang="en-US" sz="2197" dirty="0"/>
          </a:p>
        </p:txBody>
      </p:sp>
      <p:sp>
        <p:nvSpPr>
          <p:cNvPr id="14" name="Text 11"/>
          <p:cNvSpPr/>
          <p:nvPr/>
        </p:nvSpPr>
        <p:spPr>
          <a:xfrm>
            <a:off x="811149" y="4948238"/>
            <a:ext cx="7761351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سماكة 1.5px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ثابتة، بأطرافٍ ووصلاتٍ مدوّرة — امتدادٌ للخطّ الشعري.</a:t>
            </a:r>
            <a:endParaRPr lang="en-US" sz="2197" dirty="0"/>
          </a:p>
        </p:txBody>
      </p:sp>
      <p:sp>
        <p:nvSpPr>
          <p:cNvPr id="15" name="Text 12"/>
          <p:cNvSpPr/>
          <p:nvPr/>
        </p:nvSpPr>
        <p:spPr>
          <a:xfrm>
            <a:off x="811149" y="5643563"/>
            <a:ext cx="7761351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انعكاس RTL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تلقائي للأيقونات الاتجاهية (رجوع، نقل، مشاركة، ملاحظة).</a:t>
            </a:r>
            <a:endParaRPr lang="en-US" sz="2197" dirty="0"/>
          </a:p>
        </p:txBody>
      </p:sp>
      <p:sp>
        <p:nvSpPr>
          <p:cNvPr id="16" name="Text 13"/>
          <p:cNvSpPr/>
          <p:nvPr/>
        </p:nvSpPr>
        <p:spPr>
          <a:xfrm>
            <a:off x="811149" y="6338888"/>
            <a:ext cx="7761351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التصدير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بصيغة SVG محسّنة + سبرايت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&lt;symbol id="pv-*"&gt;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2197" dirty="0"/>
          </a:p>
        </p:txBody>
      </p:sp>
      <p:sp>
        <p:nvSpPr>
          <p:cNvPr id="17" name="Text 14"/>
          <p:cNvSpPr/>
          <p:nvPr/>
        </p:nvSpPr>
        <p:spPr>
          <a:xfrm>
            <a:off x="811149" y="7043738"/>
            <a:ext cx="7761351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الوصولية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بمساحة نقرٍ 44px وسماتٍ نصّية بديلة لكل أيقونة.</a:t>
            </a:r>
            <a:endParaRPr lang="en-US" sz="2197" dirty="0"/>
          </a:p>
        </p:txBody>
      </p:sp>
      <p:sp>
        <p:nvSpPr>
          <p:cNvPr id="18" name="Text 15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68 / 84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ICON LIBRARY · 53 ORIGINALS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مكتبة الأيقونات الأصلية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5559683" y="2524125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238041" y="2733675"/>
            <a:ext cx="323850" cy="3238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134159" y="3343275"/>
            <a:ext cx="53161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الرئيسية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3745766" y="2524125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24124" y="2733675"/>
            <a:ext cx="323850" cy="3238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281398" y="3343275"/>
            <a:ext cx="60930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المقتنيات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1931700" y="2524125"/>
            <a:ext cx="1680716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610207" y="2733675"/>
            <a:ext cx="323850" cy="3238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583567" y="3343275"/>
            <a:ext cx="37713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ساعة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10117782" y="2524125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6141" y="2733675"/>
            <a:ext cx="323850" cy="3238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746581" y="3343275"/>
            <a:ext cx="42311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إضافة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303716" y="2524125"/>
            <a:ext cx="1680716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82224" y="2733675"/>
            <a:ext cx="323850" cy="3238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966150" y="3343275"/>
            <a:ext cx="35599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بحث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489799" y="2524125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68158" y="2733675"/>
            <a:ext cx="323850" cy="32385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113389" y="3343275"/>
            <a:ext cx="43338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تصفية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4675733" y="2524125"/>
            <a:ext cx="1680716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354241" y="2733675"/>
            <a:ext cx="323850" cy="32385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250210" y="3343275"/>
            <a:ext cx="53176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إعدادات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2861816" y="2524125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540175" y="2733675"/>
            <a:ext cx="323850" cy="32385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428405" y="3343275"/>
            <a:ext cx="54753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الحساب</a:t>
            </a:r>
            <a:endParaRPr lang="en-US" sz="1200" dirty="0"/>
          </a:p>
        </p:txBody>
      </p:sp>
      <p:sp>
        <p:nvSpPr>
          <p:cNvPr id="29" name="Shape 19"/>
          <p:cNvSpPr/>
          <p:nvPr/>
        </p:nvSpPr>
        <p:spPr>
          <a:xfrm>
            <a:off x="1047750" y="2524125"/>
            <a:ext cx="1680716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726257" y="2733675"/>
            <a:ext cx="323850" cy="32385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597819" y="3343275"/>
            <a:ext cx="58072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التنبيهات</a:t>
            </a:r>
            <a:endParaRPr lang="en-US" sz="1200" dirty="0"/>
          </a:p>
        </p:txBody>
      </p:sp>
      <p:sp>
        <p:nvSpPr>
          <p:cNvPr id="32" name="Shape 21"/>
          <p:cNvSpPr/>
          <p:nvPr/>
        </p:nvSpPr>
        <p:spPr>
          <a:xfrm>
            <a:off x="15559683" y="3676650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6238041" y="3886200"/>
            <a:ext cx="323850" cy="32385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16174641" y="4495800"/>
            <a:ext cx="4508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القائمة</a:t>
            </a:r>
            <a:endParaRPr lang="en-US" sz="1200" dirty="0"/>
          </a:p>
        </p:txBody>
      </p:sp>
      <p:sp>
        <p:nvSpPr>
          <p:cNvPr id="35" name="Shape 23"/>
          <p:cNvSpPr/>
          <p:nvPr/>
        </p:nvSpPr>
        <p:spPr>
          <a:xfrm>
            <a:off x="13745766" y="3676650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4424124" y="3886200"/>
            <a:ext cx="323850" cy="32385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14402842" y="4495800"/>
            <a:ext cx="36656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رجوع</a:t>
            </a:r>
            <a:endParaRPr lang="en-US" sz="1200" dirty="0"/>
          </a:p>
        </p:txBody>
      </p:sp>
      <p:sp>
        <p:nvSpPr>
          <p:cNvPr id="38" name="Shape 25"/>
          <p:cNvSpPr/>
          <p:nvPr/>
        </p:nvSpPr>
        <p:spPr>
          <a:xfrm>
            <a:off x="11931700" y="3676650"/>
            <a:ext cx="1680716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610207" y="3886200"/>
            <a:ext cx="323850" cy="323850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12598301" y="4495800"/>
            <a:ext cx="34766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تقدّم</a:t>
            </a:r>
            <a:endParaRPr lang="en-US" sz="1200" dirty="0"/>
          </a:p>
        </p:txBody>
      </p:sp>
      <p:sp>
        <p:nvSpPr>
          <p:cNvPr id="41" name="Shape 27"/>
          <p:cNvSpPr/>
          <p:nvPr/>
        </p:nvSpPr>
        <p:spPr>
          <a:xfrm>
            <a:off x="10117782" y="3676650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796141" y="3886200"/>
            <a:ext cx="323850" cy="323850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10768905" y="4495800"/>
            <a:ext cx="37847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إغلاق</a:t>
            </a:r>
            <a:endParaRPr lang="en-US" sz="1200" dirty="0"/>
          </a:p>
        </p:txBody>
      </p:sp>
      <p:sp>
        <p:nvSpPr>
          <p:cNvPr id="44" name="Shape 29"/>
          <p:cNvSpPr/>
          <p:nvPr/>
        </p:nvSpPr>
        <p:spPr>
          <a:xfrm>
            <a:off x="8303716" y="3676650"/>
            <a:ext cx="1680716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982224" y="3886200"/>
            <a:ext cx="323850" cy="323850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8937575" y="4495800"/>
            <a:ext cx="41314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المزيد</a:t>
            </a:r>
            <a:endParaRPr lang="en-US" sz="1200" dirty="0"/>
          </a:p>
        </p:txBody>
      </p:sp>
      <p:sp>
        <p:nvSpPr>
          <p:cNvPr id="47" name="Shape 31"/>
          <p:cNvSpPr/>
          <p:nvPr/>
        </p:nvSpPr>
        <p:spPr>
          <a:xfrm>
            <a:off x="6489799" y="3676650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168158" y="3886200"/>
            <a:ext cx="323850" cy="323850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7150001" y="4495800"/>
            <a:ext cx="36016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سهم</a:t>
            </a:r>
            <a:endParaRPr lang="en-US" sz="1200" dirty="0"/>
          </a:p>
        </p:txBody>
      </p:sp>
      <p:sp>
        <p:nvSpPr>
          <p:cNvPr id="50" name="Shape 33"/>
          <p:cNvSpPr/>
          <p:nvPr/>
        </p:nvSpPr>
        <p:spPr>
          <a:xfrm>
            <a:off x="4675733" y="3676650"/>
            <a:ext cx="1680716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51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354241" y="3886200"/>
            <a:ext cx="323850" cy="323850"/>
          </a:xfrm>
          <a:prstGeom prst="rect">
            <a:avLst/>
          </a:prstGeom>
        </p:spPr>
      </p:pic>
      <p:sp>
        <p:nvSpPr>
          <p:cNvPr id="52" name="Text 34"/>
          <p:cNvSpPr/>
          <p:nvPr/>
        </p:nvSpPr>
        <p:spPr>
          <a:xfrm>
            <a:off x="5290393" y="4495800"/>
            <a:ext cx="45139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مستند</a:t>
            </a:r>
            <a:endParaRPr lang="en-US" sz="1200" dirty="0"/>
          </a:p>
        </p:txBody>
      </p:sp>
      <p:sp>
        <p:nvSpPr>
          <p:cNvPr id="53" name="Shape 35"/>
          <p:cNvSpPr/>
          <p:nvPr/>
        </p:nvSpPr>
        <p:spPr>
          <a:xfrm>
            <a:off x="2861816" y="3676650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54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540175" y="3886200"/>
            <a:ext cx="323850" cy="323850"/>
          </a:xfrm>
          <a:prstGeom prst="rect">
            <a:avLst/>
          </a:prstGeom>
        </p:spPr>
      </p:pic>
      <p:sp>
        <p:nvSpPr>
          <p:cNvPr id="55" name="Text 36"/>
          <p:cNvSpPr/>
          <p:nvPr/>
        </p:nvSpPr>
        <p:spPr>
          <a:xfrm>
            <a:off x="3320207" y="4495800"/>
            <a:ext cx="76378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ختم السجلّ</a:t>
            </a:r>
            <a:endParaRPr lang="en-US" sz="1200" dirty="0"/>
          </a:p>
        </p:txBody>
      </p:sp>
      <p:sp>
        <p:nvSpPr>
          <p:cNvPr id="56" name="Shape 37"/>
          <p:cNvSpPr/>
          <p:nvPr/>
        </p:nvSpPr>
        <p:spPr>
          <a:xfrm>
            <a:off x="1047750" y="3676650"/>
            <a:ext cx="1680716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57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726257" y="3886200"/>
            <a:ext cx="323850" cy="323850"/>
          </a:xfrm>
          <a:prstGeom prst="rect">
            <a:avLst/>
          </a:prstGeom>
        </p:spPr>
      </p:pic>
      <p:sp>
        <p:nvSpPr>
          <p:cNvPr id="58" name="Text 38"/>
          <p:cNvSpPr/>
          <p:nvPr/>
        </p:nvSpPr>
        <p:spPr>
          <a:xfrm>
            <a:off x="1517452" y="4495800"/>
            <a:ext cx="74131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 الزمني</a:t>
            </a:r>
            <a:endParaRPr lang="en-US" sz="1200" dirty="0"/>
          </a:p>
        </p:txBody>
      </p:sp>
      <p:sp>
        <p:nvSpPr>
          <p:cNvPr id="59" name="Shape 39"/>
          <p:cNvSpPr/>
          <p:nvPr/>
        </p:nvSpPr>
        <p:spPr>
          <a:xfrm>
            <a:off x="15559683" y="4829175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60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6238041" y="5038725"/>
            <a:ext cx="323850" cy="323850"/>
          </a:xfrm>
          <a:prstGeom prst="rect">
            <a:avLst/>
          </a:prstGeom>
        </p:spPr>
      </p:pic>
      <p:sp>
        <p:nvSpPr>
          <p:cNvPr id="61" name="Text 40"/>
          <p:cNvSpPr/>
          <p:nvPr/>
        </p:nvSpPr>
        <p:spPr>
          <a:xfrm>
            <a:off x="16209169" y="5648325"/>
            <a:ext cx="38174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حدث</a:t>
            </a:r>
            <a:endParaRPr lang="en-US" sz="1200" dirty="0"/>
          </a:p>
        </p:txBody>
      </p:sp>
      <p:sp>
        <p:nvSpPr>
          <p:cNvPr id="62" name="Shape 41"/>
          <p:cNvSpPr/>
          <p:nvPr/>
        </p:nvSpPr>
        <p:spPr>
          <a:xfrm>
            <a:off x="13745766" y="4829175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63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4424124" y="5038725"/>
            <a:ext cx="323850" cy="323850"/>
          </a:xfrm>
          <a:prstGeom prst="rect">
            <a:avLst/>
          </a:prstGeom>
        </p:spPr>
      </p:pic>
      <p:sp>
        <p:nvSpPr>
          <p:cNvPr id="64" name="Text 42"/>
          <p:cNvSpPr/>
          <p:nvPr/>
        </p:nvSpPr>
        <p:spPr>
          <a:xfrm>
            <a:off x="14331107" y="5648325"/>
            <a:ext cx="51003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ملاحظة</a:t>
            </a:r>
            <a:endParaRPr lang="en-US" sz="1200" dirty="0"/>
          </a:p>
        </p:txBody>
      </p:sp>
      <p:sp>
        <p:nvSpPr>
          <p:cNvPr id="65" name="Shape 43"/>
          <p:cNvSpPr/>
          <p:nvPr/>
        </p:nvSpPr>
        <p:spPr>
          <a:xfrm>
            <a:off x="11931700" y="4829175"/>
            <a:ext cx="1680716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66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2610207" y="5038725"/>
            <a:ext cx="323850" cy="323850"/>
          </a:xfrm>
          <a:prstGeom prst="rect">
            <a:avLst/>
          </a:prstGeom>
        </p:spPr>
      </p:pic>
      <p:sp>
        <p:nvSpPr>
          <p:cNvPr id="67" name="Text 44"/>
          <p:cNvSpPr/>
          <p:nvPr/>
        </p:nvSpPr>
        <p:spPr>
          <a:xfrm>
            <a:off x="12569130" y="5648325"/>
            <a:ext cx="40600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صيانة</a:t>
            </a:r>
            <a:endParaRPr lang="en-US" sz="1200" dirty="0"/>
          </a:p>
        </p:txBody>
      </p:sp>
      <p:sp>
        <p:nvSpPr>
          <p:cNvPr id="68" name="Shape 45"/>
          <p:cNvSpPr/>
          <p:nvPr/>
        </p:nvSpPr>
        <p:spPr>
          <a:xfrm>
            <a:off x="10117782" y="4829175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69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0796141" y="5038725"/>
            <a:ext cx="323850" cy="323850"/>
          </a:xfrm>
          <a:prstGeom prst="rect">
            <a:avLst/>
          </a:prstGeom>
        </p:spPr>
      </p:pic>
      <p:sp>
        <p:nvSpPr>
          <p:cNvPr id="70" name="Text 46"/>
          <p:cNvSpPr/>
          <p:nvPr/>
        </p:nvSpPr>
        <p:spPr>
          <a:xfrm>
            <a:off x="10769352" y="5648325"/>
            <a:ext cx="37742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تأمين</a:t>
            </a:r>
            <a:endParaRPr lang="en-US" sz="1200" dirty="0"/>
          </a:p>
        </p:txBody>
      </p:sp>
      <p:sp>
        <p:nvSpPr>
          <p:cNvPr id="71" name="Shape 47"/>
          <p:cNvSpPr/>
          <p:nvPr/>
        </p:nvSpPr>
        <p:spPr>
          <a:xfrm>
            <a:off x="8303716" y="4829175"/>
            <a:ext cx="1680716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72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982224" y="5038725"/>
            <a:ext cx="323850" cy="323850"/>
          </a:xfrm>
          <a:prstGeom prst="rect">
            <a:avLst/>
          </a:prstGeom>
        </p:spPr>
      </p:pic>
      <p:sp>
        <p:nvSpPr>
          <p:cNvPr id="73" name="Text 48"/>
          <p:cNvSpPr/>
          <p:nvPr/>
        </p:nvSpPr>
        <p:spPr>
          <a:xfrm>
            <a:off x="8944719" y="5648325"/>
            <a:ext cx="39885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السعر</a:t>
            </a:r>
            <a:endParaRPr lang="en-US" sz="1200" dirty="0"/>
          </a:p>
        </p:txBody>
      </p:sp>
      <p:sp>
        <p:nvSpPr>
          <p:cNvPr id="74" name="Shape 49"/>
          <p:cNvSpPr/>
          <p:nvPr/>
        </p:nvSpPr>
        <p:spPr>
          <a:xfrm>
            <a:off x="6489799" y="4829175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75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7168158" y="5038725"/>
            <a:ext cx="323850" cy="323850"/>
          </a:xfrm>
          <a:prstGeom prst="rect">
            <a:avLst/>
          </a:prstGeom>
        </p:spPr>
      </p:pic>
      <p:sp>
        <p:nvSpPr>
          <p:cNvPr id="76" name="Text 50"/>
          <p:cNvSpPr/>
          <p:nvPr/>
        </p:nvSpPr>
        <p:spPr>
          <a:xfrm>
            <a:off x="7135416" y="5648325"/>
            <a:ext cx="38933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تقويم</a:t>
            </a:r>
            <a:endParaRPr lang="en-US" sz="1200" dirty="0"/>
          </a:p>
        </p:txBody>
      </p:sp>
      <p:sp>
        <p:nvSpPr>
          <p:cNvPr id="77" name="Shape 51"/>
          <p:cNvSpPr/>
          <p:nvPr/>
        </p:nvSpPr>
        <p:spPr>
          <a:xfrm>
            <a:off x="4675733" y="4829175"/>
            <a:ext cx="1680716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78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5354241" y="5038725"/>
            <a:ext cx="323850" cy="323850"/>
          </a:xfrm>
          <a:prstGeom prst="rect">
            <a:avLst/>
          </a:prstGeom>
        </p:spPr>
      </p:pic>
      <p:sp>
        <p:nvSpPr>
          <p:cNvPr id="79" name="Text 52"/>
          <p:cNvSpPr/>
          <p:nvPr/>
        </p:nvSpPr>
        <p:spPr>
          <a:xfrm>
            <a:off x="5287268" y="5648325"/>
            <a:ext cx="45764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المرجع</a:t>
            </a:r>
            <a:endParaRPr lang="en-US" sz="1200" dirty="0"/>
          </a:p>
        </p:txBody>
      </p:sp>
      <p:sp>
        <p:nvSpPr>
          <p:cNvPr id="80" name="Shape 53"/>
          <p:cNvSpPr/>
          <p:nvPr/>
        </p:nvSpPr>
        <p:spPr>
          <a:xfrm>
            <a:off x="2861816" y="4829175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81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3540175" y="5038725"/>
            <a:ext cx="323850" cy="323850"/>
          </a:xfrm>
          <a:prstGeom prst="rect">
            <a:avLst/>
          </a:prstGeom>
        </p:spPr>
      </p:pic>
      <p:sp>
        <p:nvSpPr>
          <p:cNvPr id="82" name="Text 54"/>
          <p:cNvSpPr/>
          <p:nvPr/>
        </p:nvSpPr>
        <p:spPr>
          <a:xfrm>
            <a:off x="3376761" y="5648325"/>
            <a:ext cx="65067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التسلسلي</a:t>
            </a:r>
            <a:endParaRPr lang="en-US" sz="1200" dirty="0"/>
          </a:p>
        </p:txBody>
      </p:sp>
      <p:sp>
        <p:nvSpPr>
          <p:cNvPr id="83" name="Shape 55"/>
          <p:cNvSpPr/>
          <p:nvPr/>
        </p:nvSpPr>
        <p:spPr>
          <a:xfrm>
            <a:off x="1047750" y="4829175"/>
            <a:ext cx="1680716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84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726257" y="5038725"/>
            <a:ext cx="323850" cy="323850"/>
          </a:xfrm>
          <a:prstGeom prst="rect">
            <a:avLst/>
          </a:prstGeom>
        </p:spPr>
      </p:pic>
      <p:sp>
        <p:nvSpPr>
          <p:cNvPr id="85" name="Text 56"/>
          <p:cNvSpPr/>
          <p:nvPr/>
        </p:nvSpPr>
        <p:spPr>
          <a:xfrm>
            <a:off x="1689497" y="5648325"/>
            <a:ext cx="39722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السنة</a:t>
            </a:r>
            <a:endParaRPr lang="en-US" sz="1200" dirty="0"/>
          </a:p>
        </p:txBody>
      </p:sp>
      <p:sp>
        <p:nvSpPr>
          <p:cNvPr id="86" name="Shape 57"/>
          <p:cNvSpPr/>
          <p:nvPr/>
        </p:nvSpPr>
        <p:spPr>
          <a:xfrm>
            <a:off x="15559683" y="5981700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87" name="Image 27" descr="preencoded.p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16238041" y="6191250"/>
            <a:ext cx="323850" cy="323850"/>
          </a:xfrm>
          <a:prstGeom prst="rect">
            <a:avLst/>
          </a:prstGeom>
        </p:spPr>
      </p:pic>
      <p:sp>
        <p:nvSpPr>
          <p:cNvPr id="88" name="Text 58"/>
          <p:cNvSpPr/>
          <p:nvPr/>
        </p:nvSpPr>
        <p:spPr>
          <a:xfrm>
            <a:off x="16095911" y="6800850"/>
            <a:ext cx="60826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نقل صادر</a:t>
            </a:r>
            <a:endParaRPr lang="en-US" sz="1200" dirty="0"/>
          </a:p>
        </p:txBody>
      </p:sp>
      <p:sp>
        <p:nvSpPr>
          <p:cNvPr id="89" name="Shape 59"/>
          <p:cNvSpPr/>
          <p:nvPr/>
        </p:nvSpPr>
        <p:spPr>
          <a:xfrm>
            <a:off x="13745766" y="5981700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90" name="Image 28" descr="preencoded.png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14424124" y="6191250"/>
            <a:ext cx="323850" cy="323850"/>
          </a:xfrm>
          <a:prstGeom prst="rect">
            <a:avLst/>
          </a:prstGeom>
        </p:spPr>
      </p:pic>
      <p:sp>
        <p:nvSpPr>
          <p:cNvPr id="91" name="Text 60"/>
          <p:cNvSpPr/>
          <p:nvPr/>
        </p:nvSpPr>
        <p:spPr>
          <a:xfrm>
            <a:off x="14315926" y="6800850"/>
            <a:ext cx="5403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نقل وارد</a:t>
            </a:r>
            <a:endParaRPr lang="en-US" sz="1200" dirty="0"/>
          </a:p>
        </p:txBody>
      </p:sp>
      <p:sp>
        <p:nvSpPr>
          <p:cNvPr id="92" name="Shape 61"/>
          <p:cNvSpPr/>
          <p:nvPr/>
        </p:nvSpPr>
        <p:spPr>
          <a:xfrm>
            <a:off x="11931700" y="5981700"/>
            <a:ext cx="1680716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93" name="Image 29" descr="preencoded.png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2610207" y="6191250"/>
            <a:ext cx="323850" cy="323850"/>
          </a:xfrm>
          <a:prstGeom prst="rect">
            <a:avLst/>
          </a:prstGeom>
        </p:spPr>
      </p:pic>
      <p:sp>
        <p:nvSpPr>
          <p:cNvPr id="94" name="Text 62"/>
          <p:cNvSpPr/>
          <p:nvPr/>
        </p:nvSpPr>
        <p:spPr>
          <a:xfrm>
            <a:off x="12591752" y="6800850"/>
            <a:ext cx="36061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قبول</a:t>
            </a:r>
            <a:endParaRPr lang="en-US" sz="1200" dirty="0"/>
          </a:p>
        </p:txBody>
      </p:sp>
      <p:sp>
        <p:nvSpPr>
          <p:cNvPr id="95" name="Shape 63"/>
          <p:cNvSpPr/>
          <p:nvPr/>
        </p:nvSpPr>
        <p:spPr>
          <a:xfrm>
            <a:off x="10117782" y="5981700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96" name="Image 30" descr="preencoded.png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10796141" y="6191250"/>
            <a:ext cx="323850" cy="323850"/>
          </a:xfrm>
          <a:prstGeom prst="rect">
            <a:avLst/>
          </a:prstGeom>
        </p:spPr>
      </p:pic>
      <p:sp>
        <p:nvSpPr>
          <p:cNvPr id="97" name="Text 64"/>
          <p:cNvSpPr/>
          <p:nvPr/>
        </p:nvSpPr>
        <p:spPr>
          <a:xfrm>
            <a:off x="10769798" y="6800850"/>
            <a:ext cx="37668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رفض</a:t>
            </a:r>
            <a:endParaRPr lang="en-US" sz="1200" dirty="0"/>
          </a:p>
        </p:txBody>
      </p:sp>
      <p:sp>
        <p:nvSpPr>
          <p:cNvPr id="98" name="Shape 65"/>
          <p:cNvSpPr/>
          <p:nvPr/>
        </p:nvSpPr>
        <p:spPr>
          <a:xfrm>
            <a:off x="8303716" y="5981700"/>
            <a:ext cx="1680716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99" name="Image 31" descr="preencoded.png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8982224" y="6191250"/>
            <a:ext cx="323850" cy="323850"/>
          </a:xfrm>
          <a:prstGeom prst="rect">
            <a:avLst/>
          </a:prstGeom>
        </p:spPr>
      </p:pic>
      <p:sp>
        <p:nvSpPr>
          <p:cNvPr id="100" name="Text 66"/>
          <p:cNvSpPr/>
          <p:nvPr/>
        </p:nvSpPr>
        <p:spPr>
          <a:xfrm>
            <a:off x="8981777" y="6800850"/>
            <a:ext cx="32459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إلغاء</a:t>
            </a:r>
            <a:endParaRPr lang="en-US" sz="1200" dirty="0"/>
          </a:p>
        </p:txBody>
      </p:sp>
      <p:sp>
        <p:nvSpPr>
          <p:cNvPr id="101" name="Shape 67"/>
          <p:cNvSpPr/>
          <p:nvPr/>
        </p:nvSpPr>
        <p:spPr>
          <a:xfrm>
            <a:off x="6489799" y="5981700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02" name="Image 32" descr="preencoded.png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7168158" y="6191250"/>
            <a:ext cx="323850" cy="323850"/>
          </a:xfrm>
          <a:prstGeom prst="rect">
            <a:avLst/>
          </a:prstGeom>
        </p:spPr>
      </p:pic>
      <p:sp>
        <p:nvSpPr>
          <p:cNvPr id="103" name="Text 68"/>
          <p:cNvSpPr/>
          <p:nvPr/>
        </p:nvSpPr>
        <p:spPr>
          <a:xfrm>
            <a:off x="7171730" y="6800850"/>
            <a:ext cx="3168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منتهٍ</a:t>
            </a:r>
            <a:endParaRPr lang="en-US" sz="1200" dirty="0"/>
          </a:p>
        </p:txBody>
      </p:sp>
      <p:sp>
        <p:nvSpPr>
          <p:cNvPr id="104" name="Shape 69"/>
          <p:cNvSpPr/>
          <p:nvPr/>
        </p:nvSpPr>
        <p:spPr>
          <a:xfrm>
            <a:off x="4675733" y="5981700"/>
            <a:ext cx="1680716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05" name="Image 33" descr="preencoded.png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5354241" y="6191250"/>
            <a:ext cx="323850" cy="323850"/>
          </a:xfrm>
          <a:prstGeom prst="rect">
            <a:avLst/>
          </a:prstGeom>
        </p:spPr>
      </p:pic>
      <p:sp>
        <p:nvSpPr>
          <p:cNvPr id="106" name="Text 70"/>
          <p:cNvSpPr/>
          <p:nvPr/>
        </p:nvSpPr>
        <p:spPr>
          <a:xfrm>
            <a:off x="5168801" y="6800850"/>
            <a:ext cx="69458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قيد الانتظار</a:t>
            </a:r>
            <a:endParaRPr lang="en-US" sz="1200" dirty="0"/>
          </a:p>
        </p:txBody>
      </p:sp>
      <p:sp>
        <p:nvSpPr>
          <p:cNvPr id="107" name="Shape 71"/>
          <p:cNvSpPr/>
          <p:nvPr/>
        </p:nvSpPr>
        <p:spPr>
          <a:xfrm>
            <a:off x="2861816" y="5981700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08" name="Image 34" descr="preencoded.png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540175" y="6191250"/>
            <a:ext cx="323850" cy="323850"/>
          </a:xfrm>
          <a:prstGeom prst="rect">
            <a:avLst/>
          </a:prstGeom>
        </p:spPr>
      </p:pic>
      <p:sp>
        <p:nvSpPr>
          <p:cNvPr id="109" name="Text 72"/>
          <p:cNvSpPr/>
          <p:nvPr/>
        </p:nvSpPr>
        <p:spPr>
          <a:xfrm>
            <a:off x="3461891" y="6800850"/>
            <a:ext cx="4805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مشاركة</a:t>
            </a:r>
            <a:endParaRPr lang="en-US" sz="1200" dirty="0"/>
          </a:p>
        </p:txBody>
      </p:sp>
      <p:sp>
        <p:nvSpPr>
          <p:cNvPr id="110" name="Shape 73"/>
          <p:cNvSpPr/>
          <p:nvPr/>
        </p:nvSpPr>
        <p:spPr>
          <a:xfrm>
            <a:off x="1047750" y="5981700"/>
            <a:ext cx="1680716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11" name="Image 35" descr="preencoded.png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1726257" y="6191250"/>
            <a:ext cx="323850" cy="323850"/>
          </a:xfrm>
          <a:prstGeom prst="rect">
            <a:avLst/>
          </a:prstGeom>
        </p:spPr>
      </p:pic>
      <p:sp>
        <p:nvSpPr>
          <p:cNvPr id="112" name="Text 74"/>
          <p:cNvSpPr/>
          <p:nvPr/>
        </p:nvSpPr>
        <p:spPr>
          <a:xfrm>
            <a:off x="1647974" y="6800850"/>
            <a:ext cx="48026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رمز QR</a:t>
            </a:r>
            <a:endParaRPr lang="en-US" sz="1200" dirty="0"/>
          </a:p>
        </p:txBody>
      </p:sp>
      <p:sp>
        <p:nvSpPr>
          <p:cNvPr id="113" name="Shape 75"/>
          <p:cNvSpPr/>
          <p:nvPr/>
        </p:nvSpPr>
        <p:spPr>
          <a:xfrm>
            <a:off x="15559683" y="7134225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14" name="Image 36" descr="preencoded.png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16238041" y="7343775"/>
            <a:ext cx="323850" cy="323850"/>
          </a:xfrm>
          <a:prstGeom prst="rect">
            <a:avLst/>
          </a:prstGeom>
        </p:spPr>
      </p:pic>
      <p:sp>
        <p:nvSpPr>
          <p:cNvPr id="115" name="Text 76"/>
          <p:cNvSpPr/>
          <p:nvPr/>
        </p:nvSpPr>
        <p:spPr>
          <a:xfrm>
            <a:off x="16245334" y="7953375"/>
            <a:ext cx="30926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رابط</a:t>
            </a:r>
            <a:endParaRPr lang="en-US" sz="1200" dirty="0"/>
          </a:p>
        </p:txBody>
      </p:sp>
      <p:sp>
        <p:nvSpPr>
          <p:cNvPr id="116" name="Shape 77"/>
          <p:cNvSpPr/>
          <p:nvPr/>
        </p:nvSpPr>
        <p:spPr>
          <a:xfrm>
            <a:off x="13745766" y="7134225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17" name="Image 37" descr="preencoded.png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14424124" y="7343775"/>
            <a:ext cx="323850" cy="323850"/>
          </a:xfrm>
          <a:prstGeom prst="rect">
            <a:avLst/>
          </a:prstGeom>
        </p:spPr>
      </p:pic>
      <p:sp>
        <p:nvSpPr>
          <p:cNvPr id="118" name="Text 78"/>
          <p:cNvSpPr/>
          <p:nvPr/>
        </p:nvSpPr>
        <p:spPr>
          <a:xfrm>
            <a:off x="14390191" y="7953375"/>
            <a:ext cx="39171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تحقّق</a:t>
            </a:r>
            <a:endParaRPr lang="en-US" sz="1200" dirty="0"/>
          </a:p>
        </p:txBody>
      </p:sp>
      <p:sp>
        <p:nvSpPr>
          <p:cNvPr id="119" name="Shape 79"/>
          <p:cNvSpPr/>
          <p:nvPr/>
        </p:nvSpPr>
        <p:spPr>
          <a:xfrm>
            <a:off x="11931700" y="7134225"/>
            <a:ext cx="1680716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20" name="Image 38" descr="preencoded.png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12610207" y="7343775"/>
            <a:ext cx="323850" cy="323850"/>
          </a:xfrm>
          <a:prstGeom prst="rect">
            <a:avLst/>
          </a:prstGeom>
        </p:spPr>
      </p:pic>
      <p:sp>
        <p:nvSpPr>
          <p:cNvPr id="121" name="Text 80"/>
          <p:cNvSpPr/>
          <p:nvPr/>
        </p:nvSpPr>
        <p:spPr>
          <a:xfrm>
            <a:off x="12607528" y="7953375"/>
            <a:ext cx="32905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تنبيه</a:t>
            </a:r>
            <a:endParaRPr lang="en-US" sz="1200" dirty="0"/>
          </a:p>
        </p:txBody>
      </p:sp>
      <p:sp>
        <p:nvSpPr>
          <p:cNvPr id="122" name="Shape 81"/>
          <p:cNvSpPr/>
          <p:nvPr/>
        </p:nvSpPr>
        <p:spPr>
          <a:xfrm>
            <a:off x="10117782" y="7134225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23" name="Image 39" descr="preencoded.png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0796141" y="7343775"/>
            <a:ext cx="323850" cy="323850"/>
          </a:xfrm>
          <a:prstGeom prst="rect">
            <a:avLst/>
          </a:prstGeom>
        </p:spPr>
      </p:pic>
      <p:sp>
        <p:nvSpPr>
          <p:cNvPr id="124" name="Text 82"/>
          <p:cNvSpPr/>
          <p:nvPr/>
        </p:nvSpPr>
        <p:spPr>
          <a:xfrm>
            <a:off x="10715476" y="7953375"/>
            <a:ext cx="48532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معلومة</a:t>
            </a:r>
            <a:endParaRPr lang="en-US" sz="1200" dirty="0"/>
          </a:p>
        </p:txBody>
      </p:sp>
      <p:sp>
        <p:nvSpPr>
          <p:cNvPr id="125" name="Shape 83"/>
          <p:cNvSpPr/>
          <p:nvPr/>
        </p:nvSpPr>
        <p:spPr>
          <a:xfrm>
            <a:off x="8303716" y="7134225"/>
            <a:ext cx="1680716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26" name="Image 40" descr="preencoded.png">    </p:cNvPr>
          <p:cNvPicPr>
            <a:picLocks noChangeAspect="1"/>
          </p:cNvPicPr>
          <p:nvPr/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8982224" y="7343775"/>
            <a:ext cx="323850" cy="323850"/>
          </a:xfrm>
          <a:prstGeom prst="rect">
            <a:avLst/>
          </a:prstGeom>
        </p:spPr>
      </p:pic>
      <p:sp>
        <p:nvSpPr>
          <p:cNvPr id="127" name="Text 84"/>
          <p:cNvSpPr/>
          <p:nvPr/>
        </p:nvSpPr>
        <p:spPr>
          <a:xfrm>
            <a:off x="8970615" y="7953375"/>
            <a:ext cx="34706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نجاح</a:t>
            </a:r>
            <a:endParaRPr lang="en-US" sz="1200" dirty="0"/>
          </a:p>
        </p:txBody>
      </p:sp>
      <p:sp>
        <p:nvSpPr>
          <p:cNvPr id="128" name="Shape 85"/>
          <p:cNvSpPr/>
          <p:nvPr/>
        </p:nvSpPr>
        <p:spPr>
          <a:xfrm>
            <a:off x="6489799" y="7134225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29" name="Image 41" descr="preencoded.png">    </p:cNvPr>
          <p:cNvPicPr>
            <a:picLocks noChangeAspect="1"/>
          </p:cNvPicPr>
          <p:nvPr/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7168158" y="7343775"/>
            <a:ext cx="323850" cy="323850"/>
          </a:xfrm>
          <a:prstGeom prst="rect">
            <a:avLst/>
          </a:prstGeom>
        </p:spPr>
      </p:pic>
      <p:sp>
        <p:nvSpPr>
          <p:cNvPr id="130" name="Text 86"/>
          <p:cNvSpPr/>
          <p:nvPr/>
        </p:nvSpPr>
        <p:spPr>
          <a:xfrm>
            <a:off x="7166818" y="7953375"/>
            <a:ext cx="32652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فارغ</a:t>
            </a:r>
            <a:endParaRPr lang="en-US" sz="1200" dirty="0"/>
          </a:p>
        </p:txBody>
      </p:sp>
      <p:sp>
        <p:nvSpPr>
          <p:cNvPr id="131" name="Shape 87"/>
          <p:cNvSpPr/>
          <p:nvPr/>
        </p:nvSpPr>
        <p:spPr>
          <a:xfrm>
            <a:off x="4675733" y="7134225"/>
            <a:ext cx="1680716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32" name="Image 42" descr="preencoded.png">    </p:cNvPr>
          <p:cNvPicPr>
            <a:picLocks noChangeAspect="1"/>
          </p:cNvPicPr>
          <p:nvPr/>
        </p:nvPicPr>
        <p:blipFill>
          <a:blip r:embed="rId85"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5354241" y="7343775"/>
            <a:ext cx="323850" cy="323850"/>
          </a:xfrm>
          <a:prstGeom prst="rect">
            <a:avLst/>
          </a:prstGeom>
        </p:spPr>
      </p:pic>
      <p:sp>
        <p:nvSpPr>
          <p:cNvPr id="133" name="Text 88"/>
          <p:cNvSpPr/>
          <p:nvPr/>
        </p:nvSpPr>
        <p:spPr>
          <a:xfrm>
            <a:off x="5291138" y="7953375"/>
            <a:ext cx="44990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تحميل</a:t>
            </a:r>
            <a:endParaRPr lang="en-US" sz="1200" dirty="0"/>
          </a:p>
        </p:txBody>
      </p:sp>
      <p:sp>
        <p:nvSpPr>
          <p:cNvPr id="134" name="Shape 89"/>
          <p:cNvSpPr/>
          <p:nvPr/>
        </p:nvSpPr>
        <p:spPr>
          <a:xfrm>
            <a:off x="2861816" y="7134225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35" name="Image 43" descr="preencoded.png">    </p:cNvPr>
          <p:cNvPicPr>
            <a:picLocks noChangeAspect="1"/>
          </p:cNvPicPr>
          <p:nvPr/>
        </p:nvPicPr>
        <p:blipFill>
          <a:blip r:embed="rId87"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3540175" y="7343775"/>
            <a:ext cx="323850" cy="323850"/>
          </a:xfrm>
          <a:prstGeom prst="rect">
            <a:avLst/>
          </a:prstGeom>
        </p:spPr>
      </p:pic>
      <p:sp>
        <p:nvSpPr>
          <p:cNvPr id="136" name="Text 90"/>
          <p:cNvSpPr/>
          <p:nvPr/>
        </p:nvSpPr>
        <p:spPr>
          <a:xfrm>
            <a:off x="3499991" y="7953375"/>
            <a:ext cx="40421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خاص</a:t>
            </a:r>
            <a:endParaRPr lang="en-US" sz="1200" dirty="0"/>
          </a:p>
        </p:txBody>
      </p:sp>
      <p:sp>
        <p:nvSpPr>
          <p:cNvPr id="137" name="Shape 91"/>
          <p:cNvSpPr/>
          <p:nvPr/>
        </p:nvSpPr>
        <p:spPr>
          <a:xfrm>
            <a:off x="1047750" y="7134225"/>
            <a:ext cx="1680716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38" name="Image 44" descr="preencoded.png">    </p:cNvPr>
          <p:cNvPicPr>
            <a:picLocks noChangeAspect="1"/>
          </p:cNvPicPr>
          <p:nvPr/>
        </p:nvPicPr>
        <p:blipFill>
          <a:blip r:embed="rId89"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1726257" y="7343775"/>
            <a:ext cx="323850" cy="323850"/>
          </a:xfrm>
          <a:prstGeom prst="rect">
            <a:avLst/>
          </a:prstGeom>
        </p:spPr>
      </p:pic>
      <p:sp>
        <p:nvSpPr>
          <p:cNvPr id="139" name="Text 92"/>
          <p:cNvSpPr/>
          <p:nvPr/>
        </p:nvSpPr>
        <p:spPr>
          <a:xfrm>
            <a:off x="1694111" y="7953375"/>
            <a:ext cx="38814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عرض</a:t>
            </a:r>
            <a:endParaRPr lang="en-US" sz="1200" dirty="0"/>
          </a:p>
        </p:txBody>
      </p:sp>
      <p:sp>
        <p:nvSpPr>
          <p:cNvPr id="140" name="Shape 93"/>
          <p:cNvSpPr/>
          <p:nvPr/>
        </p:nvSpPr>
        <p:spPr>
          <a:xfrm>
            <a:off x="15559683" y="8286750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41" name="Image 45" descr="preencoded.png">    </p:cNvPr>
          <p:cNvPicPr>
            <a:picLocks noChangeAspect="1"/>
          </p:cNvPicPr>
          <p:nvPr/>
        </p:nvPicPr>
        <p:blipFill>
          <a:blip r:embed="rId91"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16238041" y="8496300"/>
            <a:ext cx="323850" cy="323850"/>
          </a:xfrm>
          <a:prstGeom prst="rect">
            <a:avLst/>
          </a:prstGeom>
        </p:spPr>
      </p:pic>
      <p:sp>
        <p:nvSpPr>
          <p:cNvPr id="142" name="Text 94"/>
          <p:cNvSpPr/>
          <p:nvPr/>
        </p:nvSpPr>
        <p:spPr>
          <a:xfrm>
            <a:off x="16219140" y="9105900"/>
            <a:ext cx="36165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تنزيل</a:t>
            </a:r>
            <a:endParaRPr lang="en-US" sz="1200" dirty="0"/>
          </a:p>
        </p:txBody>
      </p:sp>
      <p:sp>
        <p:nvSpPr>
          <p:cNvPr id="143" name="Shape 95"/>
          <p:cNvSpPr/>
          <p:nvPr/>
        </p:nvSpPr>
        <p:spPr>
          <a:xfrm>
            <a:off x="13745766" y="8286750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44" name="Image 46" descr="preencoded.png">    </p:cNvPr>
          <p:cNvPicPr>
            <a:picLocks noChangeAspect="1"/>
          </p:cNvPicPr>
          <p:nvPr/>
        </p:nvPicPr>
        <p:blipFill>
          <a:blip r:embed="rId93">
            <a:extLs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14424124" y="8496300"/>
            <a:ext cx="323850" cy="323850"/>
          </a:xfrm>
          <a:prstGeom prst="rect">
            <a:avLst/>
          </a:prstGeom>
        </p:spPr>
      </p:pic>
      <p:sp>
        <p:nvSpPr>
          <p:cNvPr id="145" name="Text 96"/>
          <p:cNvSpPr/>
          <p:nvPr/>
        </p:nvSpPr>
        <p:spPr>
          <a:xfrm>
            <a:off x="14449871" y="9105900"/>
            <a:ext cx="27250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رفع</a:t>
            </a:r>
            <a:endParaRPr lang="en-US" sz="1200" dirty="0"/>
          </a:p>
        </p:txBody>
      </p:sp>
      <p:sp>
        <p:nvSpPr>
          <p:cNvPr id="146" name="Shape 97"/>
          <p:cNvSpPr/>
          <p:nvPr/>
        </p:nvSpPr>
        <p:spPr>
          <a:xfrm>
            <a:off x="11931700" y="8286750"/>
            <a:ext cx="1680716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47" name="Image 47" descr="preencoded.png">    </p:cNvPr>
          <p:cNvPicPr>
            <a:picLocks noChangeAspect="1"/>
          </p:cNvPicPr>
          <p:nvPr/>
        </p:nvPicPr>
        <p:blipFill>
          <a:blip r:embed="rId95"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12610207" y="8496300"/>
            <a:ext cx="323850" cy="323850"/>
          </a:xfrm>
          <a:prstGeom prst="rect">
            <a:avLst/>
          </a:prstGeom>
        </p:spPr>
      </p:pic>
      <p:sp>
        <p:nvSpPr>
          <p:cNvPr id="148" name="Text 98"/>
          <p:cNvSpPr/>
          <p:nvPr/>
        </p:nvSpPr>
        <p:spPr>
          <a:xfrm>
            <a:off x="12564963" y="9105900"/>
            <a:ext cx="41418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تعديل</a:t>
            </a:r>
            <a:endParaRPr lang="en-US" sz="1200" dirty="0"/>
          </a:p>
        </p:txBody>
      </p:sp>
      <p:sp>
        <p:nvSpPr>
          <p:cNvPr id="149" name="Shape 99"/>
          <p:cNvSpPr/>
          <p:nvPr/>
        </p:nvSpPr>
        <p:spPr>
          <a:xfrm>
            <a:off x="10117782" y="8286750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50" name="Image 48" descr="preencoded.png">    </p:cNvPr>
          <p:cNvPicPr>
            <a:picLocks noChangeAspect="1"/>
          </p:cNvPicPr>
          <p:nvPr/>
        </p:nvPicPr>
        <p:blipFill>
          <a:blip r:embed="rId97"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10796141" y="8496300"/>
            <a:ext cx="323850" cy="323850"/>
          </a:xfrm>
          <a:prstGeom prst="rect">
            <a:avLst/>
          </a:prstGeom>
        </p:spPr>
      </p:pic>
      <p:sp>
        <p:nvSpPr>
          <p:cNvPr id="151" name="Text 100"/>
          <p:cNvSpPr/>
          <p:nvPr/>
        </p:nvSpPr>
        <p:spPr>
          <a:xfrm>
            <a:off x="10762506" y="9105900"/>
            <a:ext cx="39112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حذف</a:t>
            </a:r>
            <a:endParaRPr lang="en-US" sz="1200" dirty="0"/>
          </a:p>
        </p:txBody>
      </p:sp>
      <p:sp>
        <p:nvSpPr>
          <p:cNvPr id="152" name="Shape 101"/>
          <p:cNvSpPr/>
          <p:nvPr/>
        </p:nvSpPr>
        <p:spPr>
          <a:xfrm>
            <a:off x="8303716" y="8286750"/>
            <a:ext cx="1680716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53" name="Image 49" descr="preencoded.png">    </p:cNvPr>
          <p:cNvPicPr>
            <a:picLocks noChangeAspect="1"/>
          </p:cNvPicPr>
          <p:nvPr/>
        </p:nvPicPr>
        <p:blipFill>
          <a:blip r:embed="rId99">
            <a:extLs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8982224" y="8496300"/>
            <a:ext cx="323850" cy="323850"/>
          </a:xfrm>
          <a:prstGeom prst="rect">
            <a:avLst/>
          </a:prstGeom>
        </p:spPr>
      </p:pic>
      <p:sp>
        <p:nvSpPr>
          <p:cNvPr id="154" name="Text 102"/>
          <p:cNvSpPr/>
          <p:nvPr/>
        </p:nvSpPr>
        <p:spPr>
          <a:xfrm>
            <a:off x="8962430" y="9105900"/>
            <a:ext cx="36343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كاميرا</a:t>
            </a:r>
            <a:endParaRPr lang="en-US" sz="1200" dirty="0"/>
          </a:p>
        </p:txBody>
      </p:sp>
      <p:sp>
        <p:nvSpPr>
          <p:cNvPr id="155" name="Shape 103"/>
          <p:cNvSpPr/>
          <p:nvPr/>
        </p:nvSpPr>
        <p:spPr>
          <a:xfrm>
            <a:off x="6489799" y="8286750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56" name="Image 50" descr="preencoded.png">    </p:cNvPr>
          <p:cNvPicPr>
            <a:picLocks noChangeAspect="1"/>
          </p:cNvPicPr>
          <p:nvPr/>
        </p:nvPicPr>
        <p:blipFill>
          <a:blip r:embed="rId101">
            <a:extLs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7168158" y="8496300"/>
            <a:ext cx="323850" cy="323850"/>
          </a:xfrm>
          <a:prstGeom prst="rect">
            <a:avLst/>
          </a:prstGeom>
        </p:spPr>
      </p:pic>
      <p:sp>
        <p:nvSpPr>
          <p:cNvPr id="157" name="Text 104"/>
          <p:cNvSpPr/>
          <p:nvPr/>
        </p:nvSpPr>
        <p:spPr>
          <a:xfrm>
            <a:off x="7116812" y="9105900"/>
            <a:ext cx="42669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الأصل</a:t>
            </a:r>
            <a:endParaRPr lang="en-US" sz="1200" dirty="0"/>
          </a:p>
        </p:txBody>
      </p:sp>
      <p:sp>
        <p:nvSpPr>
          <p:cNvPr id="158" name="Shape 105"/>
          <p:cNvSpPr/>
          <p:nvPr/>
        </p:nvSpPr>
        <p:spPr>
          <a:xfrm>
            <a:off x="4675733" y="8286750"/>
            <a:ext cx="1680716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59" name="Image 51" descr="preencoded.png">    </p:cNvPr>
          <p:cNvPicPr>
            <a:picLocks noChangeAspect="1"/>
          </p:cNvPicPr>
          <p:nvPr/>
        </p:nvPicPr>
        <p:blipFill>
          <a:blip r:embed="rId103"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5354241" y="8496300"/>
            <a:ext cx="323850" cy="323850"/>
          </a:xfrm>
          <a:prstGeom prst="rect">
            <a:avLst/>
          </a:prstGeom>
        </p:spPr>
      </p:pic>
      <p:sp>
        <p:nvSpPr>
          <p:cNvPr id="160" name="Text 106"/>
          <p:cNvSpPr/>
          <p:nvPr/>
        </p:nvSpPr>
        <p:spPr>
          <a:xfrm>
            <a:off x="5176838" y="9105900"/>
            <a:ext cx="67850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الاستمرارية</a:t>
            </a:r>
            <a:endParaRPr lang="en-US" sz="1200" dirty="0"/>
          </a:p>
        </p:txBody>
      </p:sp>
      <p:sp>
        <p:nvSpPr>
          <p:cNvPr id="161" name="Shape 107"/>
          <p:cNvSpPr/>
          <p:nvPr/>
        </p:nvSpPr>
        <p:spPr>
          <a:xfrm>
            <a:off x="2861816" y="8286750"/>
            <a:ext cx="1680567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62" name="Image 52" descr="preencoded.png">    </p:cNvPr>
          <p:cNvPicPr>
            <a:picLocks noChangeAspect="1"/>
          </p:cNvPicPr>
          <p:nvPr/>
        </p:nvPicPr>
        <p:blipFill>
          <a:blip r:embed="rId105"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3540175" y="8496300"/>
            <a:ext cx="323850" cy="323850"/>
          </a:xfrm>
          <a:prstGeom prst="rect">
            <a:avLst/>
          </a:prstGeom>
        </p:spPr>
      </p:pic>
      <p:sp>
        <p:nvSpPr>
          <p:cNvPr id="163" name="Text 108"/>
          <p:cNvSpPr/>
          <p:nvPr/>
        </p:nvSpPr>
        <p:spPr>
          <a:xfrm>
            <a:off x="3504307" y="9105900"/>
            <a:ext cx="39573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20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مفتاح</a:t>
            </a:r>
            <a:endParaRPr lang="en-US" sz="1200" dirty="0"/>
          </a:p>
        </p:txBody>
      </p:sp>
      <p:sp>
        <p:nvSpPr>
          <p:cNvPr id="164" name="Text 109"/>
          <p:cNvSpPr/>
          <p:nvPr/>
        </p:nvSpPr>
        <p:spPr>
          <a:xfrm>
            <a:off x="1047750" y="8620125"/>
            <a:ext cx="166782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أصولٌ أصلية قابلة للتحرير في </a:t>
            </a:r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assets/icons/*.svg </a:t>
            </a:r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تحلّ محلّ اعتماد Lucide المؤقت.</a:t>
            </a:r>
            <a:endParaRPr lang="en-US" sz="1894" dirty="0"/>
          </a:p>
        </p:txBody>
      </p:sp>
      <p:sp>
        <p:nvSpPr>
          <p:cNvPr id="165" name="Text 110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69 / 84</a:t>
            </a:r>
            <a:endParaRPr lang="en-US" sz="1800" dirty="0"/>
          </a:p>
        </p:txBody>
      </p:sp>
      <p:sp>
        <p:nvSpPr>
          <p:cNvPr id="166" name="Text 111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TOKENS &amp; FIGMA VARIABLES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الرموز ومكتبة النظام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2752725"/>
            <a:ext cx="7867650" cy="445770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689834" y="3076575"/>
            <a:ext cx="458635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مجموعات المتغيّرات · نمطان (فاتح افتراضي / داكن)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753600" y="3543300"/>
            <a:ext cx="73188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color/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753600" y="3914775"/>
            <a:ext cx="73188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brand.teal </a:t>
            </a:r>
            <a:pPr algn="l" indent="0" marL="0">
              <a:lnSpc>
                <a:spcPct val="136552"/>
              </a:lnSpc>
              <a:buNone/>
            </a:pPr>
            <a:r>
              <a:rPr lang="en-US" sz="1650" dirty="0">
                <a:solidFill>
                  <a:srgbClr val="8A64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#12B5B0 </a:t>
            </a:r>
            <a:pPr algn="l" indent="0" marL="0">
              <a:lnSpc>
                <a:spcPct val="136552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navy </a:t>
            </a:r>
            <a:pPr algn="l" indent="0" marL="0">
              <a:lnSpc>
                <a:spcPct val="136552"/>
              </a:lnSpc>
              <a:buNone/>
            </a:pPr>
            <a:r>
              <a:rPr lang="en-US" sz="1650" dirty="0">
                <a:solidFill>
                  <a:srgbClr val="8A64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#0A111F </a:t>
            </a:r>
            <a:pPr algn="l" indent="0" marL="0">
              <a:lnSpc>
                <a:spcPct val="136552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gold </a:t>
            </a:r>
            <a:pPr algn="l" indent="0" marL="0">
              <a:lnSpc>
                <a:spcPct val="136552"/>
              </a:lnSpc>
              <a:buNone/>
            </a:pPr>
            <a:r>
              <a:rPr lang="en-US" sz="1650" dirty="0">
                <a:solidFill>
                  <a:srgbClr val="8A64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#C9A86A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753600" y="4286250"/>
            <a:ext cx="73188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neutral.paper · card · hairline · ink-2/3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753600" y="4657725"/>
            <a:ext cx="73188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semantic.success · warning · error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753600" y="5029200"/>
            <a:ext cx="73188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font/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753600" y="5400675"/>
            <a:ext cx="73188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arabic · latin · numeric · size · weight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753600" y="5772150"/>
            <a:ext cx="73188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space/ </a:t>
            </a:r>
            <a:pPr algn="l" indent="0" marL="0">
              <a:lnSpc>
                <a:spcPct val="136552"/>
              </a:lnSpc>
              <a:buNone/>
            </a:pPr>
            <a:r>
              <a:rPr lang="en-US" sz="1650" b="1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8 · 12 · 16 · 24 · 32 · 48 · 64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753600" y="6143625"/>
            <a:ext cx="73188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radius/ </a:t>
            </a:r>
            <a:pPr algn="l" indent="0" marL="0">
              <a:lnSpc>
                <a:spcPct val="136552"/>
              </a:lnSpc>
              <a:buNone/>
            </a:pPr>
            <a:r>
              <a:rPr lang="en-US" sz="1650" b="1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· 12 · 16 · 24 · pill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753600" y="6515100"/>
            <a:ext cx="73188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elevation/ · motion/ · icon/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11721" y="2752725"/>
            <a:ext cx="774172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RTL افتراضي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في التخطيط التلقائي، مع نسخة LTR مطابقة.</a:t>
            </a:r>
            <a:endParaRPr lang="en-US" sz="2197" dirty="0"/>
          </a:p>
        </p:txBody>
      </p:sp>
      <p:sp>
        <p:nvSpPr>
          <p:cNvPr id="17" name="Text 15"/>
          <p:cNvSpPr/>
          <p:nvPr/>
        </p:nvSpPr>
        <p:spPr>
          <a:xfrm>
            <a:off x="811721" y="3390900"/>
            <a:ext cx="774172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أنماط نصّية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من size×weight — العربية أولاً، مجموعة لاتينية موازية.</a:t>
            </a:r>
            <a:endParaRPr lang="en-US" sz="2197" dirty="0"/>
          </a:p>
        </p:txBody>
      </p:sp>
      <p:sp>
        <p:nvSpPr>
          <p:cNvPr id="18" name="Text 16"/>
          <p:cNvSpPr/>
          <p:nvPr/>
        </p:nvSpPr>
        <p:spPr>
          <a:xfrm>
            <a:off x="811721" y="4029075"/>
            <a:ext cx="774172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مكوّنات وحالات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بمتغيّراتٍ لكل حالة تفاعلية.</a:t>
            </a:r>
            <a:endParaRPr lang="en-US" sz="2197" dirty="0"/>
          </a:p>
        </p:txBody>
      </p:sp>
      <p:sp>
        <p:nvSpPr>
          <p:cNvPr id="19" name="Text 17"/>
          <p:cNvSpPr/>
          <p:nvPr/>
        </p:nvSpPr>
        <p:spPr>
          <a:xfrm>
            <a:off x="811721" y="4667250"/>
            <a:ext cx="774172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الأيقونات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مجموعة مكوّن واحد بمتغيّر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.</a:t>
            </a:r>
            <a:endParaRPr lang="en-US" sz="2197" dirty="0"/>
          </a:p>
        </p:txBody>
      </p:sp>
      <p:sp>
        <p:nvSpPr>
          <p:cNvPr id="20" name="Shape 18"/>
          <p:cNvSpPr/>
          <p:nvPr/>
        </p:nvSpPr>
        <p:spPr>
          <a:xfrm>
            <a:off x="1047750" y="5372100"/>
            <a:ext cx="7867650" cy="2009775"/>
          </a:xfrm>
          <a:prstGeom prst="roundRect">
            <a:avLst>
              <a:gd name="adj" fmla="val 7583"/>
            </a:avLst>
          </a:prstGeom>
          <a:solidFill>
            <a:srgbClr val="0A111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88708" y="5619750"/>
            <a:ext cx="156408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8BF8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أصولٌ جاهزة للمطوّر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52550" y="6019800"/>
            <a:ext cx="747579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00"/>
              </a:lnSpc>
              <a:buNone/>
            </a:pPr>
            <a:r>
              <a:rPr lang="en-US" sz="1575" dirty="0">
                <a:solidFill>
                  <a:srgbClr val="AEB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production/tokens.json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1352550" y="6391275"/>
            <a:ext cx="747579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00"/>
              </a:lnSpc>
              <a:buNone/>
            </a:pPr>
            <a:r>
              <a:rPr lang="en-US" sz="1575" dirty="0">
                <a:solidFill>
                  <a:srgbClr val="AEB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production/provatto.tokens.js </a:t>
            </a:r>
            <a:pPr algn="l" indent="0" marL="0">
              <a:lnSpc>
                <a:spcPct val="142500"/>
              </a:lnSpc>
              <a:buNone/>
            </a:pPr>
            <a:r>
              <a:rPr lang="en-US" sz="1575" dirty="0">
                <a:solidFill>
                  <a:srgbClr val="5ED2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React Native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1352550" y="6762750"/>
            <a:ext cx="747579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00"/>
              </a:lnSpc>
              <a:buNone/>
            </a:pPr>
            <a:r>
              <a:rPr lang="en-US" sz="1575" dirty="0">
                <a:solidFill>
                  <a:srgbClr val="AEB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production/provatto-icons.svg </a:t>
            </a:r>
            <a:pPr algn="l" indent="0" marL="0">
              <a:lnSpc>
                <a:spcPct val="142500"/>
              </a:lnSpc>
              <a:buNone/>
            </a:pPr>
            <a:r>
              <a:rPr lang="en-US" sz="1575" dirty="0">
                <a:solidFill>
                  <a:srgbClr val="5ED2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sprite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70 / 84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COMPONENT STATE MATRIX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مصفوفة حالات المكوّنات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986213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الزرّ الأساسي</a:t>
            </a:r>
            <a:endParaRPr lang="en-US" sz="1575" dirty="0"/>
          </a:p>
        </p:txBody>
      </p:sp>
      <p:sp>
        <p:nvSpPr>
          <p:cNvPr id="6" name="Shape 4"/>
          <p:cNvSpPr/>
          <p:nvPr/>
        </p:nvSpPr>
        <p:spPr>
          <a:xfrm>
            <a:off x="14700349" y="4443413"/>
            <a:ext cx="2539901" cy="552450"/>
          </a:xfrm>
          <a:prstGeom prst="roundRect">
            <a:avLst>
              <a:gd name="adj" fmla="val 20690"/>
            </a:avLst>
          </a:prstGeom>
          <a:solidFill>
            <a:srgbClr val="12B5B0"/>
          </a:solidFill>
          <a:ln/>
        </p:spPr>
      </p:sp>
      <p:sp>
        <p:nvSpPr>
          <p:cNvPr id="7" name="Text 5"/>
          <p:cNvSpPr/>
          <p:nvPr/>
        </p:nvSpPr>
        <p:spPr>
          <a:xfrm>
            <a:off x="14757499" y="4576763"/>
            <a:ext cx="24256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افتراضي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573354" y="5110163"/>
            <a:ext cx="279389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Default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11969800" y="4443413"/>
            <a:ext cx="2540050" cy="552450"/>
          </a:xfrm>
          <a:prstGeom prst="roundRect">
            <a:avLst>
              <a:gd name="adj" fmla="val 20690"/>
            </a:avLst>
          </a:prstGeom>
          <a:solidFill>
            <a:srgbClr val="0FA09B"/>
          </a:solidFill>
          <a:ln/>
        </p:spPr>
      </p:sp>
      <p:sp>
        <p:nvSpPr>
          <p:cNvPr id="10" name="Text 8"/>
          <p:cNvSpPr/>
          <p:nvPr/>
        </p:nvSpPr>
        <p:spPr>
          <a:xfrm>
            <a:off x="12026949" y="4576763"/>
            <a:ext cx="24257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تحويم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42797" y="5110163"/>
            <a:ext cx="27940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Hover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9239250" y="4443413"/>
            <a:ext cx="2540050" cy="552450"/>
          </a:xfrm>
          <a:prstGeom prst="roundRect">
            <a:avLst>
              <a:gd name="adj" fmla="val 20690"/>
            </a:avLst>
          </a:prstGeom>
          <a:solidFill>
            <a:srgbClr val="0FA09B"/>
          </a:solidFill>
          <a:ln/>
          <a:effectLst>
            <a:outerShdw sx="100000" sy="100000" kx="0" ky="0" algn="bl" rotWithShape="0" blurRad="101600" dist="50800" dir="16200000">
              <a:srgbClr val="12B5B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296399" y="4576763"/>
            <a:ext cx="24257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تركيز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12248" y="5110163"/>
            <a:ext cx="27940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Focus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6546925" y="4451699"/>
            <a:ext cx="2463704" cy="535877"/>
          </a:xfrm>
          <a:prstGeom prst="roundRect">
            <a:avLst>
              <a:gd name="adj" fmla="val 20690"/>
            </a:avLst>
          </a:prstGeom>
          <a:solidFill>
            <a:srgbClr val="0B807C"/>
          </a:solidFill>
          <a:ln/>
        </p:spPr>
      </p:sp>
      <p:sp>
        <p:nvSpPr>
          <p:cNvPr id="16" name="Text 14"/>
          <p:cNvSpPr/>
          <p:nvPr/>
        </p:nvSpPr>
        <p:spPr>
          <a:xfrm>
            <a:off x="6601218" y="4581049"/>
            <a:ext cx="2355119" cy="315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55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ضغط</a:t>
            </a:r>
            <a:endParaRPr lang="en-US" sz="1455" dirty="0"/>
          </a:p>
        </p:txBody>
      </p:sp>
      <p:sp>
        <p:nvSpPr>
          <p:cNvPr id="17" name="Text 15"/>
          <p:cNvSpPr/>
          <p:nvPr/>
        </p:nvSpPr>
        <p:spPr>
          <a:xfrm>
            <a:off x="6381854" y="5110163"/>
            <a:ext cx="279389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Pressed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3778300" y="4443413"/>
            <a:ext cx="2540050" cy="552450"/>
          </a:xfrm>
          <a:prstGeom prst="roundRect">
            <a:avLst>
              <a:gd name="adj" fmla="val 20690"/>
            </a:avLst>
          </a:prstGeom>
          <a:solidFill>
            <a:srgbClr val="DCE0E4"/>
          </a:solidFill>
          <a:ln/>
        </p:spPr>
      </p:sp>
      <p:sp>
        <p:nvSpPr>
          <p:cNvPr id="19" name="Text 17"/>
          <p:cNvSpPr/>
          <p:nvPr/>
        </p:nvSpPr>
        <p:spPr>
          <a:xfrm>
            <a:off x="3835449" y="4576763"/>
            <a:ext cx="24257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1A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معطّل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51297" y="5110163"/>
            <a:ext cx="27940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Disabled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1047750" y="4443413"/>
            <a:ext cx="2540050" cy="552450"/>
          </a:xfrm>
          <a:prstGeom prst="roundRect">
            <a:avLst>
              <a:gd name="adj" fmla="val 20690"/>
            </a:avLst>
          </a:prstGeom>
          <a:solidFill>
            <a:srgbClr val="12B5B0"/>
          </a:solidFill>
          <a:ln/>
        </p:spPr>
      </p:sp>
      <p:sp>
        <p:nvSpPr>
          <p:cNvPr id="22" name="Text 20"/>
          <p:cNvSpPr/>
          <p:nvPr/>
        </p:nvSpPr>
        <p:spPr>
          <a:xfrm>
            <a:off x="1104899" y="4576763"/>
            <a:ext cx="24257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···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0748" y="5110163"/>
            <a:ext cx="27940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Loading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047750" y="5710238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حقل الإدخال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14700349" y="6167438"/>
            <a:ext cx="2539901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4288">
            <a:solidFill>
              <a:srgbClr val="D8D2C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847987" y="6296025"/>
            <a:ext cx="23208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الرقم المرجعي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4573354" y="6796088"/>
            <a:ext cx="279389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Default</a:t>
            </a:r>
            <a:endParaRPr lang="en-US" sz="1425" dirty="0"/>
          </a:p>
        </p:txBody>
      </p:sp>
      <p:sp>
        <p:nvSpPr>
          <p:cNvPr id="28" name="Shape 26"/>
          <p:cNvSpPr/>
          <p:nvPr/>
        </p:nvSpPr>
        <p:spPr>
          <a:xfrm>
            <a:off x="11969800" y="6167438"/>
            <a:ext cx="2540050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4288">
            <a:solidFill>
              <a:srgbClr val="12B5B0"/>
            </a:solidFill>
            <a:prstDash val="solid"/>
          </a:ln>
          <a:effectLst>
            <a:outerShdw sx="100000" sy="100000" kx="0" ky="0" algn="bl" rotWithShape="0" blurRad="101600" dist="50800" dir="16200000">
              <a:srgbClr val="12B5B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2117437" y="6296025"/>
            <a:ext cx="2320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AB-2104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842797" y="6796088"/>
            <a:ext cx="27940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Focus</a:t>
            </a:r>
            <a:endParaRPr lang="en-US" sz="1425" dirty="0"/>
          </a:p>
        </p:txBody>
      </p:sp>
      <p:sp>
        <p:nvSpPr>
          <p:cNvPr id="31" name="Shape 29"/>
          <p:cNvSpPr/>
          <p:nvPr/>
        </p:nvSpPr>
        <p:spPr>
          <a:xfrm>
            <a:off x="9239250" y="6167438"/>
            <a:ext cx="2540050" cy="514350"/>
          </a:xfrm>
          <a:prstGeom prst="roundRect">
            <a:avLst>
              <a:gd name="adj" fmla="val 18519"/>
            </a:avLst>
          </a:prstGeom>
          <a:solidFill>
            <a:srgbClr val="F1F0EC"/>
          </a:solidFill>
          <a:ln w="14288">
            <a:solidFill>
              <a:srgbClr val="D8D2C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86888" y="6296025"/>
            <a:ext cx="2320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1A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112248" y="6796088"/>
            <a:ext cx="27940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Disabled</a:t>
            </a:r>
            <a:endParaRPr lang="en-US" sz="1425" dirty="0"/>
          </a:p>
        </p:txBody>
      </p:sp>
      <p:sp>
        <p:nvSpPr>
          <p:cNvPr id="34" name="Shape 32"/>
          <p:cNvSpPr/>
          <p:nvPr/>
        </p:nvSpPr>
        <p:spPr>
          <a:xfrm>
            <a:off x="6508849" y="6167438"/>
            <a:ext cx="2539901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4288">
            <a:solidFill>
              <a:srgbClr val="A534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6487" y="6296025"/>
            <a:ext cx="23208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534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قيمة غير صحيحة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381854" y="6796088"/>
            <a:ext cx="279389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Error</a:t>
            </a:r>
            <a:endParaRPr lang="en-US" sz="1425" dirty="0"/>
          </a:p>
        </p:txBody>
      </p:sp>
      <p:sp>
        <p:nvSpPr>
          <p:cNvPr id="37" name="Shape 35"/>
          <p:cNvSpPr/>
          <p:nvPr/>
        </p:nvSpPr>
        <p:spPr>
          <a:xfrm>
            <a:off x="3778300" y="6167438"/>
            <a:ext cx="2540050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4288">
            <a:solidFill>
              <a:srgbClr val="8A641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25937" y="6296025"/>
            <a:ext cx="2320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641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تحقّق مطلوب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3651297" y="6796088"/>
            <a:ext cx="27940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Warning</a:t>
            </a:r>
            <a:endParaRPr lang="en-US" sz="1425" dirty="0"/>
          </a:p>
        </p:txBody>
      </p:sp>
      <p:sp>
        <p:nvSpPr>
          <p:cNvPr id="40" name="Shape 38"/>
          <p:cNvSpPr/>
          <p:nvPr/>
        </p:nvSpPr>
        <p:spPr>
          <a:xfrm>
            <a:off x="1047750" y="6167438"/>
            <a:ext cx="2540050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4288">
            <a:solidFill>
              <a:srgbClr val="1E8A5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95387" y="6296025"/>
            <a:ext cx="2320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E8A5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تمّ الحفظ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920748" y="6796088"/>
            <a:ext cx="27940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Success</a:t>
            </a:r>
            <a:endParaRPr lang="en-US" sz="1425" dirty="0"/>
          </a:p>
        </p:txBody>
      </p:sp>
      <p:sp>
        <p:nvSpPr>
          <p:cNvPr id="43" name="Text 41"/>
          <p:cNvSpPr/>
          <p:nvPr/>
        </p:nvSpPr>
        <p:spPr>
          <a:xfrm>
            <a:off x="1047750" y="7396162"/>
            <a:ext cx="166782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الحالات الكاملة موثّقة لكل مكوّن: افتراضي · تحويم · تركيز · نشط/ضغط · معطّل · تحميل · خطأ · تنبيه · نجاح · فارغ — عبر أنماط الجوّال والويب.</a:t>
            </a:r>
            <a:endParaRPr lang="en-US" sz="1894" dirty="0"/>
          </a:p>
        </p:txBody>
      </p:sp>
      <p:sp>
        <p:nvSpPr>
          <p:cNvPr id="44" name="Text 42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71 / 84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CONNECTED PRODUCT JOURNEYS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خريطة رحلة المنتج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729038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رحلة التوثيق</a:t>
            </a:r>
            <a:endParaRPr lang="en-US" sz="1575" dirty="0"/>
          </a:p>
        </p:txBody>
      </p:sp>
      <p:sp>
        <p:nvSpPr>
          <p:cNvPr id="6" name="Shape 4"/>
          <p:cNvSpPr/>
          <p:nvPr/>
        </p:nvSpPr>
        <p:spPr>
          <a:xfrm>
            <a:off x="14316670" y="4148137"/>
            <a:ext cx="2923580" cy="140017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616535" y="4338638"/>
            <a:ext cx="323850" cy="3238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416957" y="4757738"/>
            <a:ext cx="72300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التسجيل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980533" y="5138738"/>
            <a:ext cx="159585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200"/>
              </a:lnSpc>
              <a:buNone/>
            </a:pPr>
            <a:r>
              <a:rPr lang="en-US" sz="127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حساب جديد · Face ID</a:t>
            </a:r>
            <a:endParaRPr lang="en-US" sz="1275" dirty="0"/>
          </a:p>
        </p:txBody>
      </p:sp>
      <p:sp>
        <p:nvSpPr>
          <p:cNvPr id="10" name="Text 7"/>
          <p:cNvSpPr/>
          <p:nvPr/>
        </p:nvSpPr>
        <p:spPr>
          <a:xfrm>
            <a:off x="14018270" y="4662488"/>
            <a:ext cx="2425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←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10999440" y="4148137"/>
            <a:ext cx="2923580" cy="140017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99305" y="4338638"/>
            <a:ext cx="323850" cy="3238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974413" y="4757738"/>
            <a:ext cx="97378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إضافة ساعة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1850737" y="5138738"/>
            <a:ext cx="122098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200"/>
              </a:lnSpc>
              <a:buNone/>
            </a:pPr>
            <a:r>
              <a:rPr lang="en-US" sz="127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المرجع · التسلسلي</a:t>
            </a:r>
            <a:endParaRPr lang="en-US" sz="1275" dirty="0"/>
          </a:p>
        </p:txBody>
      </p:sp>
      <p:sp>
        <p:nvSpPr>
          <p:cNvPr id="15" name="Text 11"/>
          <p:cNvSpPr/>
          <p:nvPr/>
        </p:nvSpPr>
        <p:spPr>
          <a:xfrm>
            <a:off x="10701040" y="4662488"/>
            <a:ext cx="2425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←</a:t>
            </a:r>
            <a:endParaRPr lang="en-US" sz="1950" dirty="0"/>
          </a:p>
        </p:txBody>
      </p:sp>
      <p:sp>
        <p:nvSpPr>
          <p:cNvPr id="16" name="Shape 12"/>
          <p:cNvSpPr/>
          <p:nvPr/>
        </p:nvSpPr>
        <p:spPr>
          <a:xfrm>
            <a:off x="7682210" y="4148137"/>
            <a:ext cx="2923580" cy="140017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82075" y="4338638"/>
            <a:ext cx="323850" cy="3238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4967" y="4757738"/>
            <a:ext cx="119806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رفع المستندات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732639" y="5138738"/>
            <a:ext cx="82287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200"/>
              </a:lnSpc>
              <a:buNone/>
            </a:pPr>
            <a:r>
              <a:rPr lang="en-US" sz="127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فاتورة · تقرير</a:t>
            </a:r>
            <a:endParaRPr lang="en-US" sz="1275" dirty="0"/>
          </a:p>
        </p:txBody>
      </p:sp>
      <p:sp>
        <p:nvSpPr>
          <p:cNvPr id="20" name="Text 15"/>
          <p:cNvSpPr/>
          <p:nvPr/>
        </p:nvSpPr>
        <p:spPr>
          <a:xfrm>
            <a:off x="7383810" y="4662488"/>
            <a:ext cx="2425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←</a:t>
            </a:r>
            <a:endParaRPr lang="en-US" sz="1950" dirty="0"/>
          </a:p>
        </p:txBody>
      </p:sp>
      <p:sp>
        <p:nvSpPr>
          <p:cNvPr id="21" name="Shape 16"/>
          <p:cNvSpPr/>
          <p:nvPr/>
        </p:nvSpPr>
        <p:spPr>
          <a:xfrm>
            <a:off x="4364980" y="4148137"/>
            <a:ext cx="2923580" cy="140017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64845" y="4338638"/>
            <a:ext cx="323850" cy="3238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06913" y="4757738"/>
            <a:ext cx="103986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إنشاء السجلّ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243810" y="5138738"/>
            <a:ext cx="11659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200"/>
              </a:lnSpc>
              <a:buNone/>
            </a:pPr>
            <a:r>
              <a:rPr lang="en-US" sz="127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ختم رقمي · معرّف</a:t>
            </a:r>
            <a:endParaRPr lang="en-US" sz="1275" dirty="0"/>
          </a:p>
        </p:txBody>
      </p:sp>
      <p:sp>
        <p:nvSpPr>
          <p:cNvPr id="25" name="Text 19"/>
          <p:cNvSpPr/>
          <p:nvPr/>
        </p:nvSpPr>
        <p:spPr>
          <a:xfrm>
            <a:off x="4066580" y="4662488"/>
            <a:ext cx="2425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←</a:t>
            </a:r>
            <a:endParaRPr lang="en-US" sz="1950" dirty="0"/>
          </a:p>
        </p:txBody>
      </p:sp>
      <p:sp>
        <p:nvSpPr>
          <p:cNvPr id="26" name="Shape 20"/>
          <p:cNvSpPr/>
          <p:nvPr/>
        </p:nvSpPr>
        <p:spPr>
          <a:xfrm>
            <a:off x="1047750" y="4148137"/>
            <a:ext cx="2923580" cy="140017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47615" y="4338638"/>
            <a:ext cx="323850" cy="3238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038350" y="4757738"/>
            <a:ext cx="94252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الخطّ الزمني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2083445" y="5138738"/>
            <a:ext cx="85219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200"/>
              </a:lnSpc>
              <a:buNone/>
            </a:pPr>
            <a:r>
              <a:rPr lang="en-US" sz="127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أحداث موثّقة</a:t>
            </a:r>
            <a:endParaRPr lang="en-US" sz="1275" dirty="0"/>
          </a:p>
        </p:txBody>
      </p:sp>
      <p:sp>
        <p:nvSpPr>
          <p:cNvPr id="30" name="Text 23"/>
          <p:cNvSpPr/>
          <p:nvPr/>
        </p:nvSpPr>
        <p:spPr>
          <a:xfrm>
            <a:off x="1047750" y="5776913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رحلة النقل والخصوصية</a:t>
            </a:r>
            <a:endParaRPr lang="en-US" sz="1575" dirty="0"/>
          </a:p>
        </p:txBody>
      </p:sp>
      <p:sp>
        <p:nvSpPr>
          <p:cNvPr id="31" name="Shape 24"/>
          <p:cNvSpPr/>
          <p:nvPr/>
        </p:nvSpPr>
        <p:spPr>
          <a:xfrm>
            <a:off x="14316670" y="6196013"/>
            <a:ext cx="2923580" cy="140017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616535" y="6386513"/>
            <a:ext cx="323850" cy="32385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5331529" y="6805613"/>
            <a:ext cx="89386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الخصوصية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15300127" y="7186613"/>
            <a:ext cx="95666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200"/>
              </a:lnSpc>
              <a:buNone/>
            </a:pPr>
            <a:r>
              <a:rPr lang="en-US" sz="127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تحكّم المشاركة</a:t>
            </a:r>
            <a:endParaRPr lang="en-US" sz="1275" dirty="0"/>
          </a:p>
        </p:txBody>
      </p:sp>
      <p:sp>
        <p:nvSpPr>
          <p:cNvPr id="35" name="Text 27"/>
          <p:cNvSpPr/>
          <p:nvPr/>
        </p:nvSpPr>
        <p:spPr>
          <a:xfrm>
            <a:off x="14018270" y="6710363"/>
            <a:ext cx="2425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←</a:t>
            </a:r>
            <a:endParaRPr lang="en-US" sz="1950" dirty="0"/>
          </a:p>
        </p:txBody>
      </p:sp>
      <p:sp>
        <p:nvSpPr>
          <p:cNvPr id="36" name="Shape 28"/>
          <p:cNvSpPr/>
          <p:nvPr/>
        </p:nvSpPr>
        <p:spPr>
          <a:xfrm>
            <a:off x="10999440" y="6196013"/>
            <a:ext cx="2923580" cy="140017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299305" y="6386513"/>
            <a:ext cx="323850" cy="32385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1995845" y="6805613"/>
            <a:ext cx="9309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معاينة عامة</a:t>
            </a:r>
            <a:endParaRPr lang="en-US" sz="1500" dirty="0"/>
          </a:p>
        </p:txBody>
      </p:sp>
      <p:sp>
        <p:nvSpPr>
          <p:cNvPr id="39" name="Text 30"/>
          <p:cNvSpPr/>
          <p:nvPr/>
        </p:nvSpPr>
        <p:spPr>
          <a:xfrm>
            <a:off x="11783459" y="7186613"/>
            <a:ext cx="135569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200"/>
              </a:lnSpc>
              <a:buNone/>
            </a:pPr>
            <a:r>
              <a:rPr lang="en-US" sz="127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QR · حقول محدودة</a:t>
            </a:r>
            <a:endParaRPr lang="en-US" sz="1275" dirty="0"/>
          </a:p>
        </p:txBody>
      </p:sp>
      <p:sp>
        <p:nvSpPr>
          <p:cNvPr id="40" name="Text 31"/>
          <p:cNvSpPr/>
          <p:nvPr/>
        </p:nvSpPr>
        <p:spPr>
          <a:xfrm>
            <a:off x="10701040" y="6710363"/>
            <a:ext cx="2425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←</a:t>
            </a:r>
            <a:endParaRPr lang="en-US" sz="1950" dirty="0"/>
          </a:p>
        </p:txBody>
      </p:sp>
      <p:sp>
        <p:nvSpPr>
          <p:cNvPr id="41" name="Shape 32"/>
          <p:cNvSpPr/>
          <p:nvPr/>
        </p:nvSpPr>
        <p:spPr>
          <a:xfrm>
            <a:off x="7682210" y="6196013"/>
            <a:ext cx="2923580" cy="140017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982075" y="6386513"/>
            <a:ext cx="323850" cy="32385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8677721" y="6805613"/>
            <a:ext cx="93270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إرسال النقل</a:t>
            </a:r>
            <a:endParaRPr lang="en-US" sz="1500" dirty="0"/>
          </a:p>
        </p:txBody>
      </p:sp>
      <p:sp>
        <p:nvSpPr>
          <p:cNvPr id="44" name="Text 34"/>
          <p:cNvSpPr/>
          <p:nvPr/>
        </p:nvSpPr>
        <p:spPr>
          <a:xfrm>
            <a:off x="8724454" y="7186613"/>
            <a:ext cx="83924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200"/>
              </a:lnSpc>
              <a:buNone/>
            </a:pPr>
            <a:r>
              <a:rPr lang="en-US" sz="127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رقم المستلم</a:t>
            </a:r>
            <a:endParaRPr lang="en-US" sz="1275" dirty="0"/>
          </a:p>
        </p:txBody>
      </p:sp>
      <p:sp>
        <p:nvSpPr>
          <p:cNvPr id="45" name="Text 35"/>
          <p:cNvSpPr/>
          <p:nvPr/>
        </p:nvSpPr>
        <p:spPr>
          <a:xfrm>
            <a:off x="7383810" y="6710363"/>
            <a:ext cx="2425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←</a:t>
            </a:r>
            <a:endParaRPr lang="en-US" sz="1950" dirty="0"/>
          </a:p>
        </p:txBody>
      </p:sp>
      <p:sp>
        <p:nvSpPr>
          <p:cNvPr id="46" name="Shape 36"/>
          <p:cNvSpPr/>
          <p:nvPr/>
        </p:nvSpPr>
        <p:spPr>
          <a:xfrm>
            <a:off x="4364980" y="6196013"/>
            <a:ext cx="2923580" cy="140017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664845" y="6386513"/>
            <a:ext cx="323850" cy="32385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5497413" y="6805613"/>
            <a:ext cx="65886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استقبال</a:t>
            </a:r>
            <a:endParaRPr lang="en-US" sz="1500" dirty="0"/>
          </a:p>
        </p:txBody>
      </p:sp>
      <p:sp>
        <p:nvSpPr>
          <p:cNvPr id="49" name="Text 38"/>
          <p:cNvSpPr/>
          <p:nvPr/>
        </p:nvSpPr>
        <p:spPr>
          <a:xfrm>
            <a:off x="5340548" y="7186613"/>
            <a:ext cx="97259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200"/>
              </a:lnSpc>
              <a:buNone/>
            </a:pPr>
            <a:r>
              <a:rPr lang="en-US" sz="127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مراجعة السجلّ</a:t>
            </a:r>
            <a:endParaRPr lang="en-US" sz="1275" dirty="0"/>
          </a:p>
        </p:txBody>
      </p:sp>
      <p:sp>
        <p:nvSpPr>
          <p:cNvPr id="50" name="Text 39"/>
          <p:cNvSpPr/>
          <p:nvPr/>
        </p:nvSpPr>
        <p:spPr>
          <a:xfrm>
            <a:off x="4066580" y="6710363"/>
            <a:ext cx="2425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←</a:t>
            </a:r>
            <a:endParaRPr lang="en-US" sz="1950" dirty="0"/>
          </a:p>
        </p:txBody>
      </p:sp>
      <p:sp>
        <p:nvSpPr>
          <p:cNvPr id="51" name="Shape 40"/>
          <p:cNvSpPr/>
          <p:nvPr/>
        </p:nvSpPr>
        <p:spPr>
          <a:xfrm>
            <a:off x="1047750" y="6196013"/>
            <a:ext cx="2923580" cy="140017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347615" y="6386513"/>
            <a:ext cx="323850" cy="323850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2284214" y="6805613"/>
            <a:ext cx="4506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تأكيد</a:t>
            </a:r>
            <a:endParaRPr lang="en-US" sz="1500" dirty="0"/>
          </a:p>
        </p:txBody>
      </p:sp>
      <p:sp>
        <p:nvSpPr>
          <p:cNvPr id="54" name="Text 42"/>
          <p:cNvSpPr/>
          <p:nvPr/>
        </p:nvSpPr>
        <p:spPr>
          <a:xfrm>
            <a:off x="1681817" y="7186613"/>
            <a:ext cx="165544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200"/>
              </a:lnSpc>
              <a:buNone/>
            </a:pPr>
            <a:r>
              <a:rPr lang="en-US" sz="127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لدى المالك الجديد</a:t>
            </a:r>
            <a:endParaRPr lang="en-US" sz="1275" dirty="0"/>
          </a:p>
        </p:txBody>
      </p:sp>
      <p:sp>
        <p:nvSpPr>
          <p:cNvPr id="55" name="Text 43"/>
          <p:cNvSpPr/>
          <p:nvPr/>
        </p:nvSpPr>
        <p:spPr>
          <a:xfrm>
            <a:off x="1047750" y="8629650"/>
            <a:ext cx="166782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رحلاتٌ مترابطة لا شاشاتٍ منفصلة — تغطّي التسجيل، الدخول، الإضافة، المستندات، السجلّ، التعديل، الخصوصية، والنقل، مع حالات عدم الاتصال والتحميل والفراغ والخطأ.</a:t>
            </a:r>
            <a:endParaRPr lang="en-US" sz="1894" dirty="0"/>
          </a:p>
        </p:txBody>
      </p:sp>
      <p:sp>
        <p:nvSpPr>
          <p:cNvPr id="56" name="Text 44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72 / 84</a:t>
            </a:r>
            <a:endParaRPr lang="en-US" sz="1800" dirty="0"/>
          </a:p>
        </p:txBody>
      </p:sp>
      <p:sp>
        <p:nvSpPr>
          <p:cNvPr id="57" name="Text 45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TRANSFER JOURNEY STATES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حالات نقل السجلّ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169479" y="2752725"/>
            <a:ext cx="3070771" cy="5067300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9525">
            <a:solidFill>
              <a:srgbClr val="BFE3D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02075" y="3009900"/>
            <a:ext cx="419100" cy="4191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88554" y="3781425"/>
            <a:ext cx="28958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قبول</a:t>
            </a:r>
            <a:endParaRPr lang="en-US" sz="1725" dirty="0"/>
          </a:p>
        </p:txBody>
      </p:sp>
      <p:sp>
        <p:nvSpPr>
          <p:cNvPr id="8" name="Text 5"/>
          <p:cNvSpPr/>
          <p:nvPr/>
        </p:nvSpPr>
        <p:spPr>
          <a:xfrm>
            <a:off x="14388554" y="4467225"/>
            <a:ext cx="2711599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52"/>
              </a:lnSpc>
              <a:buNone/>
            </a:pPr>
            <a:r>
              <a:rPr lang="en-US" sz="142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يوافق المستلم فينتقل السجلّ بكامل تاريخه إليه.</a:t>
            </a:r>
            <a:endParaRPr lang="en-US" sz="1425" dirty="0"/>
          </a:p>
        </p:txBody>
      </p:sp>
      <p:sp>
        <p:nvSpPr>
          <p:cNvPr id="9" name="Shape 6"/>
          <p:cNvSpPr/>
          <p:nvPr/>
        </p:nvSpPr>
        <p:spPr>
          <a:xfrm>
            <a:off x="16267509" y="5153025"/>
            <a:ext cx="753666" cy="352425"/>
          </a:xfrm>
          <a:prstGeom prst="roundRect">
            <a:avLst>
              <a:gd name="adj" fmla="val 50000"/>
            </a:avLst>
          </a:prstGeom>
          <a:solidFill>
            <a:srgbClr val="E7F5EE"/>
          </a:solidFill>
          <a:ln/>
        </p:spPr>
      </p:sp>
      <p:sp>
        <p:nvSpPr>
          <p:cNvPr id="10" name="Text 7"/>
          <p:cNvSpPr/>
          <p:nvPr/>
        </p:nvSpPr>
        <p:spPr>
          <a:xfrm>
            <a:off x="16419909" y="5200650"/>
            <a:ext cx="5250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8A5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مكتمل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10889010" y="2752725"/>
            <a:ext cx="3070920" cy="5067300"/>
          </a:xfrm>
          <a:prstGeom prst="roundRect">
            <a:avLst>
              <a:gd name="adj" fmla="val 4342"/>
            </a:avLst>
          </a:prstGeom>
          <a:solidFill>
            <a:srgbClr val="FFFFFF"/>
          </a:solidFill>
          <a:ln w="9525">
            <a:solidFill>
              <a:srgbClr val="E7C4C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21754" y="3009900"/>
            <a:ext cx="419100" cy="4191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108085" y="3781425"/>
            <a:ext cx="289604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رفض</a:t>
            </a:r>
            <a:endParaRPr lang="en-US" sz="1725" dirty="0"/>
          </a:p>
        </p:txBody>
      </p:sp>
      <p:sp>
        <p:nvSpPr>
          <p:cNvPr id="14" name="Text 10"/>
          <p:cNvSpPr/>
          <p:nvPr/>
        </p:nvSpPr>
        <p:spPr>
          <a:xfrm>
            <a:off x="11108085" y="4467225"/>
            <a:ext cx="2711753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52"/>
              </a:lnSpc>
              <a:buNone/>
            </a:pPr>
            <a:r>
              <a:rPr lang="en-US" sz="142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يرفض المستلم فيبقى السجلّ لدى المالك الحالي دون تغيير.</a:t>
            </a:r>
            <a:endParaRPr lang="en-US" sz="1425" dirty="0"/>
          </a:p>
        </p:txBody>
      </p:sp>
      <p:sp>
        <p:nvSpPr>
          <p:cNvPr id="15" name="Shape 11"/>
          <p:cNvSpPr/>
          <p:nvPr/>
        </p:nvSpPr>
        <p:spPr>
          <a:xfrm>
            <a:off x="12906077" y="5153025"/>
            <a:ext cx="834777" cy="352425"/>
          </a:xfrm>
          <a:prstGeom prst="roundRect">
            <a:avLst>
              <a:gd name="adj" fmla="val 50000"/>
            </a:avLst>
          </a:prstGeom>
          <a:solidFill>
            <a:srgbClr val="F9EAE9"/>
          </a:solidFill>
          <a:ln/>
        </p:spPr>
      </p:sp>
      <p:sp>
        <p:nvSpPr>
          <p:cNvPr id="16" name="Text 12"/>
          <p:cNvSpPr/>
          <p:nvPr/>
        </p:nvSpPr>
        <p:spPr>
          <a:xfrm>
            <a:off x="13058477" y="5200650"/>
            <a:ext cx="60617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534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مرفوض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7608689" y="2752725"/>
            <a:ext cx="3070771" cy="5067300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9525">
            <a:solidFill>
              <a:srgbClr val="E7E2D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41285" y="3009900"/>
            <a:ext cx="419100" cy="4191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27764" y="3781425"/>
            <a:ext cx="28958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إلغاء</a:t>
            </a:r>
            <a:endParaRPr lang="en-US" sz="1725" dirty="0"/>
          </a:p>
        </p:txBody>
      </p:sp>
      <p:sp>
        <p:nvSpPr>
          <p:cNvPr id="20" name="Text 15"/>
          <p:cNvSpPr/>
          <p:nvPr/>
        </p:nvSpPr>
        <p:spPr>
          <a:xfrm>
            <a:off x="7827764" y="4467225"/>
            <a:ext cx="2711599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52"/>
              </a:lnSpc>
              <a:buNone/>
            </a:pPr>
            <a:r>
              <a:rPr lang="en-US" sz="142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يُلغي المُرسِل الطلب قبل ردّ المستلم فيُغلق بأمان.</a:t>
            </a:r>
            <a:endParaRPr lang="en-US" sz="1425" dirty="0"/>
          </a:p>
        </p:txBody>
      </p:sp>
      <p:sp>
        <p:nvSpPr>
          <p:cNvPr id="21" name="Shape 16"/>
          <p:cNvSpPr/>
          <p:nvPr/>
        </p:nvSpPr>
        <p:spPr>
          <a:xfrm>
            <a:off x="9804499" y="5153025"/>
            <a:ext cx="655886" cy="352425"/>
          </a:xfrm>
          <a:prstGeom prst="roundRect">
            <a:avLst>
              <a:gd name="adj" fmla="val 50000"/>
            </a:avLst>
          </a:prstGeom>
          <a:solidFill>
            <a:srgbClr val="EEEBE4"/>
          </a:solidFill>
          <a:ln/>
        </p:spPr>
      </p:sp>
      <p:sp>
        <p:nvSpPr>
          <p:cNvPr id="22" name="Text 17"/>
          <p:cNvSpPr/>
          <p:nvPr/>
        </p:nvSpPr>
        <p:spPr>
          <a:xfrm>
            <a:off x="9956899" y="5200650"/>
            <a:ext cx="4272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ملغى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4328220" y="2752725"/>
            <a:ext cx="3070920" cy="5067300"/>
          </a:xfrm>
          <a:prstGeom prst="roundRect">
            <a:avLst>
              <a:gd name="adj" fmla="val 4342"/>
            </a:avLst>
          </a:prstGeom>
          <a:solidFill>
            <a:srgbClr val="FFFFFF"/>
          </a:solidFill>
          <a:ln w="9525">
            <a:solidFill>
              <a:srgbClr val="EAD9AE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60964" y="3009900"/>
            <a:ext cx="419100" cy="4191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547295" y="3781425"/>
            <a:ext cx="289604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انتظار</a:t>
            </a:r>
            <a:endParaRPr lang="en-US" sz="1725" dirty="0"/>
          </a:p>
        </p:txBody>
      </p:sp>
      <p:sp>
        <p:nvSpPr>
          <p:cNvPr id="26" name="Text 20"/>
          <p:cNvSpPr/>
          <p:nvPr/>
        </p:nvSpPr>
        <p:spPr>
          <a:xfrm>
            <a:off x="4547295" y="4467225"/>
            <a:ext cx="2711753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52"/>
              </a:lnSpc>
              <a:buNone/>
            </a:pPr>
            <a:r>
              <a:rPr lang="en-US" sz="142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الطلب قائمٌ بانتظار قرار المستلم مع تذكيرٍ هادئ.</a:t>
            </a:r>
            <a:endParaRPr lang="en-US" sz="1425" dirty="0"/>
          </a:p>
        </p:txBody>
      </p:sp>
      <p:sp>
        <p:nvSpPr>
          <p:cNvPr id="27" name="Shape 21"/>
          <p:cNvSpPr/>
          <p:nvPr/>
        </p:nvSpPr>
        <p:spPr>
          <a:xfrm>
            <a:off x="6142881" y="5153025"/>
            <a:ext cx="1037183" cy="352425"/>
          </a:xfrm>
          <a:prstGeom prst="roundRect">
            <a:avLst>
              <a:gd name="adj" fmla="val 50000"/>
            </a:avLst>
          </a:prstGeom>
          <a:solidFill>
            <a:srgbClr val="F8F1DF"/>
          </a:solidFill>
          <a:ln/>
        </p:spPr>
      </p:sp>
      <p:sp>
        <p:nvSpPr>
          <p:cNvPr id="28" name="Text 22"/>
          <p:cNvSpPr/>
          <p:nvPr/>
        </p:nvSpPr>
        <p:spPr>
          <a:xfrm>
            <a:off x="6295281" y="5200650"/>
            <a:ext cx="80858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A641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قيد الانتظار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1047899" y="2752725"/>
            <a:ext cx="3070771" cy="5067300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9525">
            <a:solidFill>
              <a:srgbClr val="E7E2D9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80495" y="3009900"/>
            <a:ext cx="419100" cy="4191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266974" y="3781425"/>
            <a:ext cx="28958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انتهاء الصلاحية</a:t>
            </a:r>
            <a:endParaRPr lang="en-US" sz="1725" dirty="0"/>
          </a:p>
        </p:txBody>
      </p:sp>
      <p:sp>
        <p:nvSpPr>
          <p:cNvPr id="32" name="Text 25"/>
          <p:cNvSpPr/>
          <p:nvPr/>
        </p:nvSpPr>
        <p:spPr>
          <a:xfrm>
            <a:off x="1266974" y="4467225"/>
            <a:ext cx="2711599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52"/>
              </a:lnSpc>
              <a:buNone/>
            </a:pPr>
            <a:r>
              <a:rPr lang="en-US" sz="142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تنقضي مهلة الطلب فيُغلق تلقائياً ويُتاح إرساله من جديد.</a:t>
            </a:r>
            <a:endParaRPr lang="en-US" sz="1425" dirty="0"/>
          </a:p>
        </p:txBody>
      </p:sp>
      <p:sp>
        <p:nvSpPr>
          <p:cNvPr id="33" name="Shape 26"/>
          <p:cNvSpPr/>
          <p:nvPr/>
        </p:nvSpPr>
        <p:spPr>
          <a:xfrm>
            <a:off x="3308896" y="5153025"/>
            <a:ext cx="590699" cy="352425"/>
          </a:xfrm>
          <a:prstGeom prst="roundRect">
            <a:avLst>
              <a:gd name="adj" fmla="val 50000"/>
            </a:avLst>
          </a:prstGeom>
          <a:solidFill>
            <a:srgbClr val="EEEBE4"/>
          </a:solidFill>
          <a:ln/>
        </p:spPr>
      </p:sp>
      <p:sp>
        <p:nvSpPr>
          <p:cNvPr id="34" name="Text 27"/>
          <p:cNvSpPr/>
          <p:nvPr/>
        </p:nvSpPr>
        <p:spPr>
          <a:xfrm>
            <a:off x="3461296" y="5200650"/>
            <a:ext cx="36209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منتهٍ</a:t>
            </a:r>
            <a:endParaRPr lang="en-US" sz="1350" dirty="0"/>
          </a:p>
        </p:txBody>
      </p:sp>
      <p:sp>
        <p:nvSpPr>
          <p:cNvPr id="35" name="Shape 28"/>
          <p:cNvSpPr/>
          <p:nvPr/>
        </p:nvSpPr>
        <p:spPr>
          <a:xfrm>
            <a:off x="1047750" y="8086725"/>
            <a:ext cx="16192500" cy="942975"/>
          </a:xfrm>
          <a:prstGeom prst="roundRect">
            <a:avLst>
              <a:gd name="adj" fmla="val 14141"/>
            </a:avLst>
          </a:prstGeom>
          <a:solidFill>
            <a:srgbClr val="EEEBE4"/>
          </a:solidFill>
          <a:ln w="9525">
            <a:solidFill>
              <a:srgbClr val="C9A86A">
                <a:alpha val="32000"/>
              </a:srgbClr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1400175" y="8343900"/>
            <a:ext cx="159734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838"/>
              </a:lnSpc>
              <a:buNone/>
            </a:pPr>
            <a:r>
              <a:rPr lang="en-US" sz="189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«نقل السجلّ الرقمي» </a:t>
            </a:r>
            <a:pPr algn="l" indent="0" marL="0">
              <a:lnSpc>
                <a:spcPct val="122838"/>
              </a:lnSpc>
              <a:buNone/>
            </a:pPr>
            <a:r>
              <a:rPr lang="en-US" sz="1894" dirty="0">
                <a:solidFill>
                  <a:srgbClr val="565E6C"/>
                </a:solidFill>
                <a:highlight>
                  <a:srgbClr val="EEEBE4"/>
                </a:highlight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تبادلٌ توثيقي للسجلّ بين حسابين في كل هذه الحالات — ولا يُعدّ في أيٍّ منها نقلاً قانونياً لملكية الساعة.</a:t>
            </a:r>
            <a:endParaRPr lang="en-US" sz="1894" dirty="0"/>
          </a:p>
        </p:txBody>
      </p:sp>
      <p:sp>
        <p:nvSpPr>
          <p:cNvPr id="37" name="Text 30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73 / 84</a:t>
            </a:r>
            <a:endParaRPr lang="en-US" sz="1800" dirty="0"/>
          </a:p>
        </p:txBody>
      </p:sp>
      <p:sp>
        <p:nvSpPr>
          <p:cNvPr id="38" name="Text 31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TRUST &amp; CLAIMS MATRIX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معنى «موثّق» ومصفوفة الادعاءات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752725"/>
            <a:ext cx="16192500" cy="9334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90650" y="3000375"/>
            <a:ext cx="1597190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«موثّق» تصف السجلّ لا الساعة: </a:t>
            </a:r>
            <a:pPr algn="l" indent="0" marL="0">
              <a:lnSpc>
                <a:spcPct val="120000"/>
              </a:lnSpc>
              <a:buNone/>
            </a:pPr>
            <a:r>
              <a:rPr lang="en-US" sz="19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تعني أن مالكاً أنشأ قيداً رقمياً مؤرّخاً في بروفاتو وأرفق مستنداته — لا حكماً على أصالة الساعة أو حالتها أو ملكيتها القانونية.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2033349" y="3914775"/>
            <a:ext cx="5206901" cy="4495800"/>
          </a:xfrm>
          <a:prstGeom prst="roundRect">
            <a:avLst>
              <a:gd name="adj" fmla="val 3390"/>
            </a:avLst>
          </a:prstGeom>
          <a:solidFill>
            <a:srgbClr val="EBF6F0"/>
          </a:solidFill>
          <a:ln w="9525">
            <a:solidFill>
              <a:srgbClr val="BFE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66724" y="4248150"/>
            <a:ext cx="499416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E7A5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معتمد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1912709" y="4800600"/>
            <a:ext cx="49941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سجلّ رقمي موثّق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912709" y="5257800"/>
            <a:ext cx="49941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نقل السجلّ الرقمي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912709" y="5715000"/>
            <a:ext cx="49941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توثيق وجود سجلٍّ داخل بروفاتو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912709" y="6172200"/>
            <a:ext cx="49941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رقم السجلّ · تاريخ الإصدار · صادر عبر بروفاتو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540550" y="3914775"/>
            <a:ext cx="5207050" cy="4495800"/>
          </a:xfrm>
          <a:prstGeom prst="roundRect">
            <a:avLst>
              <a:gd name="adj" fmla="val 3390"/>
            </a:avLst>
          </a:prstGeom>
          <a:solidFill>
            <a:srgbClr val="FBF4E2"/>
          </a:solidFill>
          <a:ln w="9525">
            <a:solidFill>
              <a:srgbClr val="EAD9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73925" y="4248150"/>
            <a:ext cx="499433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8A641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مشروط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6419895" y="4800600"/>
            <a:ext cx="49943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«موثّق» </a:t>
            </a:r>
            <a:pPr algn="r" indent="0" marL="0">
              <a:lnSpc>
                <a:spcPct val="103333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تُقرن بـ«سجلّ» فقط.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419895" y="5257800"/>
            <a:ext cx="49943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«تحقّق» </a:t>
            </a:r>
            <a:pPr algn="r" indent="0" marL="0">
              <a:lnSpc>
                <a:spcPct val="103333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مطابقة بيانات، لا إثبات أصالة.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419895" y="5715000"/>
            <a:ext cx="49943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«القيمة/السعر» — بيانٌ يُدخله المالك، لا تقييم.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047899" y="3914775"/>
            <a:ext cx="5206901" cy="4495800"/>
          </a:xfrm>
          <a:prstGeom prst="roundRect">
            <a:avLst>
              <a:gd name="adj" fmla="val 3390"/>
            </a:avLst>
          </a:prstGeom>
          <a:solidFill>
            <a:srgbClr val="F8ECEB"/>
          </a:solidFill>
          <a:ln w="9525">
            <a:solidFill>
              <a:srgbClr val="E7C4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81274" y="4248150"/>
            <a:ext cx="499416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A534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ممنوع · مراجعة قانونية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927259" y="4800600"/>
            <a:ext cx="49941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مضمون الأصالة </a:t>
            </a:r>
            <a:pPr algn="r" indent="0" marL="0">
              <a:lnSpc>
                <a:spcPct val="103333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/ Certified Authentic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27259" y="5257800"/>
            <a:ext cx="49941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سند ملكية / نقل قانوني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27259" y="5715000"/>
            <a:ext cx="49941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اعتماد حكومي · فحص · تقييم مالي رسمي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047750" y="8620125"/>
            <a:ext cx="166782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المرجع الكامل مع الإخلاء الرسمي: </a:t>
            </a:r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production/claims-matrix.md </a:t>
            </a:r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البنود الموسومة [مراجعة قانونية] تتطلّب اعتماد مستشارٍ مختص.</a:t>
            </a:r>
            <a:endParaRPr lang="en-US" sz="1894" dirty="0"/>
          </a:p>
        </p:txBody>
      </p:sp>
      <p:sp>
        <p:nvSpPr>
          <p:cNvPr id="24" name="Text 22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74 / 84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MOTION IDENTITY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هوية الحركة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752725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لوحة إصدار الختم — إطارات القصّة</a:t>
            </a:r>
            <a:endParaRPr lang="en-US" sz="1575" dirty="0"/>
          </a:p>
        </p:txBody>
      </p:sp>
      <p:sp>
        <p:nvSpPr>
          <p:cNvPr id="6" name="Shape 4"/>
          <p:cNvSpPr/>
          <p:nvPr/>
        </p:nvSpPr>
        <p:spPr>
          <a:xfrm>
            <a:off x="14138970" y="3190875"/>
            <a:ext cx="3101280" cy="1938189"/>
          </a:xfrm>
          <a:prstGeom prst="roundRect">
            <a:avLst>
              <a:gd name="adj" fmla="val 5897"/>
            </a:avLst>
          </a:prstGeom>
          <a:solidFill>
            <a:srgbClr val="0A111F"/>
          </a:solidFill>
          <a:ln/>
        </p:spPr>
      </p:sp>
      <p:sp>
        <p:nvSpPr>
          <p:cNvPr id="7" name="Text 5"/>
          <p:cNvSpPr/>
          <p:nvPr/>
        </p:nvSpPr>
        <p:spPr>
          <a:xfrm>
            <a:off x="14253270" y="328612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E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883408" y="3656112"/>
            <a:ext cx="1612553" cy="100771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866239" y="3190875"/>
            <a:ext cx="3101280" cy="1938189"/>
          </a:xfrm>
          <a:prstGeom prst="roundRect">
            <a:avLst>
              <a:gd name="adj" fmla="val 5897"/>
            </a:avLst>
          </a:prstGeom>
          <a:solidFill>
            <a:srgbClr val="0A111F"/>
          </a:solidFill>
          <a:ln/>
        </p:spPr>
      </p:sp>
      <p:sp>
        <p:nvSpPr>
          <p:cNvPr id="10" name="Text 7"/>
          <p:cNvSpPr/>
          <p:nvPr/>
        </p:nvSpPr>
        <p:spPr>
          <a:xfrm>
            <a:off x="10980539" y="328612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E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77" y="3656112"/>
            <a:ext cx="1612553" cy="100771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593360" y="3190875"/>
            <a:ext cx="3101429" cy="1938337"/>
          </a:xfrm>
          <a:prstGeom prst="roundRect">
            <a:avLst>
              <a:gd name="adj" fmla="val 5897"/>
            </a:avLst>
          </a:prstGeom>
          <a:solidFill>
            <a:srgbClr val="0A111F"/>
          </a:solidFill>
          <a:ln/>
        </p:spPr>
      </p:sp>
      <p:sp>
        <p:nvSpPr>
          <p:cNvPr id="13" name="Text 9"/>
          <p:cNvSpPr/>
          <p:nvPr/>
        </p:nvSpPr>
        <p:spPr>
          <a:xfrm>
            <a:off x="7707660" y="328612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E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37798" y="3656112"/>
            <a:ext cx="1612702" cy="100786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320629" y="3190875"/>
            <a:ext cx="3101280" cy="1938189"/>
          </a:xfrm>
          <a:prstGeom prst="roundRect">
            <a:avLst>
              <a:gd name="adj" fmla="val 5897"/>
            </a:avLst>
          </a:prstGeom>
          <a:solidFill>
            <a:srgbClr val="0A111F"/>
          </a:solidFill>
          <a:ln/>
        </p:spPr>
      </p:sp>
      <p:sp>
        <p:nvSpPr>
          <p:cNvPr id="16" name="Text 11"/>
          <p:cNvSpPr/>
          <p:nvPr/>
        </p:nvSpPr>
        <p:spPr>
          <a:xfrm>
            <a:off x="4434929" y="328612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E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65068" y="3656112"/>
            <a:ext cx="1612553" cy="100771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047750" y="3190875"/>
            <a:ext cx="3101429" cy="1938337"/>
          </a:xfrm>
          <a:prstGeom prst="roundRect">
            <a:avLst>
              <a:gd name="adj" fmla="val 5897"/>
            </a:avLst>
          </a:prstGeom>
          <a:solidFill>
            <a:srgbClr val="0A111F"/>
          </a:solidFill>
          <a:ln/>
        </p:spPr>
      </p:sp>
      <p:sp>
        <p:nvSpPr>
          <p:cNvPr id="19" name="Text 13"/>
          <p:cNvSpPr/>
          <p:nvPr/>
        </p:nvSpPr>
        <p:spPr>
          <a:xfrm>
            <a:off x="1162050" y="3286125"/>
            <a:ext cx="259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E9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2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92188" y="3656112"/>
            <a:ext cx="1612702" cy="1007864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11969800" y="5357813"/>
            <a:ext cx="5270450" cy="1343025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12217450" y="5567363"/>
            <a:ext cx="52526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المدد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12217450" y="5919788"/>
            <a:ext cx="52526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 150 · base 240 · slow 400ms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12217450" y="6215063"/>
            <a:ext cx="52526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خفوت وانزياح صغير — بلا ارتداد.</a:t>
            </a:r>
            <a:endParaRPr lang="en-US" sz="1425" dirty="0"/>
          </a:p>
        </p:txBody>
      </p:sp>
      <p:sp>
        <p:nvSpPr>
          <p:cNvPr id="25" name="Shape 18"/>
          <p:cNvSpPr/>
          <p:nvPr/>
        </p:nvSpPr>
        <p:spPr>
          <a:xfrm>
            <a:off x="6508849" y="5357813"/>
            <a:ext cx="5270450" cy="1343025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6756499" y="5567363"/>
            <a:ext cx="52526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المنحنى</a:t>
            </a:r>
            <a:endParaRPr lang="en-US" sz="1650" dirty="0"/>
          </a:p>
        </p:txBody>
      </p:sp>
      <p:sp>
        <p:nvSpPr>
          <p:cNvPr id="27" name="Text 20"/>
          <p:cNvSpPr/>
          <p:nvPr/>
        </p:nvSpPr>
        <p:spPr>
          <a:xfrm>
            <a:off x="6756499" y="5919788"/>
            <a:ext cx="52526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cubic-bezier(.4,0,.2,1)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6756499" y="6215063"/>
            <a:ext cx="52526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دخولٌ حازم، خروجٌ ناعم.</a:t>
            </a:r>
            <a:endParaRPr lang="en-US" sz="1425" dirty="0"/>
          </a:p>
        </p:txBody>
      </p:sp>
      <p:sp>
        <p:nvSpPr>
          <p:cNvPr id="29" name="Shape 22"/>
          <p:cNvSpPr/>
          <p:nvPr/>
        </p:nvSpPr>
        <p:spPr>
          <a:xfrm>
            <a:off x="1047750" y="5357813"/>
            <a:ext cx="5270599" cy="1343025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1295400" y="5567363"/>
            <a:ext cx="525282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حركة مخفّضة</a:t>
            </a:r>
            <a:endParaRPr lang="en-US" sz="1650" dirty="0"/>
          </a:p>
        </p:txBody>
      </p:sp>
      <p:sp>
        <p:nvSpPr>
          <p:cNvPr id="31" name="Text 24"/>
          <p:cNvSpPr/>
          <p:nvPr/>
        </p:nvSpPr>
        <p:spPr>
          <a:xfrm>
            <a:off x="1295400" y="5919788"/>
            <a:ext cx="525282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prefers-reduced-motion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1295400" y="6215063"/>
            <a:ext cx="52528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إبقاء الخفوت فقط، إلغاء الإزاحة.</a:t>
            </a:r>
            <a:endParaRPr lang="en-US" sz="1425" dirty="0"/>
          </a:p>
        </p:txBody>
      </p:sp>
      <p:sp>
        <p:nvSpPr>
          <p:cNvPr id="33" name="Text 26"/>
          <p:cNvSpPr/>
          <p:nvPr/>
        </p:nvSpPr>
        <p:spPr>
          <a:xfrm>
            <a:off x="1047750" y="6891338"/>
            <a:ext cx="166782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مجموعات الحركة: الشعار · خطّ السجلّ · عقدة الخطّ الزمني · إصدار الختم · التحميل والنجاح ونقل السجلّ — تُصدَّر كـ Lottie/JSON بمواصفاتٍ موحّدة.</a:t>
            </a:r>
            <a:endParaRPr lang="en-US" sz="1894" dirty="0"/>
          </a:p>
        </p:txBody>
      </p:sp>
      <p:sp>
        <p:nvSpPr>
          <p:cNvPr id="34" name="Text 27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75 / 84</a:t>
            </a:r>
            <a:endParaRPr lang="en-US" sz="1800" dirty="0"/>
          </a:p>
        </p:txBody>
      </p:sp>
      <p:sp>
        <p:nvSpPr>
          <p:cNvPr id="35" name="Text 28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PHOTOGRAPHY &amp; SHOT LIST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اتجاه التصوير وقائمة اللقطات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995249" y="2752725"/>
            <a:ext cx="5245001" cy="2105025"/>
          </a:xfrm>
          <a:prstGeom prst="roundRect">
            <a:avLst>
              <a:gd name="adj" fmla="val 6335"/>
            </a:avLst>
          </a:prstGeom>
          <a:gradFill rotWithShape="1">
            <a:gsLst>
              <a:gs pos="0">
                <a:srgbClr val="3A4658">
                  <a:alpha val="100000"/>
                </a:srgbClr>
              </a:gs>
              <a:gs pos="100000">
                <a:srgbClr val="1B2434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12204799" y="3743325"/>
            <a:ext cx="530849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SHOT 01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204799" y="4000500"/>
            <a:ext cx="530849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تفاصيل الخامة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2204799" y="4391025"/>
            <a:ext cx="530849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>
                    <a:alpha val="82000"/>
                  </a:srgbClr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لقطة ماكرو محايدة للمعدن والجلد — بلا علامةٍ معروفة.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21500" y="2752725"/>
            <a:ext cx="5245150" cy="2105025"/>
          </a:xfrm>
          <a:prstGeom prst="roundRect">
            <a:avLst>
              <a:gd name="adj" fmla="val 6335"/>
            </a:avLst>
          </a:prstGeom>
          <a:gradFill rotWithShape="1">
            <a:gsLst>
              <a:gs pos="0">
                <a:srgbClr val="59627A">
                  <a:alpha val="100000"/>
                </a:srgbClr>
              </a:gs>
              <a:gs pos="100000">
                <a:srgbClr val="20293A">
                  <a:alpha val="100000"/>
                </a:srgbClr>
              </a:gs>
            </a:gsLst>
            <a:path path="circle">
              <a:fillToRect l="40000" t="35000" r="60000" b="65000"/>
            </a:path>
          </a:gradFill>
          <a:ln/>
        </p:spPr>
      </p:sp>
      <p:sp>
        <p:nvSpPr>
          <p:cNvPr id="10" name="Text 8"/>
          <p:cNvSpPr/>
          <p:nvPr/>
        </p:nvSpPr>
        <p:spPr>
          <a:xfrm>
            <a:off x="6731050" y="3743325"/>
            <a:ext cx="530865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SHOT 02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731050" y="4000500"/>
            <a:ext cx="530865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بيئة المقتني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6731050" y="4391025"/>
            <a:ext cx="530865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>
                    <a:alpha val="82000"/>
                  </a:srgbClr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فخامة سعودية معاصرة هادئة — مكتب، مكتبة، ضوءٌ طبيعي.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47899" y="2752725"/>
            <a:ext cx="5245001" cy="2105025"/>
          </a:xfrm>
          <a:prstGeom prst="roundRect">
            <a:avLst>
              <a:gd name="adj" fmla="val 6335"/>
            </a:avLst>
          </a:prstGeom>
          <a:gradFill rotWithShape="1">
            <a:gsLst>
              <a:gs pos="0">
                <a:srgbClr val="2C3A3A">
                  <a:alpha val="100000"/>
                </a:srgbClr>
              </a:gs>
              <a:gs pos="100000">
                <a:srgbClr val="16211F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4" name="Text 12"/>
          <p:cNvSpPr/>
          <p:nvPr/>
        </p:nvSpPr>
        <p:spPr>
          <a:xfrm>
            <a:off x="1257449" y="3743325"/>
            <a:ext cx="530849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SHOT 03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57449" y="4000500"/>
            <a:ext cx="530849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لحظة التوثيق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1257449" y="4391025"/>
            <a:ext cx="530849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>
                    <a:alpha val="82000"/>
                  </a:srgbClr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يدٌ تُدخل سجلاً على الهاتف — تركيزٌ على الفعل.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1995249" y="5086350"/>
            <a:ext cx="5245001" cy="2105025"/>
          </a:xfrm>
          <a:prstGeom prst="roundRect">
            <a:avLst>
              <a:gd name="adj" fmla="val 6335"/>
            </a:avLst>
          </a:prstGeom>
          <a:gradFill rotWithShape="1">
            <a:gsLst>
              <a:gs pos="0">
                <a:srgbClr val="4A4030">
                  <a:alpha val="100000"/>
                </a:srgbClr>
              </a:gs>
              <a:gs pos="100000">
                <a:srgbClr val="241D12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8" name="Text 16"/>
          <p:cNvSpPr/>
          <p:nvPr/>
        </p:nvSpPr>
        <p:spPr>
          <a:xfrm>
            <a:off x="12204799" y="6076950"/>
            <a:ext cx="530849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SHOT 04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204799" y="6334125"/>
            <a:ext cx="530849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تفاصيل أرشيفية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12204799" y="6724650"/>
            <a:ext cx="530849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>
                    <a:alpha val="82000"/>
                  </a:srgbClr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ورقٌ وأختامٌ وخطوطٌ ذهبية مجرّدة.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21500" y="5086350"/>
            <a:ext cx="5245150" cy="2105025"/>
          </a:xfrm>
          <a:prstGeom prst="roundRect">
            <a:avLst>
              <a:gd name="adj" fmla="val 6335"/>
            </a:avLst>
          </a:prstGeom>
          <a:gradFill rotWithShape="1">
            <a:gsLst>
              <a:gs pos="0">
                <a:srgbClr val="59627A">
                  <a:alpha val="100000"/>
                </a:srgbClr>
              </a:gs>
              <a:gs pos="100000">
                <a:srgbClr val="20293A">
                  <a:alpha val="100000"/>
                </a:srgbClr>
              </a:gs>
            </a:gsLst>
            <a:path path="circle">
              <a:fillToRect l="40000" t="35000" r="60000" b="65000"/>
            </a:path>
          </a:gradFill>
          <a:ln/>
        </p:spPr>
      </p:sp>
      <p:sp>
        <p:nvSpPr>
          <p:cNvPr id="22" name="Text 20"/>
          <p:cNvSpPr/>
          <p:nvPr/>
        </p:nvSpPr>
        <p:spPr>
          <a:xfrm>
            <a:off x="6731050" y="6076950"/>
            <a:ext cx="530865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SHOT 05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731050" y="6334125"/>
            <a:ext cx="530865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اليد والمادة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6731050" y="6724650"/>
            <a:ext cx="530865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>
                    <a:alpha val="82000"/>
                  </a:srgbClr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تفاعلٌ لطيف يوازن الدفء والدقة.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47899" y="5086350"/>
            <a:ext cx="5245001" cy="2105025"/>
          </a:xfrm>
          <a:prstGeom prst="roundRect">
            <a:avLst>
              <a:gd name="adj" fmla="val 6335"/>
            </a:avLst>
          </a:prstGeom>
          <a:gradFill rotWithShape="1">
            <a:gsLst>
              <a:gs pos="0">
                <a:srgbClr val="3A4658">
                  <a:alpha val="100000"/>
                </a:srgbClr>
              </a:gs>
              <a:gs pos="100000">
                <a:srgbClr val="1B2434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6" name="Text 24"/>
          <p:cNvSpPr/>
          <p:nvPr/>
        </p:nvSpPr>
        <p:spPr>
          <a:xfrm>
            <a:off x="1257449" y="6076950"/>
            <a:ext cx="530849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SHOT 06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257449" y="6334125"/>
            <a:ext cx="530849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مشاهد الإطلاق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1257449" y="6724650"/>
            <a:ext cx="530849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>
                    <a:alpha val="82000"/>
                  </a:srgbClr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أغلفة البطل والسوشال والمتجر — مساحةٌ للنص العربي.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175813" y="7439025"/>
            <a:ext cx="770248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الإضاءة: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اتجاهية ناعمة، ظلالٌ هادئة، بلا وميضٍ صاخب.</a:t>
            </a:r>
            <a:endParaRPr lang="en-US" sz="2197" dirty="0"/>
          </a:p>
        </p:txBody>
      </p:sp>
      <p:sp>
        <p:nvSpPr>
          <p:cNvPr id="30" name="Text 28"/>
          <p:cNvSpPr/>
          <p:nvPr/>
        </p:nvSpPr>
        <p:spPr>
          <a:xfrm>
            <a:off x="9175813" y="8058150"/>
            <a:ext cx="770248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القصّ والتركيب: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مساحة سالبة سخيّة للنص، أفقٌ ثابت.</a:t>
            </a:r>
            <a:endParaRPr lang="en-US" sz="2197" dirty="0"/>
          </a:p>
        </p:txBody>
      </p:sp>
      <p:sp>
        <p:nvSpPr>
          <p:cNvPr id="31" name="Text 29"/>
          <p:cNvSpPr/>
          <p:nvPr/>
        </p:nvSpPr>
        <p:spPr>
          <a:xfrm>
            <a:off x="812864" y="7439025"/>
            <a:ext cx="770248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المعالجة: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ألوانٌ دافئة خافتة، تباينٌ معتدل.</a:t>
            </a:r>
            <a:endParaRPr lang="en-US" sz="2197" dirty="0"/>
          </a:p>
        </p:txBody>
      </p:sp>
      <p:sp>
        <p:nvSpPr>
          <p:cNvPr id="32" name="Text 30"/>
          <p:cNvSpPr/>
          <p:nvPr/>
        </p:nvSpPr>
        <p:spPr>
          <a:xfrm>
            <a:off x="812864" y="8058150"/>
            <a:ext cx="7702487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494"/>
              </a:lnSpc>
              <a:buNone/>
            </a:pPr>
            <a:r>
              <a:rPr lang="en-US" sz="2197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الحقوق والاستخدام: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تصويرٌ أصلي مرخّص؛ لا ساعاتٍ لعلاماتٍ محميّة. </a:t>
            </a:r>
            <a:pPr algn="r" indent="0" marL="0">
              <a:lnSpc>
                <a:spcPct val="116494"/>
              </a:lnSpc>
              <a:buNone/>
            </a:pPr>
            <a:r>
              <a:rPr lang="en-US" sz="2197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[مراجعة حقوق]</a:t>
            </a:r>
            <a:endParaRPr lang="en-US" sz="2197" dirty="0"/>
          </a:p>
        </p:txBody>
      </p:sp>
      <p:sp>
        <p:nvSpPr>
          <p:cNvPr id="33" name="Text 31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76 / 84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LAUNCH &amp; CONTENT OS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نظام الإطلاق والمحتوى — 90 يوماً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995249" y="2752725"/>
            <a:ext cx="5245001" cy="5095875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300049" y="3038475"/>
            <a:ext cx="50989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86" kern="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DAYS 0–30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300049" y="3400425"/>
            <a:ext cx="509894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التمهيد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166699" y="3905250"/>
            <a:ext cx="4844951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«قريباً» + قائمة انتظار وصفحة هبوط.</a:t>
            </a:r>
            <a:endParaRPr lang="en-US" sz="15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محتوى تثقيفي: ما السجلّ الرقمي؟</a:t>
            </a:r>
            <a:endParaRPr lang="en-US" sz="15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تهيئة حسابات X · LinkedIn · Instagram.</a:t>
            </a:r>
            <a:endParaRPr lang="en-US" sz="15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مجموعة صحفية أولية.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21500" y="2752725"/>
            <a:ext cx="5245150" cy="5095875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26300" y="3038475"/>
            <a:ext cx="509910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86" kern="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DAYS 31–60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6826300" y="3400425"/>
            <a:ext cx="509910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الإطلاق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692950" y="3905250"/>
            <a:ext cx="484510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إعلان الإطلاق + بطاقات المتجرين.</a:t>
            </a:r>
            <a:endParaRPr lang="en-US" sz="15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كاروسيل الميزات وقصص المنتج.</a:t>
            </a:r>
            <a:endParaRPr lang="en-US" sz="15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تسلسل بريدي: ترحيب → أول سجلّ.</a:t>
            </a:r>
            <a:endParaRPr lang="en-US" sz="15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رسائل الخصوصية والثقة.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47899" y="2752725"/>
            <a:ext cx="5245001" cy="5095875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52699" y="3038475"/>
            <a:ext cx="50989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86" kern="0" dirty="0">
                <a:solidFill>
                  <a:srgbClr val="0B70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DAYS 61–90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352699" y="3400425"/>
            <a:ext cx="509894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الترسيخ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19349" y="3905250"/>
            <a:ext cx="4844951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قصص المقتنين وحالات الاستخدام.</a:t>
            </a:r>
            <a:endParaRPr lang="en-US" sz="15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سلسلة «نقل السجلّ» التعليمية.</a:t>
            </a:r>
            <a:endParaRPr lang="en-US" sz="15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أسئلة شائعة ونبرة خدمة العملاء.</a:t>
            </a:r>
            <a:endParaRPr lang="en-US" sz="15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خطّة استجابةٍ للأزمات جاهزة.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3335000" y="8058150"/>
            <a:ext cx="3905250" cy="971550"/>
          </a:xfrm>
          <a:prstGeom prst="roundRect">
            <a:avLst>
              <a:gd name="adj" fmla="val 11765"/>
            </a:avLst>
          </a:prstGeom>
          <a:solidFill>
            <a:srgbClr val="EEEBE4"/>
          </a:solidFill>
          <a:ln w="9525">
            <a:solidFill>
              <a:srgbClr val="E7E2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535025" y="8239125"/>
            <a:ext cx="38557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تثقيف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3535025" y="8591550"/>
            <a:ext cx="38557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فهم السجلّ والأصل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239250" y="8058150"/>
            <a:ext cx="3905250" cy="971550"/>
          </a:xfrm>
          <a:prstGeom prst="roundRect">
            <a:avLst>
              <a:gd name="adj" fmla="val 11765"/>
            </a:avLst>
          </a:prstGeom>
          <a:solidFill>
            <a:srgbClr val="EEEBE4"/>
          </a:solidFill>
          <a:ln w="9525">
            <a:solidFill>
              <a:srgbClr val="E7E2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39275" y="8239125"/>
            <a:ext cx="38557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ثقة وخصوصية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439275" y="8591550"/>
            <a:ext cx="38557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تحكّم المالك ببياناته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143500" y="8058150"/>
            <a:ext cx="3905250" cy="971550"/>
          </a:xfrm>
          <a:prstGeom prst="roundRect">
            <a:avLst>
              <a:gd name="adj" fmla="val 11765"/>
            </a:avLst>
          </a:prstGeom>
          <a:solidFill>
            <a:srgbClr val="EEEBE4"/>
          </a:solidFill>
          <a:ln w="9525">
            <a:solidFill>
              <a:srgbClr val="E7E2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3525" y="8239125"/>
            <a:ext cx="38557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المنتج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5343525" y="8591550"/>
            <a:ext cx="38557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ميزات وتحديثات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047750" y="8058150"/>
            <a:ext cx="3905250" cy="971550"/>
          </a:xfrm>
          <a:prstGeom prst="roundRect">
            <a:avLst>
              <a:gd name="adj" fmla="val 11765"/>
            </a:avLst>
          </a:prstGeom>
          <a:solidFill>
            <a:srgbClr val="EEEBE4"/>
          </a:solidFill>
          <a:ln w="9525">
            <a:solidFill>
              <a:srgbClr val="E7E2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47775" y="8239125"/>
            <a:ext cx="38557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مجتمع الاقتناء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247775" y="8591550"/>
            <a:ext cx="38557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قصصٌ ولقاءات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77 / 84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PRODUCTION PACKAGE &amp; VALIDATION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الأصول والتحقّق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410700" y="2752725"/>
            <a:ext cx="7829550" cy="4143375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721821" y="3057525"/>
            <a:ext cx="237212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أصولٌ حقيقية قابلة للتحرير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772650" y="3505200"/>
            <a:ext cx="73188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assets/icons/ </a:t>
            </a:r>
            <a:pPr algn="l" indent="0" marL="0">
              <a:lnSpc>
                <a:spcPct val="131250"/>
              </a:lnSpc>
              <a:buNone/>
            </a:pPr>
            <a:r>
              <a:rPr lang="en-US" sz="1575" b="1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53 × svg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9772650" y="3848100"/>
            <a:ext cx="73188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assets/ </a:t>
            </a:r>
            <a:pPr algn="l" indent="0" marL="0">
              <a:lnSpc>
                <a:spcPct val="131250"/>
              </a:lnSpc>
              <a:buNone/>
            </a:pPr>
            <a:r>
              <a:rPr lang="en-US" sz="1575" b="1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logos · symbol · app-icon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9772650" y="4191000"/>
            <a:ext cx="73188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production/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9772650" y="4533900"/>
            <a:ext cx="73188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dirty="0">
                <a:solidFill>
                  <a:srgbClr val="565E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tokens.json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9772650" y="4876800"/>
            <a:ext cx="73188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dirty="0">
                <a:solidFill>
                  <a:srgbClr val="565E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provatto.tokens.js </a:t>
            </a:r>
            <a:pPr algn="l" indent="0" marL="0">
              <a:lnSpc>
                <a:spcPct val="131250"/>
              </a:lnSpc>
              <a:buNone/>
            </a:pPr>
            <a:r>
              <a:rPr lang="en-US" sz="1575" dirty="0">
                <a:solidFill>
                  <a:srgbClr val="8A64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React Native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9772650" y="5219700"/>
            <a:ext cx="73188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dirty="0">
                <a:solidFill>
                  <a:srgbClr val="565E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provatto-icons.svg </a:t>
            </a:r>
            <a:pPr algn="l" indent="0" marL="0">
              <a:lnSpc>
                <a:spcPct val="131250"/>
              </a:lnSpc>
              <a:buNone/>
            </a:pPr>
            <a:r>
              <a:rPr lang="en-US" sz="1575" dirty="0">
                <a:solidFill>
                  <a:srgbClr val="8A64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sprite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9772650" y="5562600"/>
            <a:ext cx="73188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dirty="0">
                <a:solidFill>
                  <a:srgbClr val="565E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claims-matrix.md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9772650" y="5905500"/>
            <a:ext cx="73188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dirty="0">
                <a:solidFill>
                  <a:srgbClr val="565E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handoff-README.md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9772650" y="6248400"/>
            <a:ext cx="73188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b="1" dirty="0">
                <a:solidFill>
                  <a:srgbClr val="0A1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deck.css · Provatto Brand Identity.html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1047750" y="2752725"/>
            <a:ext cx="86125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755E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نتائج التحقّق والتصحيحات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8496300" y="320992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BF6F0"/>
          </a:solidFill>
          <a:ln w="9525">
            <a:solidFill>
              <a:srgbClr val="BFE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67725" y="3219450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E7A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05536" y="3209925"/>
            <a:ext cx="367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قراءة العربية وRTL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005536" y="3543300"/>
            <a:ext cx="367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76"/>
              </a:lnSpc>
              <a:buNone/>
            </a:pPr>
            <a:r>
              <a:rPr lang="en-US" sz="142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سليمة؛ الأرقام لاتينية والاتجاه صحيح عبر المنصّات.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8496300" y="39624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BF6F0"/>
          </a:solidFill>
          <a:ln w="9525">
            <a:solidFill>
              <a:srgbClr val="BFE3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67725" y="397192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E7A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0" y="3962400"/>
            <a:ext cx="31432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الشعار والأيقونة صغيراً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486400" y="4295775"/>
            <a:ext cx="3143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76"/>
              </a:lnSpc>
              <a:buNone/>
            </a:pPr>
            <a:r>
              <a:rPr lang="en-US" sz="142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صقلٌ موصى به لسماكة الحلقة دون 32px.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8496300" y="471487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BF6F0"/>
          </a:solidFill>
          <a:ln w="9525">
            <a:solidFill>
              <a:srgbClr val="BFE3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67725" y="4724400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E7A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50432" y="4714875"/>
            <a:ext cx="406281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الوصولية والتباين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4650432" y="5048250"/>
            <a:ext cx="40628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76"/>
              </a:lnSpc>
              <a:buNone/>
            </a:pPr>
            <a:r>
              <a:rPr lang="en-US" sz="142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ألوان النصّ مضبوطة على AA (teal-700 · gold-ink).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8496300" y="54673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BF6F0"/>
          </a:solidFill>
          <a:ln w="9525">
            <a:solidFill>
              <a:srgbClr val="BFE3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67725" y="547687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E7A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838551" y="5467350"/>
            <a:ext cx="38558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فهم «التوثيق لا الأصالة»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4838551" y="5800725"/>
            <a:ext cx="38558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76"/>
              </a:lnSpc>
              <a:buNone/>
            </a:pPr>
            <a:r>
              <a:rPr lang="en-US" sz="1425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تعزيز الإخلاء على البطاقة والوثيقة والختم بعد الاختبار.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78 / 84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524000" y="5905500"/>
            <a:ext cx="5905500" cy="5905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571500" y="3733800"/>
            <a:ext cx="178117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spc="675" kern="0" dirty="0">
                <a:solidFill>
                  <a:srgbClr val="D8BF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— Verified Digital Record Card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047750" y="4295775"/>
            <a:ext cx="17811750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6300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بطاقة السجل الرقمي</a:t>
            </a:r>
            <a:endParaRPr lang="en-US" sz="6300" dirty="0"/>
          </a:p>
        </p:txBody>
      </p:sp>
      <p:sp>
        <p:nvSpPr>
          <p:cNvPr id="5" name="Text 2"/>
          <p:cNvSpPr/>
          <p:nvPr/>
        </p:nvSpPr>
        <p:spPr>
          <a:xfrm>
            <a:off x="1047750" y="5657850"/>
            <a:ext cx="1667827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467"/>
              </a:lnSpc>
              <a:buNone/>
            </a:pPr>
            <a:r>
              <a:rPr lang="en-US" sz="2424" dirty="0">
                <a:solidFill>
                  <a:srgbClr val="8E97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بطاقةٌ معدنية فاخرة تدلّ على وجود سجلٍّ رقمي موثّق — لا إثبات ملكية ولا شهادة أصالة</a:t>
            </a:r>
            <a:endParaRPr lang="en-US" sz="2424" dirty="0"/>
          </a:p>
        </p:txBody>
      </p:sp>
      <p:sp>
        <p:nvSpPr>
          <p:cNvPr id="6" name="Text 3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C66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79 / 84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8E97A8">
                    <a:alpha val="6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CARD FRONT · STUDIO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وجه البطاقة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752725"/>
            <a:ext cx="16192500" cy="5667375"/>
          </a:xfrm>
          <a:prstGeom prst="roundRect">
            <a:avLst>
              <a:gd name="adj" fmla="val 3361"/>
            </a:avLst>
          </a:prstGeom>
          <a:gradFill rotWithShape="1">
            <a:gsLst>
              <a:gs pos="0">
                <a:srgbClr val="FBFAF7">
                  <a:alpha val="100000"/>
                </a:srgbClr>
              </a:gs>
              <a:gs pos="70000">
                <a:srgbClr val="EEEBE4">
                  <a:alpha val="100000"/>
                </a:srgbClr>
              </a:gs>
              <a:gs pos="100000">
                <a:srgbClr val="E6E1D7">
                  <a:alpha val="100000"/>
                </a:srgbClr>
              </a:gs>
            </a:gsLst>
            <a:path path="circle">
              <a:fillToRect l="50000" t="15000" r="50000" b="85000"/>
            </a:path>
          </a:gradFill>
          <a:ln/>
        </p:spPr>
      </p:sp>
      <p:sp>
        <p:nvSpPr>
          <p:cNvPr id="6" name="Shape 4"/>
          <p:cNvSpPr/>
          <p:nvPr/>
        </p:nvSpPr>
        <p:spPr>
          <a:xfrm>
            <a:off x="6286500" y="3783509"/>
            <a:ext cx="5715000" cy="3605659"/>
          </a:xfrm>
          <a:prstGeom prst="roundRect">
            <a:avLst>
              <a:gd name="adj" fmla="val 5283"/>
            </a:avLst>
          </a:prstGeom>
          <a:gradFill rotWithShape="1">
            <a:gsLst>
              <a:gs pos="0">
                <a:srgbClr val="2A2F39">
                  <a:alpha val="100000"/>
                </a:srgbClr>
              </a:gs>
              <a:gs pos="26000">
                <a:srgbClr val="3B434F">
                  <a:alpha val="100000"/>
                </a:srgbClr>
              </a:gs>
              <a:gs pos="52000">
                <a:srgbClr val="2E343E">
                  <a:alpha val="100000"/>
                </a:srgbClr>
              </a:gs>
              <a:gs pos="76000">
                <a:srgbClr val="454E5B">
                  <a:alpha val="100000"/>
                </a:srgbClr>
              </a:gs>
              <a:gs pos="100000">
                <a:srgbClr val="292E37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476250" dist="190500" dir="5400000">
              <a:srgbClr val="0A111F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277475" y="4164509"/>
            <a:ext cx="143541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26" kern="0" dirty="0">
                <a:solidFill>
                  <a:srgbClr val="EEF1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</a:t>
            </a:r>
            <a:pPr algn="l" indent="0" marL="0">
              <a:buNone/>
            </a:pPr>
            <a:r>
              <a:rPr lang="en-US" sz="2550" b="1" spc="26" kern="0" dirty="0">
                <a:solidFill>
                  <a:srgbClr val="3ED0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tto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600" y="4164509"/>
            <a:ext cx="381000" cy="381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1163300" y="4602659"/>
            <a:ext cx="419100" cy="9525"/>
          </a:xfrm>
          <a:prstGeom prst="rect">
            <a:avLst/>
          </a:prstGeom>
          <a:solidFill>
            <a:srgbClr val="C9A86A">
              <a:alpha val="7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705600" y="4707434"/>
            <a:ext cx="536448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EF1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 رقمي موثّق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6705600" y="5250359"/>
            <a:ext cx="53644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C9A8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VERIFIED DIGITAL RECORD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162901" y="6031409"/>
            <a:ext cx="266144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EB6C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رقم السجل · Record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162901" y="6364784"/>
            <a:ext cx="26614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EEF1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#PRV-0482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9162901" y="6879134"/>
            <a:ext cx="249569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C9A86A">
                    <a:alpha val="9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PROOF · PROVENANCE · TRUST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324725" y="5717084"/>
            <a:ext cx="990600" cy="990600"/>
          </a:xfrm>
          <a:prstGeom prst="roundRect">
            <a:avLst>
              <a:gd name="adj" fmla="val 9615"/>
            </a:avLst>
          </a:prstGeom>
          <a:solidFill>
            <a:srgbClr val="EEF1F5"/>
          </a:solidFill>
          <a:ln/>
        </p:spPr>
      </p:sp>
      <p:sp>
        <p:nvSpPr>
          <p:cNvPr id="16" name="Shape 13"/>
          <p:cNvSpPr/>
          <p:nvPr/>
        </p:nvSpPr>
        <p:spPr>
          <a:xfrm>
            <a:off x="8137178" y="5802809"/>
            <a:ext cx="92422" cy="92422"/>
          </a:xfrm>
          <a:prstGeom prst="roundRect">
            <a:avLst>
              <a:gd name="adj" fmla="val 20612"/>
            </a:avLst>
          </a:prstGeom>
          <a:solidFill>
            <a:srgbClr val="232833"/>
          </a:solidFill>
          <a:ln/>
        </p:spPr>
      </p:sp>
      <p:sp>
        <p:nvSpPr>
          <p:cNvPr id="17" name="Shape 14"/>
          <p:cNvSpPr/>
          <p:nvPr/>
        </p:nvSpPr>
        <p:spPr>
          <a:xfrm>
            <a:off x="8016032" y="5802809"/>
            <a:ext cx="92571" cy="92422"/>
          </a:xfrm>
          <a:prstGeom prst="roundRect">
            <a:avLst>
              <a:gd name="adj" fmla="val 20612"/>
            </a:avLst>
          </a:prstGeom>
          <a:solidFill>
            <a:srgbClr val="232833"/>
          </a:solidFill>
          <a:ln/>
        </p:spPr>
      </p:sp>
      <p:sp>
        <p:nvSpPr>
          <p:cNvPr id="18" name="Shape 15"/>
          <p:cNvSpPr/>
          <p:nvPr/>
        </p:nvSpPr>
        <p:spPr>
          <a:xfrm>
            <a:off x="7773888" y="5802809"/>
            <a:ext cx="92422" cy="92422"/>
          </a:xfrm>
          <a:prstGeom prst="roundRect">
            <a:avLst>
              <a:gd name="adj" fmla="val 20612"/>
            </a:avLst>
          </a:prstGeom>
          <a:solidFill>
            <a:srgbClr val="232833"/>
          </a:solidFill>
          <a:ln/>
        </p:spPr>
      </p:sp>
      <p:sp>
        <p:nvSpPr>
          <p:cNvPr id="19" name="Shape 16"/>
          <p:cNvSpPr/>
          <p:nvPr/>
        </p:nvSpPr>
        <p:spPr>
          <a:xfrm>
            <a:off x="7531596" y="5802809"/>
            <a:ext cx="92571" cy="92422"/>
          </a:xfrm>
          <a:prstGeom prst="roundRect">
            <a:avLst>
              <a:gd name="adj" fmla="val 20612"/>
            </a:avLst>
          </a:prstGeom>
          <a:solidFill>
            <a:srgbClr val="232833"/>
          </a:solidFill>
          <a:ln/>
        </p:spPr>
      </p:sp>
      <p:sp>
        <p:nvSpPr>
          <p:cNvPr id="20" name="Shape 17"/>
          <p:cNvSpPr/>
          <p:nvPr/>
        </p:nvSpPr>
        <p:spPr>
          <a:xfrm>
            <a:off x="7410599" y="5802809"/>
            <a:ext cx="92422" cy="92422"/>
          </a:xfrm>
          <a:prstGeom prst="roundRect">
            <a:avLst>
              <a:gd name="adj" fmla="val 20612"/>
            </a:avLst>
          </a:prstGeom>
          <a:solidFill>
            <a:srgbClr val="232833"/>
          </a:solidFill>
          <a:ln/>
        </p:spPr>
      </p:sp>
      <p:sp>
        <p:nvSpPr>
          <p:cNvPr id="21" name="Shape 18"/>
          <p:cNvSpPr/>
          <p:nvPr/>
        </p:nvSpPr>
        <p:spPr>
          <a:xfrm>
            <a:off x="8137178" y="5923806"/>
            <a:ext cx="92422" cy="92571"/>
          </a:xfrm>
          <a:prstGeom prst="roundRect">
            <a:avLst>
              <a:gd name="adj" fmla="val 20612"/>
            </a:avLst>
          </a:prstGeom>
          <a:solidFill>
            <a:srgbClr val="232833"/>
          </a:solidFill>
          <a:ln/>
        </p:spPr>
      </p:sp>
      <p:sp>
        <p:nvSpPr>
          <p:cNvPr id="22" name="Shape 19"/>
          <p:cNvSpPr/>
          <p:nvPr/>
        </p:nvSpPr>
        <p:spPr>
          <a:xfrm>
            <a:off x="7894886" y="5923806"/>
            <a:ext cx="92571" cy="92571"/>
          </a:xfrm>
          <a:prstGeom prst="roundRect">
            <a:avLst>
              <a:gd name="adj" fmla="val 20579"/>
            </a:avLst>
          </a:prstGeom>
          <a:solidFill>
            <a:srgbClr val="232833"/>
          </a:solidFill>
          <a:ln/>
        </p:spPr>
      </p:sp>
      <p:sp>
        <p:nvSpPr>
          <p:cNvPr id="23" name="Shape 20"/>
          <p:cNvSpPr/>
          <p:nvPr/>
        </p:nvSpPr>
        <p:spPr>
          <a:xfrm>
            <a:off x="7652742" y="5923806"/>
            <a:ext cx="92571" cy="92571"/>
          </a:xfrm>
          <a:prstGeom prst="roundRect">
            <a:avLst>
              <a:gd name="adj" fmla="val 20579"/>
            </a:avLst>
          </a:prstGeom>
          <a:solidFill>
            <a:srgbClr val="232833"/>
          </a:solidFill>
          <a:ln/>
        </p:spPr>
      </p:sp>
      <p:sp>
        <p:nvSpPr>
          <p:cNvPr id="24" name="Shape 21"/>
          <p:cNvSpPr/>
          <p:nvPr/>
        </p:nvSpPr>
        <p:spPr>
          <a:xfrm>
            <a:off x="7410599" y="5923806"/>
            <a:ext cx="92422" cy="92571"/>
          </a:xfrm>
          <a:prstGeom prst="roundRect">
            <a:avLst>
              <a:gd name="adj" fmla="val 20612"/>
            </a:avLst>
          </a:prstGeom>
          <a:solidFill>
            <a:srgbClr val="232833"/>
          </a:solidFill>
          <a:ln/>
        </p:spPr>
      </p:sp>
      <p:sp>
        <p:nvSpPr>
          <p:cNvPr id="25" name="Shape 22"/>
          <p:cNvSpPr/>
          <p:nvPr/>
        </p:nvSpPr>
        <p:spPr>
          <a:xfrm>
            <a:off x="8016032" y="6044952"/>
            <a:ext cx="92571" cy="92571"/>
          </a:xfrm>
          <a:prstGeom prst="roundRect">
            <a:avLst>
              <a:gd name="adj" fmla="val 20579"/>
            </a:avLst>
          </a:prstGeom>
          <a:solidFill>
            <a:srgbClr val="232833"/>
          </a:solidFill>
          <a:ln/>
        </p:spPr>
      </p:sp>
      <p:sp>
        <p:nvSpPr>
          <p:cNvPr id="26" name="Shape 23"/>
          <p:cNvSpPr/>
          <p:nvPr/>
        </p:nvSpPr>
        <p:spPr>
          <a:xfrm>
            <a:off x="7894886" y="6044952"/>
            <a:ext cx="92571" cy="92571"/>
          </a:xfrm>
          <a:prstGeom prst="roundRect">
            <a:avLst>
              <a:gd name="adj" fmla="val 20579"/>
            </a:avLst>
          </a:prstGeom>
          <a:solidFill>
            <a:srgbClr val="232833"/>
          </a:solidFill>
          <a:ln/>
        </p:spPr>
      </p:sp>
      <p:sp>
        <p:nvSpPr>
          <p:cNvPr id="27" name="Shape 24"/>
          <p:cNvSpPr/>
          <p:nvPr/>
        </p:nvSpPr>
        <p:spPr>
          <a:xfrm>
            <a:off x="7773888" y="6044952"/>
            <a:ext cx="92422" cy="92571"/>
          </a:xfrm>
          <a:prstGeom prst="roundRect">
            <a:avLst>
              <a:gd name="adj" fmla="val 20612"/>
            </a:avLst>
          </a:prstGeom>
          <a:solidFill>
            <a:srgbClr val="232833"/>
          </a:solidFill>
          <a:ln/>
        </p:spPr>
      </p:sp>
      <p:sp>
        <p:nvSpPr>
          <p:cNvPr id="28" name="Shape 25"/>
          <p:cNvSpPr/>
          <p:nvPr/>
        </p:nvSpPr>
        <p:spPr>
          <a:xfrm>
            <a:off x="7410599" y="6044952"/>
            <a:ext cx="92422" cy="92571"/>
          </a:xfrm>
          <a:prstGeom prst="roundRect">
            <a:avLst>
              <a:gd name="adj" fmla="val 20612"/>
            </a:avLst>
          </a:prstGeom>
          <a:solidFill>
            <a:srgbClr val="232833"/>
          </a:solidFill>
          <a:ln/>
        </p:spPr>
      </p:sp>
      <p:sp>
        <p:nvSpPr>
          <p:cNvPr id="29" name="Shape 26"/>
          <p:cNvSpPr/>
          <p:nvPr/>
        </p:nvSpPr>
        <p:spPr>
          <a:xfrm>
            <a:off x="8137178" y="6166098"/>
            <a:ext cx="92422" cy="92422"/>
          </a:xfrm>
          <a:prstGeom prst="roundRect">
            <a:avLst>
              <a:gd name="adj" fmla="val 20612"/>
            </a:avLst>
          </a:prstGeom>
          <a:solidFill>
            <a:srgbClr val="232833"/>
          </a:solidFill>
          <a:ln/>
        </p:spPr>
      </p:sp>
      <p:sp>
        <p:nvSpPr>
          <p:cNvPr id="30" name="Shape 27"/>
          <p:cNvSpPr/>
          <p:nvPr/>
        </p:nvSpPr>
        <p:spPr>
          <a:xfrm>
            <a:off x="7894886" y="6166098"/>
            <a:ext cx="92571" cy="92422"/>
          </a:xfrm>
          <a:prstGeom prst="roundRect">
            <a:avLst>
              <a:gd name="adj" fmla="val 20612"/>
            </a:avLst>
          </a:prstGeom>
          <a:solidFill>
            <a:srgbClr val="232833"/>
          </a:solidFill>
          <a:ln/>
        </p:spPr>
      </p:sp>
      <p:sp>
        <p:nvSpPr>
          <p:cNvPr id="31" name="Shape 28"/>
          <p:cNvSpPr/>
          <p:nvPr/>
        </p:nvSpPr>
        <p:spPr>
          <a:xfrm>
            <a:off x="7652742" y="6166098"/>
            <a:ext cx="92571" cy="92422"/>
          </a:xfrm>
          <a:prstGeom prst="roundRect">
            <a:avLst>
              <a:gd name="adj" fmla="val 20612"/>
            </a:avLst>
          </a:prstGeom>
          <a:solidFill>
            <a:srgbClr val="232833"/>
          </a:solidFill>
          <a:ln/>
        </p:spPr>
      </p:sp>
      <p:sp>
        <p:nvSpPr>
          <p:cNvPr id="32" name="Shape 29"/>
          <p:cNvSpPr/>
          <p:nvPr/>
        </p:nvSpPr>
        <p:spPr>
          <a:xfrm>
            <a:off x="7531596" y="6166098"/>
            <a:ext cx="92571" cy="92422"/>
          </a:xfrm>
          <a:prstGeom prst="roundRect">
            <a:avLst>
              <a:gd name="adj" fmla="val 20612"/>
            </a:avLst>
          </a:prstGeom>
          <a:solidFill>
            <a:srgbClr val="232833"/>
          </a:solidFill>
          <a:ln/>
        </p:spPr>
      </p:sp>
      <p:sp>
        <p:nvSpPr>
          <p:cNvPr id="33" name="Shape 30"/>
          <p:cNvSpPr/>
          <p:nvPr/>
        </p:nvSpPr>
        <p:spPr>
          <a:xfrm>
            <a:off x="8016032" y="6287095"/>
            <a:ext cx="92571" cy="92571"/>
          </a:xfrm>
          <a:prstGeom prst="roundRect">
            <a:avLst>
              <a:gd name="adj" fmla="val 20579"/>
            </a:avLst>
          </a:prstGeom>
          <a:solidFill>
            <a:srgbClr val="232833"/>
          </a:solidFill>
          <a:ln/>
        </p:spPr>
      </p:sp>
      <p:sp>
        <p:nvSpPr>
          <p:cNvPr id="34" name="Shape 31"/>
          <p:cNvSpPr/>
          <p:nvPr/>
        </p:nvSpPr>
        <p:spPr>
          <a:xfrm>
            <a:off x="7773888" y="6287095"/>
            <a:ext cx="92422" cy="92571"/>
          </a:xfrm>
          <a:prstGeom prst="roundRect">
            <a:avLst>
              <a:gd name="adj" fmla="val 20612"/>
            </a:avLst>
          </a:prstGeom>
          <a:solidFill>
            <a:srgbClr val="232833"/>
          </a:solidFill>
          <a:ln/>
        </p:spPr>
      </p:sp>
      <p:sp>
        <p:nvSpPr>
          <p:cNvPr id="35" name="Shape 32"/>
          <p:cNvSpPr/>
          <p:nvPr/>
        </p:nvSpPr>
        <p:spPr>
          <a:xfrm>
            <a:off x="7531596" y="6287095"/>
            <a:ext cx="92571" cy="92571"/>
          </a:xfrm>
          <a:prstGeom prst="roundRect">
            <a:avLst>
              <a:gd name="adj" fmla="val 20579"/>
            </a:avLst>
          </a:prstGeom>
          <a:solidFill>
            <a:srgbClr val="232833"/>
          </a:solidFill>
          <a:ln/>
        </p:spPr>
      </p:sp>
      <p:sp>
        <p:nvSpPr>
          <p:cNvPr id="36" name="Shape 33"/>
          <p:cNvSpPr/>
          <p:nvPr/>
        </p:nvSpPr>
        <p:spPr>
          <a:xfrm>
            <a:off x="7410599" y="6287095"/>
            <a:ext cx="92422" cy="92571"/>
          </a:xfrm>
          <a:prstGeom prst="roundRect">
            <a:avLst>
              <a:gd name="adj" fmla="val 20612"/>
            </a:avLst>
          </a:prstGeom>
          <a:solidFill>
            <a:srgbClr val="232833"/>
          </a:solidFill>
          <a:ln/>
        </p:spPr>
      </p:sp>
      <p:sp>
        <p:nvSpPr>
          <p:cNvPr id="37" name="Shape 34"/>
          <p:cNvSpPr/>
          <p:nvPr/>
        </p:nvSpPr>
        <p:spPr>
          <a:xfrm>
            <a:off x="8137178" y="6408241"/>
            <a:ext cx="92422" cy="92571"/>
          </a:xfrm>
          <a:prstGeom prst="roundRect">
            <a:avLst>
              <a:gd name="adj" fmla="val 20612"/>
            </a:avLst>
          </a:prstGeom>
          <a:solidFill>
            <a:srgbClr val="232833"/>
          </a:solidFill>
          <a:ln/>
        </p:spPr>
      </p:sp>
      <p:sp>
        <p:nvSpPr>
          <p:cNvPr id="38" name="Shape 35"/>
          <p:cNvSpPr/>
          <p:nvPr/>
        </p:nvSpPr>
        <p:spPr>
          <a:xfrm>
            <a:off x="8016032" y="6408241"/>
            <a:ext cx="92571" cy="92571"/>
          </a:xfrm>
          <a:prstGeom prst="roundRect">
            <a:avLst>
              <a:gd name="adj" fmla="val 20579"/>
            </a:avLst>
          </a:prstGeom>
          <a:solidFill>
            <a:srgbClr val="232833"/>
          </a:solidFill>
          <a:ln/>
        </p:spPr>
      </p:sp>
      <p:sp>
        <p:nvSpPr>
          <p:cNvPr id="39" name="Shape 36"/>
          <p:cNvSpPr/>
          <p:nvPr/>
        </p:nvSpPr>
        <p:spPr>
          <a:xfrm>
            <a:off x="7652742" y="6408241"/>
            <a:ext cx="92571" cy="92571"/>
          </a:xfrm>
          <a:prstGeom prst="roundRect">
            <a:avLst>
              <a:gd name="adj" fmla="val 20579"/>
            </a:avLst>
          </a:prstGeom>
          <a:solidFill>
            <a:srgbClr val="232833"/>
          </a:solidFill>
          <a:ln/>
        </p:spPr>
      </p:sp>
      <p:sp>
        <p:nvSpPr>
          <p:cNvPr id="40" name="Shape 37"/>
          <p:cNvSpPr/>
          <p:nvPr/>
        </p:nvSpPr>
        <p:spPr>
          <a:xfrm>
            <a:off x="7410599" y="6408241"/>
            <a:ext cx="92422" cy="92571"/>
          </a:xfrm>
          <a:prstGeom prst="roundRect">
            <a:avLst>
              <a:gd name="adj" fmla="val 20612"/>
            </a:avLst>
          </a:prstGeom>
          <a:solidFill>
            <a:srgbClr val="232833"/>
          </a:solidFill>
          <a:ln/>
        </p:spPr>
      </p:sp>
      <p:sp>
        <p:nvSpPr>
          <p:cNvPr id="41" name="Shape 38"/>
          <p:cNvSpPr/>
          <p:nvPr/>
        </p:nvSpPr>
        <p:spPr>
          <a:xfrm>
            <a:off x="8137178" y="6529388"/>
            <a:ext cx="92422" cy="92422"/>
          </a:xfrm>
          <a:prstGeom prst="roundRect">
            <a:avLst>
              <a:gd name="adj" fmla="val 20612"/>
            </a:avLst>
          </a:prstGeom>
          <a:solidFill>
            <a:srgbClr val="232833"/>
          </a:solidFill>
          <a:ln/>
        </p:spPr>
      </p:sp>
      <p:sp>
        <p:nvSpPr>
          <p:cNvPr id="42" name="Shape 39"/>
          <p:cNvSpPr/>
          <p:nvPr/>
        </p:nvSpPr>
        <p:spPr>
          <a:xfrm>
            <a:off x="7894886" y="6529388"/>
            <a:ext cx="92571" cy="92422"/>
          </a:xfrm>
          <a:prstGeom prst="roundRect">
            <a:avLst>
              <a:gd name="adj" fmla="val 20612"/>
            </a:avLst>
          </a:prstGeom>
          <a:solidFill>
            <a:srgbClr val="232833"/>
          </a:solidFill>
          <a:ln/>
        </p:spPr>
      </p:sp>
      <p:sp>
        <p:nvSpPr>
          <p:cNvPr id="43" name="Shape 40"/>
          <p:cNvSpPr/>
          <p:nvPr/>
        </p:nvSpPr>
        <p:spPr>
          <a:xfrm>
            <a:off x="7773888" y="6529388"/>
            <a:ext cx="92422" cy="92422"/>
          </a:xfrm>
          <a:prstGeom prst="roundRect">
            <a:avLst>
              <a:gd name="adj" fmla="val 20612"/>
            </a:avLst>
          </a:prstGeom>
          <a:solidFill>
            <a:srgbClr val="232833"/>
          </a:solidFill>
          <a:ln/>
        </p:spPr>
      </p:sp>
      <p:sp>
        <p:nvSpPr>
          <p:cNvPr id="44" name="Shape 41"/>
          <p:cNvSpPr/>
          <p:nvPr/>
        </p:nvSpPr>
        <p:spPr>
          <a:xfrm>
            <a:off x="7531596" y="6529388"/>
            <a:ext cx="92571" cy="92422"/>
          </a:xfrm>
          <a:prstGeom prst="roundRect">
            <a:avLst>
              <a:gd name="adj" fmla="val 20612"/>
            </a:avLst>
          </a:prstGeom>
          <a:solidFill>
            <a:srgbClr val="232833"/>
          </a:solidFill>
          <a:ln/>
        </p:spPr>
      </p:sp>
      <p:sp>
        <p:nvSpPr>
          <p:cNvPr id="45" name="Shape 42"/>
          <p:cNvSpPr/>
          <p:nvPr/>
        </p:nvSpPr>
        <p:spPr>
          <a:xfrm>
            <a:off x="7410599" y="6529388"/>
            <a:ext cx="92422" cy="92422"/>
          </a:xfrm>
          <a:prstGeom prst="roundRect">
            <a:avLst>
              <a:gd name="adj" fmla="val 20612"/>
            </a:avLst>
          </a:prstGeom>
          <a:solidFill>
            <a:srgbClr val="232833"/>
          </a:solidFill>
          <a:ln/>
        </p:spPr>
      </p:sp>
      <p:sp>
        <p:nvSpPr>
          <p:cNvPr id="46" name="Text 43"/>
          <p:cNvSpPr/>
          <p:nvPr/>
        </p:nvSpPr>
        <p:spPr>
          <a:xfrm>
            <a:off x="6705600" y="6783884"/>
            <a:ext cx="230490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EB6C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امسح لعرض السجل · Scan to view record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4349456" y="8629650"/>
            <a:ext cx="958908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معدنٌ مصقول مطفأ اللمعان بإطارٍ شعري ذهبي — نقشٌ غائر للكلمة والعلامة، وطباعةٌ دقيقة للسجل والرمز.</a:t>
            </a:r>
            <a:endParaRPr lang="en-US" sz="1894" dirty="0"/>
          </a:p>
        </p:txBody>
      </p:sp>
      <p:sp>
        <p:nvSpPr>
          <p:cNvPr id="48" name="Text 45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80 / 84</a:t>
            </a:r>
            <a:endParaRPr lang="en-US" sz="1800" dirty="0"/>
          </a:p>
        </p:txBody>
      </p:sp>
      <p:sp>
        <p:nvSpPr>
          <p:cNvPr id="49" name="Text 46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CONTEXT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البطاقة بجانب الساعة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752725"/>
            <a:ext cx="16192500" cy="5667375"/>
          </a:xfrm>
          <a:prstGeom prst="roundRect">
            <a:avLst>
              <a:gd name="adj" fmla="val 3361"/>
            </a:avLst>
          </a:prstGeom>
          <a:gradFill rotWithShape="1">
            <a:gsLst>
              <a:gs pos="0">
                <a:srgbClr val="FBFAF7">
                  <a:alpha val="100000"/>
                </a:srgbClr>
              </a:gs>
              <a:gs pos="70000">
                <a:srgbClr val="EEEBE4">
                  <a:alpha val="100000"/>
                </a:srgbClr>
              </a:gs>
              <a:gs pos="100000">
                <a:srgbClr val="E6E1D7">
                  <a:alpha val="100000"/>
                </a:srgbClr>
              </a:gs>
            </a:gsLst>
            <a:path path="circle">
              <a:fillToRect l="50000" t="15000" r="50000" b="85000"/>
            </a:path>
          </a:gradFill>
          <a:ln/>
        </p:spPr>
      </p:sp>
      <p:sp>
        <p:nvSpPr>
          <p:cNvPr id="6" name="Shape 4"/>
          <p:cNvSpPr/>
          <p:nvPr/>
        </p:nvSpPr>
        <p:spPr>
          <a:xfrm>
            <a:off x="10220325" y="4538663"/>
            <a:ext cx="2857500" cy="2095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6233C">
                  <a:alpha val="100000"/>
                </a:srgbClr>
              </a:gs>
              <a:gs pos="100000">
                <a:srgbClr val="0C1526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438150" dist="228600" dir="5400000">
              <a:srgbClr val="0A111F">
                <a:alpha val="3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4700" y="4729163"/>
            <a:ext cx="1428750" cy="17145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210175" y="4174182"/>
            <a:ext cx="4476750" cy="2824311"/>
          </a:xfrm>
          <a:prstGeom prst="roundRect">
            <a:avLst>
              <a:gd name="adj" fmla="val 6745"/>
            </a:avLst>
          </a:prstGeom>
          <a:gradFill rotWithShape="1">
            <a:gsLst>
              <a:gs pos="0">
                <a:srgbClr val="2A2F39">
                  <a:alpha val="100000"/>
                </a:srgbClr>
              </a:gs>
              <a:gs pos="26000">
                <a:srgbClr val="3B434F">
                  <a:alpha val="100000"/>
                </a:srgbClr>
              </a:gs>
              <a:gs pos="52000">
                <a:srgbClr val="2E343E">
                  <a:alpha val="100000"/>
                </a:srgbClr>
              </a:gs>
              <a:gs pos="76000">
                <a:srgbClr val="454E5B">
                  <a:alpha val="100000"/>
                </a:srgbClr>
              </a:gs>
              <a:gs pos="100000">
                <a:srgbClr val="292E37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476250" dist="190500" dir="5400000">
              <a:srgbClr val="0A111F">
                <a:alpha val="4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93286" y="4555182"/>
            <a:ext cx="115073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" kern="0" dirty="0">
                <a:solidFill>
                  <a:srgbClr val="EEF1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</a:t>
            </a:r>
            <a:pPr algn="l" indent="0" marL="0">
              <a:buNone/>
            </a:pPr>
            <a:r>
              <a:rPr lang="en-US" sz="2100" b="1" spc="21" kern="0" dirty="0">
                <a:solidFill>
                  <a:srgbClr val="3ED0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tto</a:t>
            </a:r>
            <a:endParaRPr lang="en-US" sz="2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275" y="4555182"/>
            <a:ext cx="323850" cy="3238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848725" y="4926657"/>
            <a:ext cx="419100" cy="9525"/>
          </a:xfrm>
          <a:prstGeom prst="rect">
            <a:avLst/>
          </a:prstGeom>
          <a:solidFill>
            <a:srgbClr val="C9A86A">
              <a:alpha val="7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5629275" y="5031432"/>
            <a:ext cx="400240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EF1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 رقمي موثّق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5629275" y="5488632"/>
            <a:ext cx="400240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C9A8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VERIFIED DIGITAL RECORD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800106" y="5936307"/>
            <a:ext cx="271449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EB6C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رقم السجل · Record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800106" y="6269682"/>
            <a:ext cx="271449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69" kern="0" dirty="0">
                <a:solidFill>
                  <a:srgbClr val="EEF1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#PRV-0482</a:t>
            </a:r>
            <a:endParaRPr lang="en-US" sz="1725" dirty="0"/>
          </a:p>
        </p:txBody>
      </p:sp>
      <p:sp>
        <p:nvSpPr>
          <p:cNvPr id="16" name="Text 12"/>
          <p:cNvSpPr/>
          <p:nvPr/>
        </p:nvSpPr>
        <p:spPr>
          <a:xfrm>
            <a:off x="6800106" y="6745932"/>
            <a:ext cx="271449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C9A86A">
                    <a:alpha val="9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PROOF · PROVENANCE · TRUST</a:t>
            </a:r>
            <a:endParaRPr lang="en-US" sz="975" dirty="0"/>
          </a:p>
        </p:txBody>
      </p:sp>
      <p:sp>
        <p:nvSpPr>
          <p:cNvPr id="17" name="Shape 13"/>
          <p:cNvSpPr/>
          <p:nvPr/>
        </p:nvSpPr>
        <p:spPr>
          <a:xfrm>
            <a:off x="5629275" y="6107757"/>
            <a:ext cx="800100" cy="800100"/>
          </a:xfrm>
          <a:prstGeom prst="roundRect">
            <a:avLst>
              <a:gd name="adj" fmla="val 11905"/>
            </a:avLst>
          </a:prstGeom>
          <a:solidFill>
            <a:srgbClr val="EEF1F5"/>
          </a:solidFill>
          <a:ln/>
        </p:spPr>
      </p:sp>
      <p:sp>
        <p:nvSpPr>
          <p:cNvPr id="18" name="Shape 14"/>
          <p:cNvSpPr/>
          <p:nvPr/>
        </p:nvSpPr>
        <p:spPr>
          <a:xfrm>
            <a:off x="6278463" y="6193482"/>
            <a:ext cx="65187" cy="65187"/>
          </a:xfrm>
          <a:prstGeom prst="roundRect">
            <a:avLst>
              <a:gd name="adj" fmla="val 29224"/>
            </a:avLst>
          </a:prstGeom>
          <a:solidFill>
            <a:srgbClr val="232833"/>
          </a:solidFill>
          <a:ln/>
        </p:spPr>
      </p:sp>
      <p:sp>
        <p:nvSpPr>
          <p:cNvPr id="19" name="Shape 15"/>
          <p:cNvSpPr/>
          <p:nvPr/>
        </p:nvSpPr>
        <p:spPr>
          <a:xfrm>
            <a:off x="6184553" y="6193482"/>
            <a:ext cx="65336" cy="65187"/>
          </a:xfrm>
          <a:prstGeom prst="roundRect">
            <a:avLst>
              <a:gd name="adj" fmla="val 29224"/>
            </a:avLst>
          </a:prstGeom>
          <a:solidFill>
            <a:srgbClr val="232833"/>
          </a:solidFill>
          <a:ln/>
        </p:spPr>
      </p:sp>
      <p:sp>
        <p:nvSpPr>
          <p:cNvPr id="20" name="Shape 16"/>
          <p:cNvSpPr/>
          <p:nvPr/>
        </p:nvSpPr>
        <p:spPr>
          <a:xfrm>
            <a:off x="5996732" y="6193482"/>
            <a:ext cx="65336" cy="65187"/>
          </a:xfrm>
          <a:prstGeom prst="roundRect">
            <a:avLst>
              <a:gd name="adj" fmla="val 29224"/>
            </a:avLst>
          </a:prstGeom>
          <a:solidFill>
            <a:srgbClr val="232833"/>
          </a:solidFill>
          <a:ln/>
        </p:spPr>
      </p:sp>
      <p:sp>
        <p:nvSpPr>
          <p:cNvPr id="21" name="Shape 17"/>
          <p:cNvSpPr/>
          <p:nvPr/>
        </p:nvSpPr>
        <p:spPr>
          <a:xfrm>
            <a:off x="5808911" y="6193482"/>
            <a:ext cx="65336" cy="65187"/>
          </a:xfrm>
          <a:prstGeom prst="roundRect">
            <a:avLst>
              <a:gd name="adj" fmla="val 29224"/>
            </a:avLst>
          </a:prstGeom>
          <a:solidFill>
            <a:srgbClr val="232833"/>
          </a:solidFill>
          <a:ln/>
        </p:spPr>
      </p:sp>
      <p:sp>
        <p:nvSpPr>
          <p:cNvPr id="22" name="Shape 18"/>
          <p:cNvSpPr/>
          <p:nvPr/>
        </p:nvSpPr>
        <p:spPr>
          <a:xfrm>
            <a:off x="5715149" y="6193482"/>
            <a:ext cx="65187" cy="65187"/>
          </a:xfrm>
          <a:prstGeom prst="roundRect">
            <a:avLst>
              <a:gd name="adj" fmla="val 29224"/>
            </a:avLst>
          </a:prstGeom>
          <a:solidFill>
            <a:srgbClr val="232833"/>
          </a:solidFill>
          <a:ln/>
        </p:spPr>
      </p:sp>
      <p:sp>
        <p:nvSpPr>
          <p:cNvPr id="23" name="Shape 19"/>
          <p:cNvSpPr/>
          <p:nvPr/>
        </p:nvSpPr>
        <p:spPr>
          <a:xfrm>
            <a:off x="6278463" y="6287244"/>
            <a:ext cx="65187" cy="65336"/>
          </a:xfrm>
          <a:prstGeom prst="roundRect">
            <a:avLst>
              <a:gd name="adj" fmla="val 29224"/>
            </a:avLst>
          </a:prstGeom>
          <a:solidFill>
            <a:srgbClr val="232833"/>
          </a:solidFill>
          <a:ln/>
        </p:spPr>
      </p:sp>
      <p:sp>
        <p:nvSpPr>
          <p:cNvPr id="24" name="Shape 20"/>
          <p:cNvSpPr/>
          <p:nvPr/>
        </p:nvSpPr>
        <p:spPr>
          <a:xfrm>
            <a:off x="6090642" y="6287244"/>
            <a:ext cx="65336" cy="65336"/>
          </a:xfrm>
          <a:prstGeom prst="roundRect">
            <a:avLst>
              <a:gd name="adj" fmla="val 29157"/>
            </a:avLst>
          </a:prstGeom>
          <a:solidFill>
            <a:srgbClr val="232833"/>
          </a:solidFill>
          <a:ln/>
        </p:spPr>
      </p:sp>
      <p:sp>
        <p:nvSpPr>
          <p:cNvPr id="25" name="Shape 21"/>
          <p:cNvSpPr/>
          <p:nvPr/>
        </p:nvSpPr>
        <p:spPr>
          <a:xfrm>
            <a:off x="5902821" y="6287244"/>
            <a:ext cx="65336" cy="65336"/>
          </a:xfrm>
          <a:prstGeom prst="roundRect">
            <a:avLst>
              <a:gd name="adj" fmla="val 29157"/>
            </a:avLst>
          </a:prstGeom>
          <a:solidFill>
            <a:srgbClr val="232833"/>
          </a:solidFill>
          <a:ln/>
        </p:spPr>
      </p:sp>
      <p:sp>
        <p:nvSpPr>
          <p:cNvPr id="26" name="Shape 22"/>
          <p:cNvSpPr/>
          <p:nvPr/>
        </p:nvSpPr>
        <p:spPr>
          <a:xfrm>
            <a:off x="5715149" y="6287244"/>
            <a:ext cx="65187" cy="65336"/>
          </a:xfrm>
          <a:prstGeom prst="roundRect">
            <a:avLst>
              <a:gd name="adj" fmla="val 29224"/>
            </a:avLst>
          </a:prstGeom>
          <a:solidFill>
            <a:srgbClr val="232833"/>
          </a:solidFill>
          <a:ln/>
        </p:spPr>
      </p:sp>
      <p:sp>
        <p:nvSpPr>
          <p:cNvPr id="27" name="Shape 23"/>
          <p:cNvSpPr/>
          <p:nvPr/>
        </p:nvSpPr>
        <p:spPr>
          <a:xfrm>
            <a:off x="6184553" y="6381155"/>
            <a:ext cx="65336" cy="65336"/>
          </a:xfrm>
          <a:prstGeom prst="roundRect">
            <a:avLst>
              <a:gd name="adj" fmla="val 29157"/>
            </a:avLst>
          </a:prstGeom>
          <a:solidFill>
            <a:srgbClr val="232833"/>
          </a:solidFill>
          <a:ln/>
        </p:spPr>
      </p:sp>
      <p:sp>
        <p:nvSpPr>
          <p:cNvPr id="28" name="Shape 24"/>
          <p:cNvSpPr/>
          <p:nvPr/>
        </p:nvSpPr>
        <p:spPr>
          <a:xfrm>
            <a:off x="6090642" y="6381155"/>
            <a:ext cx="65336" cy="65336"/>
          </a:xfrm>
          <a:prstGeom prst="roundRect">
            <a:avLst>
              <a:gd name="adj" fmla="val 29157"/>
            </a:avLst>
          </a:prstGeom>
          <a:solidFill>
            <a:srgbClr val="232833"/>
          </a:solidFill>
          <a:ln/>
        </p:spPr>
      </p:sp>
      <p:sp>
        <p:nvSpPr>
          <p:cNvPr id="29" name="Shape 25"/>
          <p:cNvSpPr/>
          <p:nvPr/>
        </p:nvSpPr>
        <p:spPr>
          <a:xfrm>
            <a:off x="5996732" y="6381155"/>
            <a:ext cx="65336" cy="65336"/>
          </a:xfrm>
          <a:prstGeom prst="roundRect">
            <a:avLst>
              <a:gd name="adj" fmla="val 29157"/>
            </a:avLst>
          </a:prstGeom>
          <a:solidFill>
            <a:srgbClr val="232833"/>
          </a:solidFill>
          <a:ln/>
        </p:spPr>
      </p:sp>
      <p:sp>
        <p:nvSpPr>
          <p:cNvPr id="30" name="Shape 26"/>
          <p:cNvSpPr/>
          <p:nvPr/>
        </p:nvSpPr>
        <p:spPr>
          <a:xfrm>
            <a:off x="5715149" y="6381155"/>
            <a:ext cx="65187" cy="65336"/>
          </a:xfrm>
          <a:prstGeom prst="roundRect">
            <a:avLst>
              <a:gd name="adj" fmla="val 29224"/>
            </a:avLst>
          </a:prstGeom>
          <a:solidFill>
            <a:srgbClr val="232833"/>
          </a:solidFill>
          <a:ln/>
        </p:spPr>
      </p:sp>
      <p:sp>
        <p:nvSpPr>
          <p:cNvPr id="31" name="Shape 27"/>
          <p:cNvSpPr/>
          <p:nvPr/>
        </p:nvSpPr>
        <p:spPr>
          <a:xfrm>
            <a:off x="6278463" y="6475065"/>
            <a:ext cx="65187" cy="65336"/>
          </a:xfrm>
          <a:prstGeom prst="roundRect">
            <a:avLst>
              <a:gd name="adj" fmla="val 29224"/>
            </a:avLst>
          </a:prstGeom>
          <a:solidFill>
            <a:srgbClr val="232833"/>
          </a:solidFill>
          <a:ln/>
        </p:spPr>
      </p:sp>
      <p:sp>
        <p:nvSpPr>
          <p:cNvPr id="32" name="Shape 28"/>
          <p:cNvSpPr/>
          <p:nvPr/>
        </p:nvSpPr>
        <p:spPr>
          <a:xfrm>
            <a:off x="6090642" y="6475065"/>
            <a:ext cx="65336" cy="65336"/>
          </a:xfrm>
          <a:prstGeom prst="roundRect">
            <a:avLst>
              <a:gd name="adj" fmla="val 29157"/>
            </a:avLst>
          </a:prstGeom>
          <a:solidFill>
            <a:srgbClr val="232833"/>
          </a:solidFill>
          <a:ln/>
        </p:spPr>
      </p:sp>
      <p:sp>
        <p:nvSpPr>
          <p:cNvPr id="33" name="Shape 29"/>
          <p:cNvSpPr/>
          <p:nvPr/>
        </p:nvSpPr>
        <p:spPr>
          <a:xfrm>
            <a:off x="5902821" y="6475065"/>
            <a:ext cx="65336" cy="65336"/>
          </a:xfrm>
          <a:prstGeom prst="roundRect">
            <a:avLst>
              <a:gd name="adj" fmla="val 29157"/>
            </a:avLst>
          </a:prstGeom>
          <a:solidFill>
            <a:srgbClr val="232833"/>
          </a:solidFill>
          <a:ln/>
        </p:spPr>
      </p:sp>
      <p:sp>
        <p:nvSpPr>
          <p:cNvPr id="34" name="Shape 30"/>
          <p:cNvSpPr/>
          <p:nvPr/>
        </p:nvSpPr>
        <p:spPr>
          <a:xfrm>
            <a:off x="5808911" y="6475065"/>
            <a:ext cx="65336" cy="65336"/>
          </a:xfrm>
          <a:prstGeom prst="roundRect">
            <a:avLst>
              <a:gd name="adj" fmla="val 29157"/>
            </a:avLst>
          </a:prstGeom>
          <a:solidFill>
            <a:srgbClr val="232833"/>
          </a:solidFill>
          <a:ln/>
        </p:spPr>
      </p:sp>
      <p:sp>
        <p:nvSpPr>
          <p:cNvPr id="35" name="Shape 31"/>
          <p:cNvSpPr/>
          <p:nvPr/>
        </p:nvSpPr>
        <p:spPr>
          <a:xfrm>
            <a:off x="6184553" y="6568976"/>
            <a:ext cx="65336" cy="65336"/>
          </a:xfrm>
          <a:prstGeom prst="roundRect">
            <a:avLst>
              <a:gd name="adj" fmla="val 29157"/>
            </a:avLst>
          </a:prstGeom>
          <a:solidFill>
            <a:srgbClr val="232833"/>
          </a:solidFill>
          <a:ln/>
        </p:spPr>
      </p:sp>
      <p:sp>
        <p:nvSpPr>
          <p:cNvPr id="36" name="Shape 32"/>
          <p:cNvSpPr/>
          <p:nvPr/>
        </p:nvSpPr>
        <p:spPr>
          <a:xfrm>
            <a:off x="5996732" y="6568976"/>
            <a:ext cx="65336" cy="65336"/>
          </a:xfrm>
          <a:prstGeom prst="roundRect">
            <a:avLst>
              <a:gd name="adj" fmla="val 29157"/>
            </a:avLst>
          </a:prstGeom>
          <a:solidFill>
            <a:srgbClr val="232833"/>
          </a:solidFill>
          <a:ln/>
        </p:spPr>
      </p:sp>
      <p:sp>
        <p:nvSpPr>
          <p:cNvPr id="37" name="Shape 33"/>
          <p:cNvSpPr/>
          <p:nvPr/>
        </p:nvSpPr>
        <p:spPr>
          <a:xfrm>
            <a:off x="5808911" y="6568976"/>
            <a:ext cx="65336" cy="65336"/>
          </a:xfrm>
          <a:prstGeom prst="roundRect">
            <a:avLst>
              <a:gd name="adj" fmla="val 29157"/>
            </a:avLst>
          </a:prstGeom>
          <a:solidFill>
            <a:srgbClr val="232833"/>
          </a:solidFill>
          <a:ln/>
        </p:spPr>
      </p:sp>
      <p:sp>
        <p:nvSpPr>
          <p:cNvPr id="38" name="Shape 34"/>
          <p:cNvSpPr/>
          <p:nvPr/>
        </p:nvSpPr>
        <p:spPr>
          <a:xfrm>
            <a:off x="5715149" y="6568976"/>
            <a:ext cx="65187" cy="65336"/>
          </a:xfrm>
          <a:prstGeom prst="roundRect">
            <a:avLst>
              <a:gd name="adj" fmla="val 29224"/>
            </a:avLst>
          </a:prstGeom>
          <a:solidFill>
            <a:srgbClr val="232833"/>
          </a:solidFill>
          <a:ln/>
        </p:spPr>
      </p:sp>
      <p:sp>
        <p:nvSpPr>
          <p:cNvPr id="39" name="Shape 35"/>
          <p:cNvSpPr/>
          <p:nvPr/>
        </p:nvSpPr>
        <p:spPr>
          <a:xfrm>
            <a:off x="6278463" y="6662886"/>
            <a:ext cx="65187" cy="65336"/>
          </a:xfrm>
          <a:prstGeom prst="roundRect">
            <a:avLst>
              <a:gd name="adj" fmla="val 29224"/>
            </a:avLst>
          </a:prstGeom>
          <a:solidFill>
            <a:srgbClr val="232833"/>
          </a:solidFill>
          <a:ln/>
        </p:spPr>
      </p:sp>
      <p:sp>
        <p:nvSpPr>
          <p:cNvPr id="40" name="Shape 36"/>
          <p:cNvSpPr/>
          <p:nvPr/>
        </p:nvSpPr>
        <p:spPr>
          <a:xfrm>
            <a:off x="6184553" y="6662886"/>
            <a:ext cx="65336" cy="65336"/>
          </a:xfrm>
          <a:prstGeom prst="roundRect">
            <a:avLst>
              <a:gd name="adj" fmla="val 29157"/>
            </a:avLst>
          </a:prstGeom>
          <a:solidFill>
            <a:srgbClr val="232833"/>
          </a:solidFill>
          <a:ln/>
        </p:spPr>
      </p:sp>
      <p:sp>
        <p:nvSpPr>
          <p:cNvPr id="41" name="Shape 37"/>
          <p:cNvSpPr/>
          <p:nvPr/>
        </p:nvSpPr>
        <p:spPr>
          <a:xfrm>
            <a:off x="5902821" y="6662886"/>
            <a:ext cx="65336" cy="65336"/>
          </a:xfrm>
          <a:prstGeom prst="roundRect">
            <a:avLst>
              <a:gd name="adj" fmla="val 29157"/>
            </a:avLst>
          </a:prstGeom>
          <a:solidFill>
            <a:srgbClr val="232833"/>
          </a:solidFill>
          <a:ln/>
        </p:spPr>
      </p:sp>
      <p:sp>
        <p:nvSpPr>
          <p:cNvPr id="42" name="Shape 38"/>
          <p:cNvSpPr/>
          <p:nvPr/>
        </p:nvSpPr>
        <p:spPr>
          <a:xfrm>
            <a:off x="5715149" y="6662886"/>
            <a:ext cx="65187" cy="65336"/>
          </a:xfrm>
          <a:prstGeom prst="roundRect">
            <a:avLst>
              <a:gd name="adj" fmla="val 29224"/>
            </a:avLst>
          </a:prstGeom>
          <a:solidFill>
            <a:srgbClr val="232833"/>
          </a:solidFill>
          <a:ln/>
        </p:spPr>
      </p:sp>
      <p:sp>
        <p:nvSpPr>
          <p:cNvPr id="43" name="Shape 39"/>
          <p:cNvSpPr/>
          <p:nvPr/>
        </p:nvSpPr>
        <p:spPr>
          <a:xfrm>
            <a:off x="6278463" y="6756797"/>
            <a:ext cx="65187" cy="65187"/>
          </a:xfrm>
          <a:prstGeom prst="roundRect">
            <a:avLst>
              <a:gd name="adj" fmla="val 29224"/>
            </a:avLst>
          </a:prstGeom>
          <a:solidFill>
            <a:srgbClr val="232833"/>
          </a:solidFill>
          <a:ln/>
        </p:spPr>
      </p:sp>
      <p:sp>
        <p:nvSpPr>
          <p:cNvPr id="44" name="Shape 40"/>
          <p:cNvSpPr/>
          <p:nvPr/>
        </p:nvSpPr>
        <p:spPr>
          <a:xfrm>
            <a:off x="6090642" y="6756797"/>
            <a:ext cx="65336" cy="65187"/>
          </a:xfrm>
          <a:prstGeom prst="roundRect">
            <a:avLst>
              <a:gd name="adj" fmla="val 29224"/>
            </a:avLst>
          </a:prstGeom>
          <a:solidFill>
            <a:srgbClr val="232833"/>
          </a:solidFill>
          <a:ln/>
        </p:spPr>
      </p:sp>
      <p:sp>
        <p:nvSpPr>
          <p:cNvPr id="45" name="Shape 41"/>
          <p:cNvSpPr/>
          <p:nvPr/>
        </p:nvSpPr>
        <p:spPr>
          <a:xfrm>
            <a:off x="5996732" y="6756797"/>
            <a:ext cx="65336" cy="65187"/>
          </a:xfrm>
          <a:prstGeom prst="roundRect">
            <a:avLst>
              <a:gd name="adj" fmla="val 29224"/>
            </a:avLst>
          </a:prstGeom>
          <a:solidFill>
            <a:srgbClr val="232833"/>
          </a:solidFill>
          <a:ln/>
        </p:spPr>
      </p:sp>
      <p:sp>
        <p:nvSpPr>
          <p:cNvPr id="46" name="Shape 42"/>
          <p:cNvSpPr/>
          <p:nvPr/>
        </p:nvSpPr>
        <p:spPr>
          <a:xfrm>
            <a:off x="5808911" y="6756797"/>
            <a:ext cx="65336" cy="65187"/>
          </a:xfrm>
          <a:prstGeom prst="roundRect">
            <a:avLst>
              <a:gd name="adj" fmla="val 29224"/>
            </a:avLst>
          </a:prstGeom>
          <a:solidFill>
            <a:srgbClr val="232833"/>
          </a:solidFill>
          <a:ln/>
        </p:spPr>
      </p:sp>
      <p:sp>
        <p:nvSpPr>
          <p:cNvPr id="47" name="Shape 43"/>
          <p:cNvSpPr/>
          <p:nvPr/>
        </p:nvSpPr>
        <p:spPr>
          <a:xfrm>
            <a:off x="5715149" y="6756797"/>
            <a:ext cx="65187" cy="65187"/>
          </a:xfrm>
          <a:prstGeom prst="roundRect">
            <a:avLst>
              <a:gd name="adj" fmla="val 29224"/>
            </a:avLst>
          </a:prstGeom>
          <a:solidFill>
            <a:srgbClr val="232833"/>
          </a:solidFill>
          <a:ln/>
        </p:spPr>
      </p:sp>
      <p:sp>
        <p:nvSpPr>
          <p:cNvPr id="48" name="Text 44"/>
          <p:cNvSpPr/>
          <p:nvPr/>
        </p:nvSpPr>
        <p:spPr>
          <a:xfrm>
            <a:off x="3586670" y="8629650"/>
            <a:ext cx="111146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تُقدَّم البطاقة إلى جوار الساعة على وسادةٍ كحلية — سياقٌ للاقتناء الرفيع. الرسم أصليٌّ بالكامل، بلا أي علامةٍ أو موديلٍ حقيقي.</a:t>
            </a:r>
            <a:endParaRPr lang="en-US" sz="1894" dirty="0"/>
          </a:p>
        </p:txBody>
      </p:sp>
      <p:sp>
        <p:nvSpPr>
          <p:cNvPr id="49" name="Text 45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81 / 84</a:t>
            </a:r>
            <a:endParaRPr lang="en-US" sz="1800" dirty="0"/>
          </a:p>
        </p:txBody>
      </p:sp>
      <p:sp>
        <p:nvSpPr>
          <p:cNvPr id="50" name="Text 46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DETAIL · RECORD, QR &amp; DISCLAIMER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تفصيل قريب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00514" y="3705225"/>
            <a:ext cx="10411271" cy="1695450"/>
          </a:xfrm>
          <a:prstGeom prst="roundRect">
            <a:avLst>
              <a:gd name="adj" fmla="val 8989"/>
            </a:avLst>
          </a:prstGeom>
          <a:gradFill rotWithShape="1">
            <a:gsLst>
              <a:gs pos="0">
                <a:srgbClr val="2A2F39">
                  <a:alpha val="100000"/>
                </a:srgbClr>
              </a:gs>
              <a:gs pos="100000">
                <a:srgbClr val="3B434F">
                  <a:alpha val="100000"/>
                </a:srgbClr>
              </a:gs>
            </a:gsLst>
            <a:lin ang="2700000" scaled="0"/>
          </a:gradFill>
          <a:ln w="9525">
            <a:solidFill>
              <a:srgbClr val="C9A86A">
                <a:alpha val="50000"/>
              </a:srgbClr>
            </a:solidFill>
            <a:prstDash val="solid"/>
          </a:ln>
          <a:effectLst>
            <a:outerShdw sx="100000" sy="100000" kx="0" ky="0" algn="bl" rotWithShape="0" blurRad="19050" dist="9525" dir="5400000">
              <a:srgbClr val="0A111F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91039" y="4038600"/>
            <a:ext cx="1059324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EB6C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رقم السجل · Record ID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691039" y="4429125"/>
            <a:ext cx="10593244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156" kern="0" dirty="0">
                <a:solidFill>
                  <a:srgbClr val="EEF1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#PRV-0482</a:t>
            </a:r>
            <a:endParaRPr lang="en-US" sz="3900" dirty="0"/>
          </a:p>
        </p:txBody>
      </p:sp>
      <p:sp>
        <p:nvSpPr>
          <p:cNvPr id="8" name="Shape 6"/>
          <p:cNvSpPr/>
          <p:nvPr/>
        </p:nvSpPr>
        <p:spPr>
          <a:xfrm>
            <a:off x="5300514" y="5648325"/>
            <a:ext cx="10411271" cy="1857375"/>
          </a:xfrm>
          <a:prstGeom prst="roundRect">
            <a:avLst>
              <a:gd name="adj" fmla="val 7179"/>
            </a:avLst>
          </a:prstGeom>
          <a:solidFill>
            <a:srgbClr val="EEEBE4"/>
          </a:solidFill>
          <a:ln w="9525">
            <a:solidFill>
              <a:srgbClr val="C9A86A">
                <a:alpha val="3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52939" y="5905500"/>
            <a:ext cx="10018760" cy="1381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838"/>
              </a:lnSpc>
              <a:buNone/>
            </a:pPr>
            <a:r>
              <a:rPr lang="en-US" sz="1894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الطباعة الدقيقة على البطاقة: </a:t>
            </a:r>
            <a:pPr algn="l" indent="0" marL="0">
              <a:lnSpc>
                <a:spcPct val="122838"/>
              </a:lnSpc>
              <a:buNone/>
            </a:pPr>
            <a:r>
              <a:rPr lang="en-US" sz="1894" dirty="0">
                <a:solidFill>
                  <a:srgbClr val="565E6C"/>
                </a:solidFill>
                <a:highlight>
                  <a:srgbClr val="EEEBE4"/>
                </a:highlight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«سجل توثيقي رقمي — لا يشكّل إثبات ملكية قانوني ولا شهادة أصالة» </a:t>
            </a:r>
            <a:pPr algn="l" indent="0" marL="0">
              <a:lnSpc>
                <a:spcPct val="122838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 documentary digital record — not legal proof of ownership or a certificate of authenticity.</a:t>
            </a:r>
            <a:endParaRPr lang="en-US" sz="1894" dirty="0"/>
          </a:p>
        </p:txBody>
      </p:sp>
      <p:sp>
        <p:nvSpPr>
          <p:cNvPr id="10" name="Shape 8"/>
          <p:cNvSpPr/>
          <p:nvPr/>
        </p:nvSpPr>
        <p:spPr>
          <a:xfrm>
            <a:off x="2576364" y="4014788"/>
            <a:ext cx="2190750" cy="21907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7E2D9"/>
            </a:solidFill>
            <a:prstDash val="solid"/>
          </a:ln>
          <a:effectLst>
            <a:outerShdw sx="100000" sy="100000" kx="0" ky="0" algn="bl" rotWithShape="0" blurRad="285750" dist="76200" dir="5400000">
              <a:srgbClr val="0A111F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10670" y="4110038"/>
            <a:ext cx="261193" cy="261193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12" name="Shape 10"/>
          <p:cNvSpPr/>
          <p:nvPr/>
        </p:nvSpPr>
        <p:spPr>
          <a:xfrm>
            <a:off x="4120902" y="4110038"/>
            <a:ext cx="261193" cy="261193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13" name="Shape 11"/>
          <p:cNvSpPr/>
          <p:nvPr/>
        </p:nvSpPr>
        <p:spPr>
          <a:xfrm>
            <a:off x="3541216" y="4110038"/>
            <a:ext cx="261193" cy="261193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14" name="Shape 12"/>
          <p:cNvSpPr/>
          <p:nvPr/>
        </p:nvSpPr>
        <p:spPr>
          <a:xfrm>
            <a:off x="2961531" y="4110038"/>
            <a:ext cx="261193" cy="261193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15" name="Shape 13"/>
          <p:cNvSpPr/>
          <p:nvPr/>
        </p:nvSpPr>
        <p:spPr>
          <a:xfrm>
            <a:off x="2671763" y="4110038"/>
            <a:ext cx="261193" cy="261193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16" name="Shape 14"/>
          <p:cNvSpPr/>
          <p:nvPr/>
        </p:nvSpPr>
        <p:spPr>
          <a:xfrm>
            <a:off x="4410670" y="4399806"/>
            <a:ext cx="261193" cy="261193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17" name="Shape 15"/>
          <p:cNvSpPr/>
          <p:nvPr/>
        </p:nvSpPr>
        <p:spPr>
          <a:xfrm>
            <a:off x="3830985" y="4399806"/>
            <a:ext cx="261342" cy="261193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18" name="Shape 16"/>
          <p:cNvSpPr/>
          <p:nvPr/>
        </p:nvSpPr>
        <p:spPr>
          <a:xfrm>
            <a:off x="3251299" y="4399806"/>
            <a:ext cx="261342" cy="261193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19" name="Shape 17"/>
          <p:cNvSpPr/>
          <p:nvPr/>
        </p:nvSpPr>
        <p:spPr>
          <a:xfrm>
            <a:off x="2671763" y="4399806"/>
            <a:ext cx="261193" cy="261193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20" name="Shape 18"/>
          <p:cNvSpPr/>
          <p:nvPr/>
        </p:nvSpPr>
        <p:spPr>
          <a:xfrm>
            <a:off x="4120902" y="4689574"/>
            <a:ext cx="261193" cy="261342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21" name="Shape 19"/>
          <p:cNvSpPr/>
          <p:nvPr/>
        </p:nvSpPr>
        <p:spPr>
          <a:xfrm>
            <a:off x="3830985" y="4689574"/>
            <a:ext cx="261342" cy="261342"/>
          </a:xfrm>
          <a:prstGeom prst="roundRect">
            <a:avLst>
              <a:gd name="adj" fmla="val 7289"/>
            </a:avLst>
          </a:prstGeom>
          <a:solidFill>
            <a:srgbClr val="232833"/>
          </a:solidFill>
          <a:ln/>
        </p:spPr>
      </p:sp>
      <p:sp>
        <p:nvSpPr>
          <p:cNvPr id="22" name="Shape 20"/>
          <p:cNvSpPr/>
          <p:nvPr/>
        </p:nvSpPr>
        <p:spPr>
          <a:xfrm>
            <a:off x="3541216" y="4689574"/>
            <a:ext cx="261193" cy="261342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23" name="Shape 21"/>
          <p:cNvSpPr/>
          <p:nvPr/>
        </p:nvSpPr>
        <p:spPr>
          <a:xfrm>
            <a:off x="2671763" y="4689574"/>
            <a:ext cx="261193" cy="261342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24" name="Shape 22"/>
          <p:cNvSpPr/>
          <p:nvPr/>
        </p:nvSpPr>
        <p:spPr>
          <a:xfrm>
            <a:off x="4410670" y="4979491"/>
            <a:ext cx="261193" cy="261193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25" name="Shape 23"/>
          <p:cNvSpPr/>
          <p:nvPr/>
        </p:nvSpPr>
        <p:spPr>
          <a:xfrm>
            <a:off x="3830985" y="4979491"/>
            <a:ext cx="261342" cy="261193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26" name="Shape 24"/>
          <p:cNvSpPr/>
          <p:nvPr/>
        </p:nvSpPr>
        <p:spPr>
          <a:xfrm>
            <a:off x="3251299" y="4979491"/>
            <a:ext cx="261342" cy="261193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27" name="Shape 25"/>
          <p:cNvSpPr/>
          <p:nvPr/>
        </p:nvSpPr>
        <p:spPr>
          <a:xfrm>
            <a:off x="2961531" y="4979491"/>
            <a:ext cx="261193" cy="261193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28" name="Shape 26"/>
          <p:cNvSpPr/>
          <p:nvPr/>
        </p:nvSpPr>
        <p:spPr>
          <a:xfrm>
            <a:off x="4120902" y="5269260"/>
            <a:ext cx="261193" cy="261342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29" name="Shape 27"/>
          <p:cNvSpPr/>
          <p:nvPr/>
        </p:nvSpPr>
        <p:spPr>
          <a:xfrm>
            <a:off x="3541216" y="5269260"/>
            <a:ext cx="261193" cy="261342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30" name="Shape 28"/>
          <p:cNvSpPr/>
          <p:nvPr/>
        </p:nvSpPr>
        <p:spPr>
          <a:xfrm>
            <a:off x="2961531" y="5269260"/>
            <a:ext cx="261193" cy="261342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31" name="Shape 29"/>
          <p:cNvSpPr/>
          <p:nvPr/>
        </p:nvSpPr>
        <p:spPr>
          <a:xfrm>
            <a:off x="2671763" y="5269260"/>
            <a:ext cx="261193" cy="261342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32" name="Shape 30"/>
          <p:cNvSpPr/>
          <p:nvPr/>
        </p:nvSpPr>
        <p:spPr>
          <a:xfrm>
            <a:off x="4410670" y="5559177"/>
            <a:ext cx="261193" cy="261193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33" name="Shape 31"/>
          <p:cNvSpPr/>
          <p:nvPr/>
        </p:nvSpPr>
        <p:spPr>
          <a:xfrm>
            <a:off x="4120902" y="5559177"/>
            <a:ext cx="261193" cy="261193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34" name="Shape 32"/>
          <p:cNvSpPr/>
          <p:nvPr/>
        </p:nvSpPr>
        <p:spPr>
          <a:xfrm>
            <a:off x="3251299" y="5559177"/>
            <a:ext cx="261342" cy="261193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35" name="Shape 33"/>
          <p:cNvSpPr/>
          <p:nvPr/>
        </p:nvSpPr>
        <p:spPr>
          <a:xfrm>
            <a:off x="2671763" y="5559177"/>
            <a:ext cx="261193" cy="261193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36" name="Shape 34"/>
          <p:cNvSpPr/>
          <p:nvPr/>
        </p:nvSpPr>
        <p:spPr>
          <a:xfrm>
            <a:off x="4410670" y="5848945"/>
            <a:ext cx="261193" cy="261193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37" name="Shape 35"/>
          <p:cNvSpPr/>
          <p:nvPr/>
        </p:nvSpPr>
        <p:spPr>
          <a:xfrm>
            <a:off x="3830985" y="5848945"/>
            <a:ext cx="261342" cy="261193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38" name="Shape 36"/>
          <p:cNvSpPr/>
          <p:nvPr/>
        </p:nvSpPr>
        <p:spPr>
          <a:xfrm>
            <a:off x="3541216" y="5848945"/>
            <a:ext cx="261193" cy="261193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39" name="Shape 37"/>
          <p:cNvSpPr/>
          <p:nvPr/>
        </p:nvSpPr>
        <p:spPr>
          <a:xfrm>
            <a:off x="2961531" y="5848945"/>
            <a:ext cx="261193" cy="261193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40" name="Shape 38"/>
          <p:cNvSpPr/>
          <p:nvPr/>
        </p:nvSpPr>
        <p:spPr>
          <a:xfrm>
            <a:off x="2671763" y="5848945"/>
            <a:ext cx="261193" cy="261193"/>
          </a:xfrm>
          <a:prstGeom prst="roundRect">
            <a:avLst>
              <a:gd name="adj" fmla="val 7293"/>
            </a:avLst>
          </a:prstGeom>
          <a:solidFill>
            <a:srgbClr val="232833"/>
          </a:solidFill>
          <a:ln/>
        </p:spPr>
      </p:sp>
      <p:sp>
        <p:nvSpPr>
          <p:cNvPr id="41" name="Text 39"/>
          <p:cNvSpPr/>
          <p:nvPr/>
        </p:nvSpPr>
        <p:spPr>
          <a:xfrm>
            <a:off x="2697956" y="6376988"/>
            <a:ext cx="214232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امسح لعرض السجل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2634109" y="6919913"/>
            <a:ext cx="228294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828A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 to view record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4852868" y="8629650"/>
            <a:ext cx="858241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الرمز أصليٌّ للعرض فقط؛ يفتح معاينةً عامة ومحدودة للسجل دون كشف بيانات المالك الخاصة.</a:t>
            </a:r>
            <a:endParaRPr lang="en-US" sz="1894" dirty="0"/>
          </a:p>
        </p:txBody>
      </p:sp>
      <p:sp>
        <p:nvSpPr>
          <p:cNvPr id="44" name="Text 42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82 / 84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8763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18" spc="327" kern="0" dirty="0">
                <a:solidFill>
                  <a:srgbClr val="B2905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USAGE &amp; RULES</a:t>
            </a:r>
            <a:endParaRPr lang="en-US" sz="1818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33"/>
              </a:lnSpc>
              <a:buNone/>
            </a:pPr>
            <a:r>
              <a:rPr lang="en-US" sz="4242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الاستخدام والضوابط</a:t>
            </a:r>
            <a:endParaRPr lang="en-US" sz="4242" dirty="0"/>
          </a:p>
        </p:txBody>
      </p:sp>
      <p:sp>
        <p:nvSpPr>
          <p:cNvPr id="4" name="Shape 2"/>
          <p:cNvSpPr/>
          <p:nvPr/>
        </p:nvSpPr>
        <p:spPr>
          <a:xfrm>
            <a:off x="16516350" y="2219325"/>
            <a:ext cx="723900" cy="19050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286875" y="2752725"/>
            <a:ext cx="7953375" cy="3419475"/>
          </a:xfrm>
          <a:prstGeom prst="roundRect">
            <a:avLst>
              <a:gd name="adj" fmla="val 4457"/>
            </a:avLst>
          </a:prstGeom>
          <a:solidFill>
            <a:srgbClr val="EBF6F0"/>
          </a:solidFill>
          <a:ln w="9525">
            <a:solidFill>
              <a:srgbClr val="BFE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20250" y="3086100"/>
            <a:ext cx="801528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E7A5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صياغة معتمدة على البطاقة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8891588" y="3638550"/>
            <a:ext cx="80152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 رقمي موثّق </a:t>
            </a:r>
            <a:pPr algn="r" indent="0" marL="0">
              <a:lnSpc>
                <a:spcPct val="103333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/ Verified Digital Record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891588" y="4095750"/>
            <a:ext cx="80152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رقم السجل </a:t>
            </a:r>
            <a:pPr algn="r" indent="0" marL="0">
              <a:lnSpc>
                <a:spcPct val="103333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· Record #PRV-0482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891588" y="4552950"/>
            <a:ext cx="80152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امسح لعرض السجل / Scan to view record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891588" y="5010150"/>
            <a:ext cx="80152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PROOF · PROVENANCE · TRUST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891588" y="5467350"/>
            <a:ext cx="80152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 توثيقي رقمي — لا إثبات ملكية ولا شهادة أصالة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47750" y="2752725"/>
            <a:ext cx="7953375" cy="3419475"/>
          </a:xfrm>
          <a:prstGeom prst="roundRect">
            <a:avLst>
              <a:gd name="adj" fmla="val 4457"/>
            </a:avLst>
          </a:prstGeom>
          <a:solidFill>
            <a:srgbClr val="F8ECEB"/>
          </a:solidFill>
          <a:ln w="9525">
            <a:solidFill>
              <a:srgbClr val="E7C4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1125" y="3086100"/>
            <a:ext cx="801528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A534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ممنوع نهائياً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652463" y="3638550"/>
            <a:ext cx="80152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سند ملكية </a:t>
            </a:r>
            <a:pPr algn="r" indent="0" marL="0">
              <a:lnSpc>
                <a:spcPct val="103333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/ Ownership Title / Title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52463" y="4095750"/>
            <a:ext cx="80152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شهادة أصالة </a:t>
            </a:r>
            <a:pPr algn="r" indent="0" marL="0">
              <a:lnSpc>
                <a:spcPct val="103333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/ Certificate / Certified Authentic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52463" y="4552950"/>
            <a:ext cx="80152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أي ادعاء أصالة أو ملكية قانونية أو تقييم مالي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52463" y="5010150"/>
            <a:ext cx="80152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3333"/>
              </a:lnSpc>
              <a:buNone/>
            </a:pPr>
            <a:r>
              <a:rPr lang="en-US" sz="1650" dirty="0">
                <a:solidFill>
                  <a:srgbClr val="565E6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اسم أو صورة ساعةٍ لعلامةٍ حقيقية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353550" y="6438900"/>
            <a:ext cx="86753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المواد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353550" y="6924675"/>
            <a:ext cx="812330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معدنٌ مصقول مطفأ (ستانلس/ألمنيوم)، نقشٌ غائر للكلمة والعلامة، إطارٌ شعري ذهبي، وطباعةٌ دقيقة داكنة.</a:t>
            </a:r>
            <a:endParaRPr lang="en-US" sz="1894" dirty="0"/>
          </a:p>
        </p:txBody>
      </p:sp>
      <p:sp>
        <p:nvSpPr>
          <p:cNvPr id="20" name="Text 18"/>
          <p:cNvSpPr/>
          <p:nvPr/>
        </p:nvSpPr>
        <p:spPr>
          <a:xfrm>
            <a:off x="1047750" y="6438900"/>
            <a:ext cx="86753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الحد الأدنى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47750" y="6924675"/>
            <a:ext cx="812330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عرض 54mm (بحجم البطاقة القياسية) — يبقى الرقم والرمز واضحَين للمسح.</a:t>
            </a:r>
            <a:endParaRPr lang="en-US" sz="1894" dirty="0"/>
          </a:p>
        </p:txBody>
      </p:sp>
      <p:sp>
        <p:nvSpPr>
          <p:cNvPr id="22" name="Text 20"/>
          <p:cNvSpPr/>
          <p:nvPr/>
        </p:nvSpPr>
        <p:spPr>
          <a:xfrm>
            <a:off x="9353550" y="8143875"/>
            <a:ext cx="86753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A11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مساحة الأمان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353550" y="8629650"/>
            <a:ext cx="812330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4"/>
              </a:lnSpc>
              <a:buNone/>
            </a:pPr>
            <a:r>
              <a:rPr lang="en-US" sz="1894" dirty="0">
                <a:solidFill>
                  <a:srgbClr val="828A9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هامشٌ داخلي يعادل ارتفاع العلامة حول الإطار الذهبي؛ لا نصّ أو رمز داخل الهامش.</a:t>
            </a:r>
            <a:endParaRPr lang="en-US" sz="1894" dirty="0"/>
          </a:p>
        </p:txBody>
      </p:sp>
      <p:sp>
        <p:nvSpPr>
          <p:cNvPr id="24" name="Text 22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8A0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83 / 84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4A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5300" y="495300"/>
            <a:ext cx="17297400" cy="9296400"/>
          </a:xfrm>
          <a:prstGeom prst="rect">
            <a:avLst/>
          </a:prstGeom>
          <a:ln w="9525">
            <a:solidFill>
              <a:srgbClr val="C9A86A">
                <a:alpha val="32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0125" y="1909762"/>
            <a:ext cx="1047750" cy="1047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84019" y="3243263"/>
            <a:ext cx="172011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800" dirty="0">
                <a:solidFill>
                  <a:srgbClr val="F2F4F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بروفاتو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8620125" y="4500563"/>
            <a:ext cx="1047750" cy="9525"/>
          </a:xfrm>
          <a:prstGeom prst="rect">
            <a:avLst/>
          </a:prstGeom>
          <a:solidFill>
            <a:srgbClr val="C9A86A">
              <a:alpha val="5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909809" y="4852988"/>
            <a:ext cx="1046853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1200"/>
              </a:lnSpc>
              <a:buNone/>
            </a:pPr>
            <a:r>
              <a:rPr lang="en-US" sz="2424" dirty="0">
                <a:solidFill>
                  <a:srgbClr val="C7CDD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سجلٌّ رقمي موثّق لكل ساعةٍ فاخرة — بهدوءٍ وثقةٍ وخصوصية، من المصدر إلى كل مالكٍ يليه.</a:t>
            </a:r>
            <a:endParaRPr lang="en-US" sz="2424" dirty="0"/>
          </a:p>
        </p:txBody>
      </p:sp>
      <p:sp>
        <p:nvSpPr>
          <p:cNvPr id="7" name="Text 4"/>
          <p:cNvSpPr/>
          <p:nvPr/>
        </p:nvSpPr>
        <p:spPr>
          <a:xfrm>
            <a:off x="6952074" y="5824538"/>
            <a:ext cx="438385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D8BF8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موثوق </a:t>
            </a:r>
            <a:pPr algn="ctr" indent="0" marL="0">
              <a:buNone/>
            </a:pPr>
            <a:r>
              <a:rPr lang="en-US" sz="2100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· </a:t>
            </a:r>
            <a:pPr algn="ctr" indent="0" marL="0">
              <a:buNone/>
            </a:pPr>
            <a:r>
              <a:rPr lang="en-US" sz="2100" dirty="0">
                <a:solidFill>
                  <a:srgbClr val="D8BF8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أصيل </a:t>
            </a:r>
            <a:pPr algn="ctr" indent="0" marL="0">
              <a:buNone/>
            </a:pPr>
            <a:r>
              <a:rPr lang="en-US" sz="2100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· </a:t>
            </a:r>
            <a:pPr algn="ctr" indent="0" marL="0">
              <a:buNone/>
            </a:pPr>
            <a:r>
              <a:rPr lang="en-US" sz="2100" dirty="0">
                <a:solidFill>
                  <a:srgbClr val="D8BF8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دقيق </a:t>
            </a:r>
            <a:pPr algn="ctr" indent="0" marL="0">
              <a:buNone/>
            </a:pPr>
            <a:r>
              <a:rPr lang="en-US" sz="2100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· </a:t>
            </a:r>
            <a:pPr algn="ctr" indent="0" marL="0">
              <a:buNone/>
            </a:pPr>
            <a:r>
              <a:rPr lang="en-US" sz="2100" dirty="0">
                <a:solidFill>
                  <a:srgbClr val="D8BF8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فاخر </a:t>
            </a:r>
            <a:pPr algn="ctr" indent="0" marL="0">
              <a:buNone/>
            </a:pPr>
            <a:r>
              <a:rPr lang="en-US" sz="2100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· </a:t>
            </a:r>
            <a:pPr algn="ctr" indent="0" marL="0">
              <a:buNone/>
            </a:pPr>
            <a:r>
              <a:rPr lang="en-US" sz="2100" dirty="0">
                <a:solidFill>
                  <a:srgbClr val="D8BF8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خاص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973525" y="6719888"/>
            <a:ext cx="43409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8E97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مؤسسة زياد ناصر الوشمي للتجارة · الرياض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520906" y="7462838"/>
            <a:ext cx="724633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432" kern="0" dirty="0">
                <a:solidFill>
                  <a:srgbClr val="D8BF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PROOF · PROVENANCE · TRUST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47750" y="9563100"/>
            <a:ext cx="1012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C66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84 / 84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835979" y="9563100"/>
            <a:ext cx="48446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8E97A8">
                    <a:alpha val="6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PROVATTO · BRAND IDENTITY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84</Slides>
  <Notes>84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2026-07-15T15:51:10Z</dcterms:created>
  <dcterms:modified xsi:type="dcterms:W3CDTF">2026-07-15T15:51:10Z</dcterms:modified>
</cp:coreProperties>
</file>